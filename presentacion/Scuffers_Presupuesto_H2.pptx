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d3d8585b-2691-db2b-6fd1-6a650efab0bd}">
          <p14:sldIdLst>
            <p14:sldId id="256"/>
          </p14:sldIdLst>
        </p14:section>
        <p14:section name="Resumen" id="{2be68724-c46f-af69-5c61-24cf38d07cd6}">
          <p14:sldIdLst>
            <p14:sldId id="257"/>
          </p14:sldIdLst>
        </p14:section>
        <p14:section name="1 · Ventas y evolución" id="{4ed714fd-e804-503a-0a1e-dbb954d36934}">
          <p14:sldIdLst>
            <p14:sldId id="258"/>
            <p14:sldId id="259"/>
          </p14:sldIdLst>
        </p14:section>
        <p14:section name="2 · Clientes" id="{1ee0493a-fdcf-5978-fa6c-52a905f41928}">
          <p14:sldIdLst>
            <p14:sldId id="260"/>
            <p14:sldId id="261"/>
          </p14:sldIdLst>
        </p14:section>
        <p14:section name="3 · Canales" id="{fd9a4eab-c5fa-e68b-221e-c02822793c99}">
          <p14:sldIdLst>
            <p14:sldId id="262"/>
            <p14:sldId id="263"/>
          </p14:sldIdLst>
        </p14:section>
        <p14:section name="4 · Producto" id="{75d6ba97-1e08-122d-74ae-2da5d074a633}">
          <p14:sldIdLst>
            <p14:sldId id="264"/>
            <p14:sldId id="265"/>
          </p14:sldIdLst>
        </p14:section>
        <p14:section name="5 · Qué hacer distinto" id="{a83ace56-6a74-760d-dbbc-28b50241c58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Venta neta</c:v>
                </c:pt>
              </c:strCache>
            </c:strRef>
          </c:tx>
          <c:spPr>
            <a:solidFill>
              <a:srgbClr val="2C302E"/>
            </a:solidFill>
            <a:effectLst/>
          </c:spPr>
          <c:invertIfNegative val="0"/>
          <c:dLbls>
            <c:numFmt formatCode="#,##0"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dPt>
            <c:idx val="0"/>
            <c:invertIfNegative val="0"/>
            <c:bubble3D val="0"/>
            <c:spPr>
              <a:solidFill>
                <a:srgbClr val="2C302E"/>
              </a:solidFill>
              <a:effectLst/>
            </c:spPr>
          </c:dPt>
          <c:dPt>
            <c:idx val="1"/>
            <c:invertIfNegative val="0"/>
            <c:bubble3D val="0"/>
            <c:spPr>
              <a:solidFill>
                <a:srgbClr val="2C302E"/>
              </a:solidFill>
              <a:effectLst/>
            </c:spPr>
          </c:dPt>
          <c:dPt>
            <c:idx val="2"/>
            <c:invertIfNegative val="0"/>
            <c:bubble3D val="0"/>
            <c:spPr>
              <a:solidFill>
                <a:srgbClr val="2C302E"/>
              </a:solidFill>
              <a:effectLst/>
            </c:spPr>
          </c:dPt>
          <c:dPt>
            <c:idx val="3"/>
            <c:invertIfNegative val="0"/>
            <c:bubble3D val="0"/>
            <c:spPr>
              <a:solidFill>
                <a:srgbClr val="5B9A7B"/>
              </a:solidFill>
              <a:effectLst/>
            </c:spPr>
          </c:dPt>
          <c:dPt>
            <c:idx val="4"/>
            <c:invertIfNegative val="0"/>
            <c:bubble3D val="0"/>
            <c:spPr>
              <a:solidFill>
                <a:srgbClr val="2C302E"/>
              </a:solidFill>
              <a:effectLst/>
            </c:spPr>
          </c:dPt>
          <c:dPt>
            <c:idx val="5"/>
            <c:invertIfNegative val="0"/>
            <c:bubble3D val="0"/>
            <c:spPr>
              <a:solidFill>
                <a:srgbClr val="2C302E"/>
              </a:solidFill>
              <a:effectLst/>
            </c:spPr>
          </c:dPt>
          <c:cat>
            <c:multiLvlStrRef>
              <c:f>Sheet1!$A$2:$A$7</c:f>
              <c:multiLvlStrCache>
                <c:ptCount val="6"/>
                <c:lvl>
                  <c:pt idx="0">
                    <c:v>ene</c:v>
                  </c:pt>
                  <c:pt idx="1">
                    <c:v>feb</c:v>
                  </c:pt>
                  <c:pt idx="2">
                    <c:v>mar</c:v>
                  </c:pt>
                  <c:pt idx="3">
                    <c:v>abr</c:v>
                  </c:pt>
                  <c:pt idx="4">
                    <c:v>may</c:v>
                  </c:pt>
                  <c:pt idx="5">
                    <c:v>jun</c:v>
                  </c:pt>
                </c:lvl>
              </c:multiLvlStrCache>
            </c:multiLvlStrRef>
          </c:cat>
          <c:val>
            <c:numRef>
              <c:f>Sheet1!$B$2:$B$7</c:f>
              <c:numCache>
                <c:formatCode>General</c:formatCode>
                <c:ptCount val="6"/>
                <c:pt idx="0">
                  <c:v>7067</c:v>
                </c:pt>
                <c:pt idx="1">
                  <c:v>4738</c:v>
                </c:pt>
                <c:pt idx="2">
                  <c:v>5992</c:v>
                </c:pt>
                <c:pt idx="3">
                  <c:v>8436</c:v>
                </c:pt>
                <c:pt idx="4">
                  <c:v>6454</c:v>
                </c:pt>
                <c:pt idx="5">
                  <c:v>5843</c:v>
                </c:pt>
              </c:numCache>
            </c:numRef>
          </c:val>
        </c:ser>
        <c:dLbls>
          <c:numFmt formatCode="#,##0"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66B68"/>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Orgánico</c:v>
                </c:pt>
              </c:strCache>
            </c:strRef>
          </c:tx>
          <c:spPr>
            <a:solidFill>
              <a:srgbClr val="C98468"/>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ene</c:v>
                  </c:pt>
                  <c:pt idx="1">
                    <c:v>feb</c:v>
                  </c:pt>
                  <c:pt idx="2">
                    <c:v>mar</c:v>
                  </c:pt>
                  <c:pt idx="3">
                    <c:v>abr</c:v>
                  </c:pt>
                  <c:pt idx="4">
                    <c:v>may</c:v>
                  </c:pt>
                  <c:pt idx="5">
                    <c:v>jun</c:v>
                  </c:pt>
                </c:lvl>
              </c:multiLvlStrCache>
            </c:multiLvlStrRef>
          </c:cat>
          <c:val>
            <c:numRef>
              <c:f>Sheet1!$B$2:$B$7</c:f>
              <c:numCache>
                <c:formatCode>General</c:formatCode>
                <c:ptCount val="6"/>
                <c:pt idx="0">
                  <c:v>9</c:v>
                </c:pt>
                <c:pt idx="1">
                  <c:v>12</c:v>
                </c:pt>
                <c:pt idx="2">
                  <c:v>12</c:v>
                </c:pt>
                <c:pt idx="3">
                  <c:v>6</c:v>
                </c:pt>
                <c:pt idx="4">
                  <c:v>9</c:v>
                </c:pt>
                <c:pt idx="5">
                  <c:v>3</c:v>
                </c:pt>
              </c:numCache>
            </c:numRef>
          </c:val>
        </c:ser>
        <c:ser>
          <c:idx val="1"/>
          <c:order val="1"/>
          <c:tx>
            <c:strRef>
              <c:f>Sheet1!$C$1</c:f>
              <c:strCache>
                <c:ptCount val="1"/>
                <c:pt idx="0">
                  <c:v>Canales de pago</c:v>
                </c:pt>
              </c:strCache>
            </c:strRef>
          </c:tx>
          <c:spPr>
            <a:solidFill>
              <a:srgbClr val="2C302E"/>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ene</c:v>
                  </c:pt>
                  <c:pt idx="1">
                    <c:v>feb</c:v>
                  </c:pt>
                  <c:pt idx="2">
                    <c:v>mar</c:v>
                  </c:pt>
                  <c:pt idx="3">
                    <c:v>abr</c:v>
                  </c:pt>
                  <c:pt idx="4">
                    <c:v>may</c:v>
                  </c:pt>
                  <c:pt idx="5">
                    <c:v>jun</c:v>
                  </c:pt>
                </c:lvl>
              </c:multiLvlStrCache>
            </c:multiLvlStrRef>
          </c:cat>
          <c:val>
            <c:numRef>
              <c:f>Sheet1!$C$2:$C$7</c:f>
              <c:numCache>
                <c:formatCode>General</c:formatCode>
                <c:ptCount val="6"/>
                <c:pt idx="0">
                  <c:v>18</c:v>
                </c:pt>
                <c:pt idx="1">
                  <c:v>11</c:v>
                </c:pt>
                <c:pt idx="2">
                  <c:v>9</c:v>
                </c:pt>
                <c:pt idx="3">
                  <c:v>15</c:v>
                </c:pt>
                <c:pt idx="4">
                  <c:v>7</c:v>
                </c:pt>
                <c:pt idx="5">
                  <c:v>7</c:v>
                </c:pt>
              </c:numCache>
            </c:numRef>
          </c:val>
        </c:ser>
        <c:ser>
          <c:idx val="2"/>
          <c:order val="2"/>
          <c:tx>
            <c:strRef>
              <c:f>Sheet1!$D$1</c:f>
              <c:strCache>
                <c:ptCount val="1"/>
                <c:pt idx="0">
                  <c:v>Newsletter y directo</c:v>
                </c:pt>
              </c:strCache>
            </c:strRef>
          </c:tx>
          <c:spPr>
            <a:solidFill>
              <a:srgbClr val="D5D8D6"/>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ene</c:v>
                  </c:pt>
                  <c:pt idx="1">
                    <c:v>feb</c:v>
                  </c:pt>
                  <c:pt idx="2">
                    <c:v>mar</c:v>
                  </c:pt>
                  <c:pt idx="3">
                    <c:v>abr</c:v>
                  </c:pt>
                  <c:pt idx="4">
                    <c:v>may</c:v>
                  </c:pt>
                  <c:pt idx="5">
                    <c:v>jun</c:v>
                  </c:pt>
                </c:lvl>
              </c:multiLvlStrCache>
            </c:multiLvlStrRef>
          </c:cat>
          <c:val>
            <c:numRef>
              <c:f>Sheet1!$D$2:$D$7</c:f>
              <c:numCache>
                <c:formatCode>General</c:formatCode>
                <c:ptCount val="6"/>
                <c:pt idx="0">
                  <c:v>2</c:v>
                </c:pt>
                <c:pt idx="1">
                  <c:v>2</c:v>
                </c:pt>
                <c:pt idx="2">
                  <c:v>1</c:v>
                </c:pt>
                <c:pt idx="3">
                  <c:v>5</c:v>
                </c:pt>
                <c:pt idx="4">
                  <c:v>3</c:v>
                </c:pt>
                <c:pt idx="5">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66B6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66B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Recompra a 30 días</c:v>
                </c:pt>
              </c:strCache>
            </c:strRef>
          </c:tx>
          <c:spPr>
            <a:solidFill>
              <a:srgbClr val="2C302E"/>
            </a:solidFill>
            <a:effectLst/>
          </c:spPr>
          <c:invertIfNegative val="0"/>
          <c:dLbls>
            <c:numFmt formatCode="0.0&quot;%&quot;"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dPt>
            <c:idx val="0"/>
            <c:invertIfNegative val="0"/>
            <c:bubble3D val="0"/>
            <c:spPr>
              <a:solidFill>
                <a:srgbClr val="2C302E"/>
              </a:solidFill>
              <a:effectLst/>
            </c:spPr>
          </c:dPt>
          <c:dPt>
            <c:idx val="1"/>
            <c:invertIfNegative val="0"/>
            <c:bubble3D val="0"/>
            <c:spPr>
              <a:solidFill>
                <a:srgbClr val="2C302E"/>
              </a:solidFill>
              <a:effectLst/>
            </c:spPr>
          </c:dPt>
          <c:dPt>
            <c:idx val="2"/>
            <c:invertIfNegative val="0"/>
            <c:bubble3D val="0"/>
            <c:spPr>
              <a:solidFill>
                <a:srgbClr val="2C302E"/>
              </a:solidFill>
              <a:effectLst/>
            </c:spPr>
          </c:dPt>
          <c:dPt>
            <c:idx val="3"/>
            <c:invertIfNegative val="0"/>
            <c:bubble3D val="0"/>
            <c:spPr>
              <a:solidFill>
                <a:srgbClr val="2C302E"/>
              </a:solidFill>
              <a:effectLst/>
            </c:spPr>
          </c:dPt>
          <c:dPt>
            <c:idx val="4"/>
            <c:invertIfNegative val="0"/>
            <c:bubble3D val="0"/>
            <c:spPr>
              <a:solidFill>
                <a:srgbClr val="C98468"/>
              </a:solidFill>
              <a:effectLst/>
            </c:spPr>
          </c:dPt>
          <c:cat>
            <c:multiLvlStrRef>
              <c:f>Sheet1!$A$2:$A$6</c:f>
              <c:multiLvlStrCache>
                <c:ptCount val="5"/>
                <c:lvl>
                  <c:pt idx="0">
                    <c:v>ene</c:v>
                  </c:pt>
                  <c:pt idx="1">
                    <c:v>feb</c:v>
                  </c:pt>
                  <c:pt idx="2">
                    <c:v>mar</c:v>
                  </c:pt>
                  <c:pt idx="3">
                    <c:v>abr</c:v>
                  </c:pt>
                  <c:pt idx="4">
                    <c:v>may</c:v>
                  </c:pt>
                </c:lvl>
              </c:multiLvlStrCache>
            </c:multiLvlStrRef>
          </c:cat>
          <c:val>
            <c:numRef>
              <c:f>Sheet1!$B$2:$B$6</c:f>
              <c:numCache>
                <c:formatCode>General</c:formatCode>
                <c:ptCount val="5"/>
                <c:pt idx="0">
                  <c:v>82.8</c:v>
                </c:pt>
                <c:pt idx="1">
                  <c:v>72</c:v>
                </c:pt>
                <c:pt idx="2">
                  <c:v>63.6</c:v>
                </c:pt>
                <c:pt idx="3">
                  <c:v>50</c:v>
                </c:pt>
                <c:pt idx="4">
                  <c:v>42.1</c:v>
                </c:pt>
              </c:numCache>
            </c:numRef>
          </c:val>
        </c:ser>
        <c:dLbls>
          <c:numFmt formatCode="0.0&quot;%&quot;"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66B68"/>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Coste por cliente nuevo</c:v>
                </c:pt>
              </c:strCache>
            </c:strRef>
          </c:tx>
          <c:spPr>
            <a:solidFill>
              <a:srgbClr val="5B9A7B"/>
            </a:solidFill>
            <a:effectLst/>
          </c:spPr>
          <c:invertIfNegative val="0"/>
          <c:dLbls>
            <c:numFmt formatCode="#,##0 &quot;€&quot;"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dPt>
            <c:idx val="0"/>
            <c:invertIfNegative val="0"/>
            <c:bubble3D val="0"/>
            <c:spPr>
              <a:solidFill>
                <a:srgbClr val="5B9A7B"/>
              </a:solidFill>
              <a:effectLst/>
            </c:spPr>
          </c:dPt>
          <c:dPt>
            <c:idx val="1"/>
            <c:invertIfNegative val="0"/>
            <c:bubble3D val="0"/>
            <c:spPr>
              <a:solidFill>
                <a:srgbClr val="5B9A7B"/>
              </a:solidFill>
              <a:effectLst/>
            </c:spPr>
          </c:dPt>
          <c:dPt>
            <c:idx val="2"/>
            <c:invertIfNegative val="0"/>
            <c:bubble3D val="0"/>
            <c:spPr>
              <a:solidFill>
                <a:srgbClr val="5B9A7B"/>
              </a:solidFill>
              <a:effectLst/>
            </c:spPr>
          </c:dPt>
          <c:dPt>
            <c:idx val="3"/>
            <c:invertIfNegative val="0"/>
            <c:bubble3D val="0"/>
            <c:spPr>
              <a:solidFill>
                <a:srgbClr val="2C302E"/>
              </a:solidFill>
              <a:effectLst/>
            </c:spPr>
          </c:dPt>
          <c:dPt>
            <c:idx val="4"/>
            <c:invertIfNegative val="0"/>
            <c:bubble3D val="0"/>
            <c:spPr>
              <a:solidFill>
                <a:srgbClr val="C98468"/>
              </a:solidFill>
              <a:effectLst/>
            </c:spPr>
          </c:dPt>
          <c:cat>
            <c:multiLvlStrRef>
              <c:f>Sheet1!$A$2:$A$6</c:f>
              <c:multiLvlStrCache>
                <c:ptCount val="5"/>
                <c:lvl>
                  <c:pt idx="0">
                    <c:v>TikTok</c:v>
                  </c:pt>
                  <c:pt idx="1">
                    <c:v>Email</c:v>
                  </c:pt>
                  <c:pt idx="2">
                    <c:v>Google</c:v>
                  </c:pt>
                  <c:pt idx="3">
                    <c:v>Meta</c:v>
                  </c:pt>
                  <c:pt idx="4">
                    <c:v>Instagram</c:v>
                  </c:pt>
                </c:lvl>
              </c:multiLvlStrCache>
            </c:multiLvlStrRef>
          </c:cat>
          <c:val>
            <c:numRef>
              <c:f>Sheet1!$B$2:$B$6</c:f>
              <c:numCache>
                <c:formatCode>General</c:formatCode>
                <c:ptCount val="5"/>
                <c:pt idx="0">
                  <c:v>32</c:v>
                </c:pt>
                <c:pt idx="1">
                  <c:v>41</c:v>
                </c:pt>
                <c:pt idx="2">
                  <c:v>59</c:v>
                </c:pt>
                <c:pt idx="3">
                  <c:v>167</c:v>
                </c:pt>
                <c:pt idx="4">
                  <c:v>725</c:v>
                </c:pt>
              </c:numCache>
            </c:numRef>
          </c:val>
        </c:ser>
        <c:dLbls>
          <c:numFmt formatCode="#,##0 &quot;€&quot;"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66B68"/>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Venta</c:v>
                </c:pt>
              </c:strCache>
            </c:strRef>
          </c:tx>
          <c:spPr>
            <a:solidFill>
              <a:srgbClr val="2C302E"/>
            </a:solidFill>
            <a:effectLst/>
          </c:spPr>
          <c:invertIfNegative val="0"/>
          <c:dLbls>
            <c:numFmt formatCode="#,##0"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dPt>
            <c:idx val="0"/>
            <c:invertIfNegative val="0"/>
            <c:bubble3D val="0"/>
            <c:spPr>
              <a:solidFill>
                <a:srgbClr val="2C302E"/>
              </a:solidFill>
              <a:effectLst/>
            </c:spPr>
          </c:dPt>
          <c:dPt>
            <c:idx val="1"/>
            <c:invertIfNegative val="0"/>
            <c:bubble3D val="0"/>
            <c:spPr>
              <a:solidFill>
                <a:srgbClr val="2C302E"/>
              </a:solidFill>
              <a:effectLst/>
            </c:spPr>
          </c:dPt>
          <c:dPt>
            <c:idx val="2"/>
            <c:invertIfNegative val="0"/>
            <c:bubble3D val="0"/>
            <c:spPr>
              <a:solidFill>
                <a:srgbClr val="2C302E"/>
              </a:solidFill>
              <a:effectLst/>
            </c:spPr>
          </c:dPt>
          <c:dPt>
            <c:idx val="3"/>
            <c:invertIfNegative val="0"/>
            <c:bubble3D val="0"/>
            <c:spPr>
              <a:solidFill>
                <a:srgbClr val="C98468"/>
              </a:solidFill>
              <a:effectLst/>
            </c:spPr>
          </c:dPt>
          <c:cat>
            <c:multiLvlStrRef>
              <c:f>Sheet1!$A$2:$A$5</c:f>
              <c:multiLvlStrCache>
                <c:ptCount val="4"/>
                <c:lvl>
                  <c:pt idx="0">
                    <c:v>Ropa</c:v>
                  </c:pt>
                  <c:pt idx="1">
                    <c:v>Accesorios</c:v>
                  </c:pt>
                  <c:pt idx="2">
                    <c:v>Calzado</c:v>
                  </c:pt>
                  <c:pt idx="3">
                    <c:v>Deporte</c:v>
                  </c:pt>
                </c:lvl>
              </c:multiLvlStrCache>
            </c:multiLvlStrRef>
          </c:cat>
          <c:val>
            <c:numRef>
              <c:f>Sheet1!$B$2:$B$5</c:f>
              <c:numCache>
                <c:formatCode>General</c:formatCode>
                <c:ptCount val="4"/>
                <c:pt idx="0">
                  <c:v>5671</c:v>
                </c:pt>
                <c:pt idx="1">
                  <c:v>3564</c:v>
                </c:pt>
                <c:pt idx="2">
                  <c:v>3103</c:v>
                </c:pt>
                <c:pt idx="3">
                  <c:v>944</c:v>
                </c:pt>
              </c:numCache>
            </c:numRef>
          </c:val>
        </c:ser>
        <c:dLbls>
          <c:numFmt formatCode="#,##0" sourceLinked="0"/>
          <c:txPr>
            <a:bodyPr/>
            <a:lstStyle/>
            <a:p>
              <a:pPr>
                <a:defRPr b="0" i="0" strike="noStrike" sz="1200" u="none">
                  <a:solidFill>
                    <a:srgbClr val="4A4E4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66B68"/>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La reunión sirve para decidir el presupuesto del segundo semestre. Respondemos a cuatro preguntas: cuánto hemos vendido, qué canales merecen inversión, qué productos funcionan y qué haríamos distinto.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ejecutivo. Cada tarjeta responde a una pregunta del encargo con su cifra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 neta = subtotal de producto sin impuestos ni envío de los pedidos no cancelados, menos devoluciones, solo fichas activas. Puente: 50.827 € de subtotal bruto, −702 € de pedidos no válidos, −3.358 € de fichas inactivas, −4.727 € cancelados y −3.510 € devueltos. Si los códigos hubieran descontado, serían 37.217 €.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junio, el 85 % de la venta neta viene de clientes captados en meses anteriores (56 % en febrero). Los clientes nuevos caen a 10 en junio. La caída es de Orgánico (de 12 a 3); los canales de pago se mantienen en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país de registro: 28 compradores alemanes, el 21,4 %, hacen el 49,3 % de la venta neta, con 9,4 pedidos y 678 € por cliente frente a 3,4 y 190 € en España. Los 20 mayores clientes suman el 53,5 % de la venta, y 17 de ellos son alemanes. El gasto de marketing no tiene país.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Recompra a 30 días según el mes del primer pedido. Junio no tiene aún 30 días observables. Un cliente nuevo de febrero–abril vale 232 € netos a 90 días. Con la definición de cliente activo de la nota de dirección (al menos un pedido entregado), la recompra es del 75,2 % sobre 129 activos.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Coste por cliente nuevo de marzo a junio, que es el tramo que dirección da por comparable. Es la métrica para un presupuesto de captación. El IEC (venta neta atribuida entre inversión) da TikTok 15,5, Email 7,9, Meta 5,0, Google 4,3 e Instagram 0,8, pero entre el 76 % y el 93 % de esa venta es recompra de clientes ya captados. El ticket por canal no sirve para comparar: Meta e Instagram lo tienen alto porque el 83 % y el 75 % de sus pedidos van a Alemania.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Medias mensuales de enero–febrero frente a marzo–junio. El gasto en TikTok bajó de 788 a 40 € al mes y su venta neta atribuida subió de 527 a 621 € al mes. El gasto total cayó a la mitad y la venta total subió. En los ingresos no se aprecia el cambio de atribución de marzo: lo único que cambia es este gasto.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de mayo–junio, el único tramo con las cuatro categorías a la venta. Deporte se da de alta el 1 de mayo, aunque el enunciado dice «desde principios de año»: con el semestre entero parecería el 2,2 % de la venta. Solo fichas activas. Deporte: 944 € con 2 referencias, 472 € por referencia frente a 594–709 € del resto, 16,5 unidades por referencia y ninguna devolución. Contando sus dos fichas inactivas (Mochila Deporte y Camiseta Técnica), sería el 15,0 % y 544 € por referencia: sigue siendo la última.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Devolución de H1: 9,9 % de los pedidos y 8,3 % de las unidades. Entre los productos con 10 o más reseñas, la nota no ordena la devolución. Códigos: el ingreso por código que pide la nota de dirección cuenta dos veces 20 pedidos (12.311 € frente a 11.210 €) y suma ventas a precio lleno, porque ningún pedido refleja el descuento.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seis decisiones y la cifra que las justifica. El presupuesto de marketing se mantiene en torno a 800 € al mes y se reparte hacia los canales que captan más barato.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y limitaciones. El detalle, con el efecto de haber elegido lo contrario, está en el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IDO-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nicolas.salafranca\Downloads\prueba tecnica scuffers raw\prueba-tecnica-scuffers\presentacion\assets\logo_blanco.png">    </p:cNvPr>
          <p:cNvPicPr>
            <a:picLocks noChangeAspect="1"/>
          </p:cNvPicPr>
          <p:nvPr/>
        </p:nvPicPr>
        <p:blipFill>
          <a:blip r:embed="rId1"/>
          <a:stretch>
            <a:fillRect/>
          </a:stretch>
        </p:blipFill>
        <p:spPr>
          <a:xfrm>
            <a:off x="731520" y="640080"/>
            <a:ext cx="2377440" cy="382219"/>
          </a:xfrm>
          <a:prstGeom prst="rect">
            <a:avLst/>
          </a:prstGeom>
        </p:spPr>
      </p:pic>
      <p:sp>
        <p:nvSpPr>
          <p:cNvPr id="3" name="Text 0"/>
          <p:cNvSpPr/>
          <p:nvPr>
            <p:ph idx="101" type="title" hasCustomPrompt="1"/>
          </p:nvPr>
        </p:nvSpPr>
        <p:spPr>
          <a:xfrm>
            <a:off x="731520" y="2148840"/>
            <a:ext cx="10241280" cy="2011680"/>
          </a:xfrm>
          <a:prstGeom prst="rect">
            <a:avLst/>
          </a:prstGeom>
          <a:noFill/>
          <a:ln/>
        </p:spPr>
        <p:txBody>
          <a:bodyPr wrap="square" rtlCol="0"/>
          <a:lstStyle>
            <a:lvl1pPr algn="l" indent="0" marL="0">
              <a:buNone/>
              <a:defRPr lang="en-US" sz="5600" dirty="0">
                <a:solidFill>
                  <a:schemeClr val="bg1"/>
                </a:solidFill>
              </a:defRPr>
            </a:lvl1pPr>
          </a:lstStyle>
          <a:p>
            <a:pPr algn="l" indent="0" marL="0">
              <a:buNone/>
            </a:pPr>
            <a:endParaRPr lang="en-US" sz="5600" dirty="0"/>
          </a:p>
        </p:txBody>
      </p:sp>
      <p:sp>
        <p:nvSpPr>
          <p:cNvPr id="4" name="Text 0"/>
          <p:cNvSpPr/>
          <p:nvPr>
            <p:ph idx="102" type="body" hasCustomPrompt="1"/>
          </p:nvPr>
        </p:nvSpPr>
        <p:spPr>
          <a:xfrm>
            <a:off x="731520" y="4343400"/>
            <a:ext cx="9601200" cy="10058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Users\nicolas.salafranca\Downloads\prueba tecnica scuffers raw\prueba-tecnica-scuffers\presentacion\assets\logo_negro.png">    </p:cNvPr>
          <p:cNvPicPr>
            <a:picLocks noChangeAspect="1"/>
          </p:cNvPicPr>
          <p:nvPr/>
        </p:nvPicPr>
        <p:blipFill>
          <a:blip r:embed="rId1"/>
          <a:stretch>
            <a:fillRect/>
          </a:stretch>
        </p:blipFill>
        <p:spPr>
          <a:xfrm>
            <a:off x="10241280" y="457200"/>
            <a:ext cx="1417320" cy="227686"/>
          </a:xfrm>
          <a:prstGeom prst="rect">
            <a:avLst/>
          </a:prstGeom>
        </p:spPr>
      </p:pic>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Presupuesto del segundo semestre · Primer semestre de 2026</a:t>
            </a:r>
            <a:endParaRPr lang="en-US" sz="1000" dirty="0"/>
          </a:p>
        </p:txBody>
      </p:sp>
      <p:sp>
        <p:nvSpPr>
          <p:cNvPr id="4" name="Text 1"/>
          <p:cNvSpPr/>
          <p:nvPr>
            <p:ph idx="102" type="title" hasCustomPrompt="1"/>
          </p:nvPr>
        </p:nvSpPr>
        <p:spPr>
          <a:xfrm>
            <a:off x="548640" y="384048"/>
            <a:ext cx="9418320" cy="109728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2148840"/>
            <a:ext cx="10241280" cy="2011680"/>
          </a:xfrm>
          <a:prstGeom prst="rect">
            <a:avLst/>
          </a:prstGeom>
          <a:noFill/>
          <a:ln/>
        </p:spPr>
        <p:txBody>
          <a:bodyPr wrap="square" lIns="0" tIns="0" rIns="0" bIns="0" rtlCol="0" anchor="t"/>
          <a:lstStyle/>
          <a:p>
            <a:pPr algn="l" indent="0" marL="0">
              <a:buNone/>
            </a:pPr>
            <a:r>
              <a:rPr lang="en-US" sz="5600" dirty="0">
                <a:solidFill>
                  <a:schemeClr val="bg1"/>
                </a:solidFill>
              </a:rPr>
              <a:t>Presupuesto del segundo semestre</a:t>
            </a:r>
            <a:endParaRPr lang="en-US" sz="5600" dirty="0"/>
          </a:p>
        </p:txBody>
      </p:sp>
      <p:sp>
        <p:nvSpPr>
          <p:cNvPr id="3" name="Text 0"/>
          <p:cNvSpPr/>
          <p:nvPr>
            <p:ph idx="102" type="body" hasCustomPrompt="1"/>
          </p:nvPr>
        </p:nvSpPr>
        <p:spPr>
          <a:xfrm>
            <a:off x="731520" y="4343400"/>
            <a:ext cx="9601200" cy="1005840"/>
          </a:xfrm>
          <a:prstGeom prst="rect">
            <a:avLst/>
          </a:prstGeom>
          <a:noFill/>
          <a:ln/>
        </p:spPr>
        <p:txBody>
          <a:bodyPr wrap="square" lIns="0" tIns="0" rIns="0" bIns="0" rtlCol="0" anchor="t"/>
          <a:lstStyle/>
          <a:p>
            <a:pPr algn="l" indent="0" marL="0">
              <a:buNone/>
            </a:pPr>
            <a:r>
              <a:rPr lang="en-US" sz="2000" dirty="0">
                <a:solidFill>
                  <a:schemeClr val="accent6"/>
                </a:solidFill>
              </a:rPr>
              <a:t>Dónde invertir, qué proteger y qué cambiar</a:t>
            </a:r>
            <a:endParaRPr lang="en-US" sz="2000" dirty="0"/>
          </a:p>
          <a:p>
            <a:pPr algn="l" indent="0" marL="0">
              <a:buNone/>
            </a:pPr>
            <a:r>
              <a:rPr lang="en-US" sz="2000" dirty="0">
                <a:solidFill>
                  <a:schemeClr val="accent6"/>
                </a:solidFill>
              </a:rPr>
              <a:t>Ventas, canales y producto · primer semestre de 2026</a:t>
            </a:r>
            <a:endParaRPr lang="en-US" sz="2000" dirty="0"/>
          </a:p>
        </p:txBody>
      </p:sp>
      <p:sp>
        <p:nvSpPr>
          <p:cNvPr id="4" name="texto-1"/>
          <p:cNvSpPr txBox="1"/>
          <p:nvPr/>
        </p:nvSpPr>
        <p:spPr>
          <a:xfrm>
            <a:off x="731520" y="6126480"/>
            <a:ext cx="10058400" cy="274320"/>
          </a:xfrm>
          <a:prstGeom prst="rect">
            <a:avLst/>
          </a:prstGeom>
          <a:noFill/>
          <a:ln/>
        </p:spPr>
        <p:txBody>
          <a:bodyPr wrap="square" lIns="0" tIns="0" rIns="0" bIns="0" rtlCol="0" anchor="t"/>
          <a:lstStyle/>
          <a:p>
            <a:pPr indent="0" marL="0">
              <a:buNone/>
            </a:pPr>
            <a:r>
              <a:rPr lang="en-US" sz="1200" dirty="0">
                <a:solidFill>
                  <a:schemeClr val="accent4"/>
                </a:solidFill>
              </a:rPr>
              <a:t>Datos del 1 de enero al 30 de junio · Venta neta = subtotal sin IVA ni envío, sin cancelados y menos devoluciones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Cuatro preguntas, cuatro respuestas</a:t>
            </a:r>
            <a:endParaRPr lang="en-US" sz="3200" dirty="0"/>
          </a:p>
        </p:txBody>
      </p:sp>
      <p:sp>
        <p:nvSpPr>
          <p:cNvPr id="4" name="tarjeta-2"/>
          <p:cNvSpPr/>
          <p:nvPr/>
        </p:nvSpPr>
        <p:spPr>
          <a:xfrm>
            <a:off x="548640" y="1645920"/>
            <a:ext cx="5440680" cy="2148840"/>
          </a:xfrm>
          <a:prstGeom prst="roundRect">
            <a:avLst>
              <a:gd name="adj" fmla="val 5957"/>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numero-3"/>
          <p:cNvSpPr/>
          <p:nvPr/>
        </p:nvSpPr>
        <p:spPr>
          <a:xfrm>
            <a:off x="822960" y="1920240"/>
            <a:ext cx="411480" cy="411480"/>
          </a:xfrm>
          <a:prstGeom prst="ellipse">
            <a:avLst/>
          </a:prstGeom>
          <a:solidFill>
            <a:srgbClr val="111513"/>
          </a:solidFill>
          <a:ln w="6350">
            <a:solidFill>
              <a:srgbClr val="111513"/>
            </a:solidFill>
            <a:prstDash val="solid"/>
          </a:ln>
        </p:spPr>
      </p:sp>
      <p:sp>
        <p:nvSpPr>
          <p:cNvPr id="6" name="texto-4"/>
          <p:cNvSpPr txBox="1"/>
          <p:nvPr/>
        </p:nvSpPr>
        <p:spPr>
          <a:xfrm>
            <a:off x="82296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o-5"/>
          <p:cNvSpPr txBox="1"/>
          <p:nvPr/>
        </p:nvSpPr>
        <p:spPr>
          <a:xfrm>
            <a:off x="1463040" y="1920240"/>
            <a:ext cx="4297680" cy="411480"/>
          </a:xfrm>
          <a:prstGeom prst="rect">
            <a:avLst/>
          </a:prstGeom>
          <a:noFill/>
          <a:ln/>
        </p:spPr>
        <p:txBody>
          <a:bodyPr wrap="square" lIns="0" tIns="0" rIns="0" bIns="0" rtlCol="0" anchor="ctr"/>
          <a:lstStyle/>
          <a:p>
            <a:pPr indent="0" marL="0">
              <a:buNone/>
            </a:pPr>
            <a:r>
              <a:rPr lang="en-US" sz="1300" dirty="0">
                <a:solidFill>
                  <a:schemeClr val="tx2"/>
                </a:solidFill>
              </a:rPr>
              <a:t>¿Cuánto hemos vendido y cómo evoluciona?</a:t>
            </a:r>
            <a:endParaRPr lang="en-US" sz="1300" dirty="0"/>
          </a:p>
        </p:txBody>
      </p:sp>
      <p:sp>
        <p:nvSpPr>
          <p:cNvPr id="8" name="texto-6"/>
          <p:cNvSpPr txBox="1"/>
          <p:nvPr/>
        </p:nvSpPr>
        <p:spPr>
          <a:xfrm>
            <a:off x="822960" y="2514600"/>
            <a:ext cx="4892040" cy="457200"/>
          </a:xfrm>
          <a:prstGeom prst="rect">
            <a:avLst/>
          </a:prstGeom>
          <a:noFill/>
          <a:ln/>
        </p:spPr>
        <p:txBody>
          <a:bodyPr wrap="square" lIns="0" tIns="0" rIns="0" bIns="0" rtlCol="0" anchor="t"/>
          <a:lstStyle/>
          <a:p>
            <a:pPr indent="0" marL="0">
              <a:buNone/>
            </a:pPr>
            <a:r>
              <a:rPr lang="en-US" sz="2000" dirty="0">
                <a:solidFill>
                  <a:schemeClr val="tx1"/>
                </a:solidFill>
              </a:rPr>
              <a:t>38.531 € netos y sin crecer</a:t>
            </a:r>
            <a:endParaRPr lang="en-US" sz="2000" dirty="0"/>
          </a:p>
        </p:txBody>
      </p:sp>
      <p:sp>
        <p:nvSpPr>
          <p:cNvPr id="9" name="texto-7"/>
          <p:cNvSpPr txBox="1"/>
          <p:nvPr/>
        </p:nvSpPr>
        <p:spPr>
          <a:xfrm>
            <a:off x="822960" y="3017520"/>
            <a:ext cx="4892040" cy="685800"/>
          </a:xfrm>
          <a:prstGeom prst="rect">
            <a:avLst/>
          </a:prstGeom>
          <a:noFill/>
          <a:ln/>
        </p:spPr>
        <p:txBody>
          <a:bodyPr wrap="square" lIns="0" tIns="0" rIns="0" bIns="0" rtlCol="0" anchor="t"/>
          <a:lstStyle/>
          <a:p>
            <a:pPr indent="0" marL="0">
              <a:buNone/>
            </a:pPr>
            <a:r>
              <a:rPr lang="en-US" sz="1400" dirty="0">
                <a:solidFill>
                  <a:schemeClr val="tx2"/>
                </a:solidFill>
              </a:rPr>
              <a:t>En junio el 85 % de la venta viene de clientes que ya compraban. Los clientes nuevos caen a 10.</a:t>
            </a:r>
            <a:endParaRPr lang="en-US" sz="1400" dirty="0"/>
          </a:p>
        </p:txBody>
      </p:sp>
      <p:sp>
        <p:nvSpPr>
          <p:cNvPr id="10" name="tarjeta-8"/>
          <p:cNvSpPr/>
          <p:nvPr/>
        </p:nvSpPr>
        <p:spPr>
          <a:xfrm>
            <a:off x="6172200" y="1645920"/>
            <a:ext cx="5440680" cy="2148840"/>
          </a:xfrm>
          <a:prstGeom prst="roundRect">
            <a:avLst>
              <a:gd name="adj" fmla="val 5957"/>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numero-9"/>
          <p:cNvSpPr/>
          <p:nvPr/>
        </p:nvSpPr>
        <p:spPr>
          <a:xfrm>
            <a:off x="6446520" y="1920240"/>
            <a:ext cx="411480" cy="411480"/>
          </a:xfrm>
          <a:prstGeom prst="ellipse">
            <a:avLst/>
          </a:prstGeom>
          <a:solidFill>
            <a:srgbClr val="111513"/>
          </a:solidFill>
          <a:ln w="6350">
            <a:solidFill>
              <a:srgbClr val="111513"/>
            </a:solidFill>
            <a:prstDash val="solid"/>
          </a:ln>
        </p:spPr>
      </p:sp>
      <p:sp>
        <p:nvSpPr>
          <p:cNvPr id="12" name="texto-10"/>
          <p:cNvSpPr txBox="1"/>
          <p:nvPr/>
        </p:nvSpPr>
        <p:spPr>
          <a:xfrm>
            <a:off x="644652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o-11"/>
          <p:cNvSpPr txBox="1"/>
          <p:nvPr/>
        </p:nvSpPr>
        <p:spPr>
          <a:xfrm>
            <a:off x="7086600" y="1920240"/>
            <a:ext cx="4297680" cy="411480"/>
          </a:xfrm>
          <a:prstGeom prst="rect">
            <a:avLst/>
          </a:prstGeom>
          <a:noFill/>
          <a:ln/>
        </p:spPr>
        <p:txBody>
          <a:bodyPr wrap="square" lIns="0" tIns="0" rIns="0" bIns="0" rtlCol="0" anchor="ctr"/>
          <a:lstStyle/>
          <a:p>
            <a:pPr indent="0" marL="0">
              <a:buNone/>
            </a:pPr>
            <a:r>
              <a:rPr lang="en-US" sz="1300" dirty="0">
                <a:solidFill>
                  <a:schemeClr val="tx2"/>
                </a:solidFill>
              </a:rPr>
              <a:t>¿Qué canales merecen más inversión?</a:t>
            </a:r>
            <a:endParaRPr lang="en-US" sz="1300" dirty="0"/>
          </a:p>
        </p:txBody>
      </p:sp>
      <p:sp>
        <p:nvSpPr>
          <p:cNvPr id="14" name="texto-12"/>
          <p:cNvSpPr txBox="1"/>
          <p:nvPr/>
        </p:nvSpPr>
        <p:spPr>
          <a:xfrm>
            <a:off x="6446520" y="2514600"/>
            <a:ext cx="4892040" cy="457200"/>
          </a:xfrm>
          <a:prstGeom prst="rect">
            <a:avLst/>
          </a:prstGeom>
          <a:noFill/>
          <a:ln/>
        </p:spPr>
        <p:txBody>
          <a:bodyPr wrap="square" lIns="0" tIns="0" rIns="0" bIns="0" rtlCol="0" anchor="t"/>
          <a:lstStyle/>
          <a:p>
            <a:pPr indent="0" marL="0">
              <a:buNone/>
            </a:pPr>
            <a:r>
              <a:rPr lang="en-US" sz="2000" dirty="0">
                <a:solidFill>
                  <a:schemeClr val="tx1"/>
                </a:solidFill>
              </a:rPr>
              <a:t>Captan Email, Google y TikTok</a:t>
            </a:r>
            <a:endParaRPr lang="en-US" sz="2000" dirty="0"/>
          </a:p>
        </p:txBody>
      </p:sp>
      <p:sp>
        <p:nvSpPr>
          <p:cNvPr id="15" name="texto-13"/>
          <p:cNvSpPr txBox="1"/>
          <p:nvPr/>
        </p:nvSpPr>
        <p:spPr>
          <a:xfrm>
            <a:off x="6446520" y="3017520"/>
            <a:ext cx="4892040" cy="685800"/>
          </a:xfrm>
          <a:prstGeom prst="rect">
            <a:avLst/>
          </a:prstGeom>
          <a:noFill/>
          <a:ln/>
        </p:spPr>
        <p:txBody>
          <a:bodyPr wrap="square" lIns="0" tIns="0" rIns="0" bIns="0" rtlCol="0" anchor="t"/>
          <a:lstStyle/>
          <a:p>
            <a:pPr indent="0" marL="0">
              <a:buNone/>
            </a:pPr>
            <a:r>
              <a:rPr lang="en-US" sz="1400" dirty="0">
                <a:solidFill>
                  <a:schemeClr val="tx2"/>
                </a:solidFill>
              </a:rPr>
              <a:t>Un cliente nuevo cuesta 32–59 € en los tres primeros y 167 € y 725 € en Meta e Instagram.</a:t>
            </a:r>
            <a:endParaRPr lang="en-US" sz="1400" dirty="0"/>
          </a:p>
        </p:txBody>
      </p:sp>
      <p:sp>
        <p:nvSpPr>
          <p:cNvPr id="16" name="tarjeta-14"/>
          <p:cNvSpPr/>
          <p:nvPr/>
        </p:nvSpPr>
        <p:spPr>
          <a:xfrm>
            <a:off x="548640" y="3977640"/>
            <a:ext cx="5440680" cy="2148840"/>
          </a:xfrm>
          <a:prstGeom prst="roundRect">
            <a:avLst>
              <a:gd name="adj" fmla="val 5957"/>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7" name="numero-15"/>
          <p:cNvSpPr/>
          <p:nvPr/>
        </p:nvSpPr>
        <p:spPr>
          <a:xfrm>
            <a:off x="822960" y="4251960"/>
            <a:ext cx="411480" cy="411480"/>
          </a:xfrm>
          <a:prstGeom prst="ellipse">
            <a:avLst/>
          </a:prstGeom>
          <a:solidFill>
            <a:srgbClr val="111513"/>
          </a:solidFill>
          <a:ln w="6350">
            <a:solidFill>
              <a:srgbClr val="111513"/>
            </a:solidFill>
            <a:prstDash val="solid"/>
          </a:ln>
        </p:spPr>
      </p:sp>
      <p:sp>
        <p:nvSpPr>
          <p:cNvPr id="18" name="texto-16"/>
          <p:cNvSpPr txBox="1"/>
          <p:nvPr/>
        </p:nvSpPr>
        <p:spPr>
          <a:xfrm>
            <a:off x="822960" y="4251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o-17"/>
          <p:cNvSpPr txBox="1"/>
          <p:nvPr/>
        </p:nvSpPr>
        <p:spPr>
          <a:xfrm>
            <a:off x="1463040" y="4251960"/>
            <a:ext cx="4297680" cy="411480"/>
          </a:xfrm>
          <a:prstGeom prst="rect">
            <a:avLst/>
          </a:prstGeom>
          <a:noFill/>
          <a:ln/>
        </p:spPr>
        <p:txBody>
          <a:bodyPr wrap="square" lIns="0" tIns="0" rIns="0" bIns="0" rtlCol="0" anchor="ctr"/>
          <a:lstStyle/>
          <a:p>
            <a:pPr indent="0" marL="0">
              <a:buNone/>
            </a:pPr>
            <a:r>
              <a:rPr lang="en-US" sz="1300" dirty="0">
                <a:solidFill>
                  <a:schemeClr val="tx2"/>
                </a:solidFill>
              </a:rPr>
              <a:t>¿Qué categorías y productos funcionan?</a:t>
            </a:r>
            <a:endParaRPr lang="en-US" sz="1300" dirty="0"/>
          </a:p>
        </p:txBody>
      </p:sp>
      <p:sp>
        <p:nvSpPr>
          <p:cNvPr id="20" name="texto-18"/>
          <p:cNvSpPr txBox="1"/>
          <p:nvPr/>
        </p:nvSpPr>
        <p:spPr>
          <a:xfrm>
            <a:off x="822960" y="4846320"/>
            <a:ext cx="4892040" cy="457200"/>
          </a:xfrm>
          <a:prstGeom prst="rect">
            <a:avLst/>
          </a:prstGeom>
          <a:noFill/>
          <a:ln/>
        </p:spPr>
        <p:txBody>
          <a:bodyPr wrap="square" lIns="0" tIns="0" rIns="0" bIns="0" rtlCol="0" anchor="t"/>
          <a:lstStyle/>
          <a:p>
            <a:pPr indent="0" marL="0">
              <a:buNone/>
            </a:pPr>
            <a:r>
              <a:rPr lang="en-US" sz="2000" dirty="0">
                <a:solidFill>
                  <a:schemeClr val="tx1"/>
                </a:solidFill>
              </a:rPr>
              <a:t>Ropa lidera; Deporte, por debajo</a:t>
            </a:r>
            <a:endParaRPr lang="en-US" sz="2000" dirty="0"/>
          </a:p>
        </p:txBody>
      </p:sp>
      <p:sp>
        <p:nvSpPr>
          <p:cNvPr id="21" name="texto-19"/>
          <p:cNvSpPr txBox="1"/>
          <p:nvPr/>
        </p:nvSpPr>
        <p:spPr>
          <a:xfrm>
            <a:off x="822960" y="5349240"/>
            <a:ext cx="4892040" cy="685800"/>
          </a:xfrm>
          <a:prstGeom prst="rect">
            <a:avLst/>
          </a:prstGeom>
          <a:noFill/>
          <a:ln/>
        </p:spPr>
        <p:txBody>
          <a:bodyPr wrap="square" lIns="0" tIns="0" rIns="0" bIns="0" rtlCol="0" anchor="t"/>
          <a:lstStyle/>
          <a:p>
            <a:pPr indent="0" marL="0">
              <a:buNone/>
            </a:pPr>
            <a:r>
              <a:rPr lang="en-US" sz="1400" dirty="0">
                <a:solidFill>
                  <a:schemeClr val="tx2"/>
                </a:solidFill>
              </a:rPr>
              <a:t>Desde mayo, Deporte es el 7,1 % de la venta, pero vende 472 € por referencia frente a 594–709 €.</a:t>
            </a:r>
            <a:endParaRPr lang="en-US" sz="1400" dirty="0"/>
          </a:p>
        </p:txBody>
      </p:sp>
      <p:sp>
        <p:nvSpPr>
          <p:cNvPr id="22" name="tarjeta-20"/>
          <p:cNvSpPr/>
          <p:nvPr/>
        </p:nvSpPr>
        <p:spPr>
          <a:xfrm>
            <a:off x="6172200" y="3977640"/>
            <a:ext cx="5440680" cy="2148840"/>
          </a:xfrm>
          <a:prstGeom prst="roundRect">
            <a:avLst>
              <a:gd name="adj" fmla="val 5957"/>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3" name="numero-21"/>
          <p:cNvSpPr/>
          <p:nvPr/>
        </p:nvSpPr>
        <p:spPr>
          <a:xfrm>
            <a:off x="6446520" y="4251960"/>
            <a:ext cx="411480" cy="411480"/>
          </a:xfrm>
          <a:prstGeom prst="ellipse">
            <a:avLst/>
          </a:prstGeom>
          <a:solidFill>
            <a:srgbClr val="111513"/>
          </a:solidFill>
          <a:ln w="6350">
            <a:solidFill>
              <a:srgbClr val="111513"/>
            </a:solidFill>
            <a:prstDash val="solid"/>
          </a:ln>
        </p:spPr>
      </p:sp>
      <p:sp>
        <p:nvSpPr>
          <p:cNvPr id="24" name="texto-22"/>
          <p:cNvSpPr txBox="1"/>
          <p:nvPr/>
        </p:nvSpPr>
        <p:spPr>
          <a:xfrm>
            <a:off x="6446520" y="4251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o-23"/>
          <p:cNvSpPr txBox="1"/>
          <p:nvPr/>
        </p:nvSpPr>
        <p:spPr>
          <a:xfrm>
            <a:off x="7086600" y="4251960"/>
            <a:ext cx="4297680" cy="411480"/>
          </a:xfrm>
          <a:prstGeom prst="rect">
            <a:avLst/>
          </a:prstGeom>
          <a:noFill/>
          <a:ln/>
        </p:spPr>
        <p:txBody>
          <a:bodyPr wrap="square" lIns="0" tIns="0" rIns="0" bIns="0" rtlCol="0" anchor="ctr"/>
          <a:lstStyle/>
          <a:p>
            <a:pPr indent="0" marL="0">
              <a:buNone/>
            </a:pPr>
            <a:r>
              <a:rPr lang="en-US" sz="1300" dirty="0">
                <a:solidFill>
                  <a:schemeClr val="tx2"/>
                </a:solidFill>
              </a:rPr>
              <a:t>¿Qué hacemos distinto?</a:t>
            </a:r>
            <a:endParaRPr lang="en-US" sz="1300" dirty="0"/>
          </a:p>
        </p:txBody>
      </p:sp>
      <p:sp>
        <p:nvSpPr>
          <p:cNvPr id="26" name="texto-24"/>
          <p:cNvSpPr txBox="1"/>
          <p:nvPr/>
        </p:nvSpPr>
        <p:spPr>
          <a:xfrm>
            <a:off x="6446520" y="4846320"/>
            <a:ext cx="4892040" cy="457200"/>
          </a:xfrm>
          <a:prstGeom prst="rect">
            <a:avLst/>
          </a:prstGeom>
          <a:noFill/>
          <a:ln/>
        </p:spPr>
        <p:txBody>
          <a:bodyPr wrap="square" lIns="0" tIns="0" rIns="0" bIns="0" rtlCol="0" anchor="t"/>
          <a:lstStyle/>
          <a:p>
            <a:pPr indent="0" marL="0">
              <a:buNone/>
            </a:pPr>
            <a:r>
              <a:rPr lang="en-US" sz="2000" dirty="0">
                <a:solidFill>
                  <a:schemeClr val="tx1"/>
                </a:solidFill>
              </a:rPr>
              <a:t>Captar más y cuidar la recompra</a:t>
            </a:r>
            <a:endParaRPr lang="en-US" sz="2000" dirty="0"/>
          </a:p>
        </p:txBody>
      </p:sp>
      <p:sp>
        <p:nvSpPr>
          <p:cNvPr id="27" name="texto-25"/>
          <p:cNvSpPr txBox="1"/>
          <p:nvPr/>
        </p:nvSpPr>
        <p:spPr>
          <a:xfrm>
            <a:off x="6446520" y="5349240"/>
            <a:ext cx="4892040" cy="685800"/>
          </a:xfrm>
          <a:prstGeom prst="rect">
            <a:avLst/>
          </a:prstGeom>
          <a:noFill/>
          <a:ln/>
        </p:spPr>
        <p:txBody>
          <a:bodyPr wrap="square" lIns="0" tIns="0" rIns="0" bIns="0" rtlCol="0" anchor="t"/>
          <a:lstStyle/>
          <a:p>
            <a:pPr indent="0" marL="0">
              <a:buNone/>
            </a:pPr>
            <a:r>
              <a:rPr lang="en-US" sz="1400" dirty="0">
                <a:solidFill>
                  <a:schemeClr val="tx2"/>
                </a:solidFill>
              </a:rPr>
              <a:t>Pausar Instagram, bajar Meta y reforzar Email y Google. La recompra a 30 días cae del 83 % al 42 %.</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El semestre deja 38.531 € de venta neta y no crece</a:t>
            </a:r>
            <a:endParaRPr lang="en-US" sz="3200" dirty="0"/>
          </a:p>
        </p:txBody>
      </p:sp>
      <p:sp>
        <p:nvSpPr>
          <p:cNvPr id="4" name="tarjeta-26"/>
          <p:cNvSpPr/>
          <p:nvPr/>
        </p:nvSpPr>
        <p:spPr>
          <a:xfrm>
            <a:off x="548640" y="1645920"/>
            <a:ext cx="2103120" cy="1828800"/>
          </a:xfrm>
          <a:prstGeom prst="roundRect">
            <a:avLst>
              <a:gd name="adj" fmla="val 7000"/>
            </a:avLst>
          </a:prstGeom>
          <a:solidFill>
            <a:srgbClr val="111513">
              <a:alpha val="88000"/>
            </a:srgbClr>
          </a:solidFill>
          <a:ln w="9525">
            <a:solidFill>
              <a:srgbClr val="2C302E"/>
            </a:solidFill>
            <a:prstDash val="solid"/>
          </a:ln>
          <a:effectLst>
            <a:outerShdw sx="100000" sy="100000" kx="0" ky="0" algn="bl" rotWithShape="0" blurRad="177800" dist="38100" dir="5400000">
              <a:srgbClr val="1B2A22">
                <a:alpha val="10000"/>
              </a:srgbClr>
            </a:outerShdw>
          </a:effectLst>
        </p:spPr>
      </p:sp>
      <p:sp>
        <p:nvSpPr>
          <p:cNvPr id="5" name="texto-27"/>
          <p:cNvSpPr txBox="1"/>
          <p:nvPr/>
        </p:nvSpPr>
        <p:spPr>
          <a:xfrm>
            <a:off x="777240" y="2011680"/>
            <a:ext cx="1783080" cy="640080"/>
          </a:xfrm>
          <a:prstGeom prst="rect">
            <a:avLst/>
          </a:prstGeom>
          <a:noFill/>
          <a:ln/>
        </p:spPr>
        <p:txBody>
          <a:bodyPr wrap="square" lIns="0" tIns="0" rIns="0" bIns="0" rtlCol="0" anchor="t"/>
          <a:lstStyle/>
          <a:p>
            <a:pPr indent="0" marL="0">
              <a:buNone/>
            </a:pPr>
            <a:r>
              <a:rPr lang="en-US" sz="2800" dirty="0">
                <a:solidFill>
                  <a:schemeClr val="bg1"/>
                </a:solidFill>
              </a:rPr>
              <a:t>38.531 €</a:t>
            </a:r>
            <a:endParaRPr lang="en-US" sz="2800" dirty="0"/>
          </a:p>
        </p:txBody>
      </p:sp>
      <p:sp>
        <p:nvSpPr>
          <p:cNvPr id="6" name="texto-28"/>
          <p:cNvSpPr txBox="1"/>
          <p:nvPr/>
        </p:nvSpPr>
        <p:spPr>
          <a:xfrm>
            <a:off x="777240" y="2743200"/>
            <a:ext cx="1783080" cy="365760"/>
          </a:xfrm>
          <a:prstGeom prst="rect">
            <a:avLst/>
          </a:prstGeom>
          <a:noFill/>
          <a:ln/>
        </p:spPr>
        <p:txBody>
          <a:bodyPr wrap="square" lIns="0" tIns="0" rIns="0" bIns="0" rtlCol="0" anchor="t"/>
          <a:lstStyle/>
          <a:p>
            <a:pPr indent="0" marL="0">
              <a:buNone/>
            </a:pPr>
            <a:r>
              <a:rPr lang="en-US" sz="1300" dirty="0">
                <a:solidFill>
                  <a:schemeClr val="accent6"/>
                </a:solidFill>
              </a:rPr>
              <a:t>venta neta</a:t>
            </a:r>
            <a:endParaRPr lang="en-US" sz="1300" dirty="0"/>
          </a:p>
        </p:txBody>
      </p:sp>
      <p:sp>
        <p:nvSpPr>
          <p:cNvPr id="7" name="tarjeta-29"/>
          <p:cNvSpPr/>
          <p:nvPr/>
        </p:nvSpPr>
        <p:spPr>
          <a:xfrm>
            <a:off x="2788920" y="1645920"/>
            <a:ext cx="2103120" cy="1828800"/>
          </a:xfrm>
          <a:prstGeom prst="roundRect">
            <a:avLst>
              <a:gd name="adj" fmla="val 7000"/>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8" name="texto-30"/>
          <p:cNvSpPr txBox="1"/>
          <p:nvPr/>
        </p:nvSpPr>
        <p:spPr>
          <a:xfrm>
            <a:off x="3017520" y="2011680"/>
            <a:ext cx="1783080" cy="640080"/>
          </a:xfrm>
          <a:prstGeom prst="rect">
            <a:avLst/>
          </a:prstGeom>
          <a:noFill/>
          <a:ln/>
        </p:spPr>
        <p:txBody>
          <a:bodyPr wrap="square" lIns="0" tIns="0" rIns="0" bIns="0" rtlCol="0" anchor="t"/>
          <a:lstStyle/>
          <a:p>
            <a:pPr indent="0" marL="0">
              <a:buNone/>
            </a:pPr>
            <a:r>
              <a:rPr lang="en-US" sz="2800" dirty="0">
                <a:solidFill>
                  <a:schemeClr val="tx1"/>
                </a:solidFill>
              </a:rPr>
              <a:t>614</a:t>
            </a:r>
            <a:endParaRPr lang="en-US" sz="2800" dirty="0"/>
          </a:p>
        </p:txBody>
      </p:sp>
      <p:sp>
        <p:nvSpPr>
          <p:cNvPr id="9" name="texto-31"/>
          <p:cNvSpPr txBox="1"/>
          <p:nvPr/>
        </p:nvSpPr>
        <p:spPr>
          <a:xfrm>
            <a:off x="3017520" y="2743200"/>
            <a:ext cx="1783080" cy="365760"/>
          </a:xfrm>
          <a:prstGeom prst="rect">
            <a:avLst/>
          </a:prstGeom>
          <a:noFill/>
          <a:ln/>
        </p:spPr>
        <p:txBody>
          <a:bodyPr wrap="square" lIns="0" tIns="0" rIns="0" bIns="0" rtlCol="0" anchor="t"/>
          <a:lstStyle/>
          <a:p>
            <a:pPr indent="0" marL="0">
              <a:buNone/>
            </a:pPr>
            <a:r>
              <a:rPr lang="en-US" sz="1300" dirty="0">
                <a:solidFill>
                  <a:schemeClr val="tx2"/>
                </a:solidFill>
              </a:rPr>
              <a:t>pedidos</a:t>
            </a:r>
            <a:endParaRPr lang="en-US" sz="1300" dirty="0"/>
          </a:p>
        </p:txBody>
      </p:sp>
      <p:sp>
        <p:nvSpPr>
          <p:cNvPr id="10" name="tarjeta-32"/>
          <p:cNvSpPr/>
          <p:nvPr/>
        </p:nvSpPr>
        <p:spPr>
          <a:xfrm>
            <a:off x="548640" y="3657600"/>
            <a:ext cx="2103120" cy="1828800"/>
          </a:xfrm>
          <a:prstGeom prst="roundRect">
            <a:avLst>
              <a:gd name="adj" fmla="val 7000"/>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33"/>
          <p:cNvSpPr txBox="1"/>
          <p:nvPr/>
        </p:nvSpPr>
        <p:spPr>
          <a:xfrm>
            <a:off x="777240" y="4023360"/>
            <a:ext cx="1783080" cy="640080"/>
          </a:xfrm>
          <a:prstGeom prst="rect">
            <a:avLst/>
          </a:prstGeom>
          <a:noFill/>
          <a:ln/>
        </p:spPr>
        <p:txBody>
          <a:bodyPr wrap="square" lIns="0" tIns="0" rIns="0" bIns="0" rtlCol="0" anchor="t"/>
          <a:lstStyle/>
          <a:p>
            <a:pPr indent="0" marL="0">
              <a:buNone/>
            </a:pPr>
            <a:r>
              <a:rPr lang="en-US" sz="2800" dirty="0">
                <a:solidFill>
                  <a:schemeClr val="tx1"/>
                </a:solidFill>
              </a:rPr>
              <a:t>68,47 €</a:t>
            </a:r>
            <a:endParaRPr lang="en-US" sz="2800" dirty="0"/>
          </a:p>
        </p:txBody>
      </p:sp>
      <p:sp>
        <p:nvSpPr>
          <p:cNvPr id="12" name="texto-34"/>
          <p:cNvSpPr txBox="1"/>
          <p:nvPr/>
        </p:nvSpPr>
        <p:spPr>
          <a:xfrm>
            <a:off x="777240" y="4754880"/>
            <a:ext cx="1783080" cy="365760"/>
          </a:xfrm>
          <a:prstGeom prst="rect">
            <a:avLst/>
          </a:prstGeom>
          <a:noFill/>
          <a:ln/>
        </p:spPr>
        <p:txBody>
          <a:bodyPr wrap="square" lIns="0" tIns="0" rIns="0" bIns="0" rtlCol="0" anchor="t"/>
          <a:lstStyle/>
          <a:p>
            <a:pPr indent="0" marL="0">
              <a:buNone/>
            </a:pPr>
            <a:r>
              <a:rPr lang="en-US" sz="1300" dirty="0">
                <a:solidFill>
                  <a:schemeClr val="tx2"/>
                </a:solidFill>
              </a:rPr>
              <a:t>ticket medio</a:t>
            </a:r>
            <a:endParaRPr lang="en-US" sz="1300" dirty="0"/>
          </a:p>
        </p:txBody>
      </p:sp>
      <p:sp>
        <p:nvSpPr>
          <p:cNvPr id="13" name="tarjeta-35"/>
          <p:cNvSpPr/>
          <p:nvPr/>
        </p:nvSpPr>
        <p:spPr>
          <a:xfrm>
            <a:off x="2788920" y="3657600"/>
            <a:ext cx="2103120" cy="1828800"/>
          </a:xfrm>
          <a:prstGeom prst="roundRect">
            <a:avLst>
              <a:gd name="adj" fmla="val 7000"/>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4" name="texto-36"/>
          <p:cNvSpPr txBox="1"/>
          <p:nvPr/>
        </p:nvSpPr>
        <p:spPr>
          <a:xfrm>
            <a:off x="3017520" y="4023360"/>
            <a:ext cx="1783080" cy="640080"/>
          </a:xfrm>
          <a:prstGeom prst="rect">
            <a:avLst/>
          </a:prstGeom>
          <a:noFill/>
          <a:ln/>
        </p:spPr>
        <p:txBody>
          <a:bodyPr wrap="square" lIns="0" tIns="0" rIns="0" bIns="0" rtlCol="0" anchor="t"/>
          <a:lstStyle/>
          <a:p>
            <a:pPr indent="0" marL="0">
              <a:buNone/>
            </a:pPr>
            <a:r>
              <a:rPr lang="en-US" sz="2800" dirty="0">
                <a:solidFill>
                  <a:schemeClr val="tx1"/>
                </a:solidFill>
              </a:rPr>
              <a:t>131</a:t>
            </a:r>
            <a:endParaRPr lang="en-US" sz="2800" dirty="0"/>
          </a:p>
        </p:txBody>
      </p:sp>
      <p:sp>
        <p:nvSpPr>
          <p:cNvPr id="15" name="texto-37"/>
          <p:cNvSpPr txBox="1"/>
          <p:nvPr/>
        </p:nvSpPr>
        <p:spPr>
          <a:xfrm>
            <a:off x="3017520" y="4754880"/>
            <a:ext cx="1783080" cy="365760"/>
          </a:xfrm>
          <a:prstGeom prst="rect">
            <a:avLst/>
          </a:prstGeom>
          <a:noFill/>
          <a:ln/>
        </p:spPr>
        <p:txBody>
          <a:bodyPr wrap="square" lIns="0" tIns="0" rIns="0" bIns="0" rtlCol="0" anchor="t"/>
          <a:lstStyle/>
          <a:p>
            <a:pPr indent="0" marL="0">
              <a:buNone/>
            </a:pPr>
            <a:r>
              <a:rPr lang="en-US" sz="1300" dirty="0">
                <a:solidFill>
                  <a:schemeClr val="tx2"/>
                </a:solidFill>
              </a:rPr>
              <a:t>compradores</a:t>
            </a:r>
            <a:endParaRPr lang="en-US" sz="1300" dirty="0"/>
          </a:p>
        </p:txBody>
      </p:sp>
      <p:sp>
        <p:nvSpPr>
          <p:cNvPr id="16" name="tarjeta-38"/>
          <p:cNvSpPr/>
          <p:nvPr/>
        </p:nvSpPr>
        <p:spPr>
          <a:xfrm>
            <a:off x="5257800" y="1645920"/>
            <a:ext cx="6382512" cy="3840480"/>
          </a:xfrm>
          <a:prstGeom prst="roundRect">
            <a:avLst>
              <a:gd name="adj" fmla="val 333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7" name="texto-39"/>
          <p:cNvSpPr txBox="1"/>
          <p:nvPr/>
        </p:nvSpPr>
        <p:spPr>
          <a:xfrm>
            <a:off x="5532120" y="1828800"/>
            <a:ext cx="3657600" cy="320040"/>
          </a:xfrm>
          <a:prstGeom prst="rect">
            <a:avLst/>
          </a:prstGeom>
          <a:noFill/>
          <a:ln/>
        </p:spPr>
        <p:txBody>
          <a:bodyPr wrap="square" lIns="0" tIns="0" rIns="0" bIns="0" rtlCol="0" anchor="t"/>
          <a:lstStyle/>
          <a:p>
            <a:pPr indent="0" marL="0">
              <a:buNone/>
            </a:pPr>
            <a:r>
              <a:rPr lang="en-US" sz="1400" b="1" dirty="0">
                <a:solidFill>
                  <a:schemeClr val="tx1"/>
                </a:solidFill>
              </a:rPr>
              <a:t>Venta neta por mes (€)</a:t>
            </a:r>
            <a:endParaRPr lang="en-US" sz="1400" dirty="0"/>
          </a:p>
        </p:txBody>
      </p:sp>
      <p:graphicFrame>
        <p:nvGraphicFramePr>
          <p:cNvPr id="18" name="Chart 0" descr=""/>
          <p:cNvGraphicFramePr/>
          <p:nvPr/>
        </p:nvGraphicFramePr>
        <p:xfrm>
          <a:off x="5440680" y="2194560"/>
          <a:ext cx="6035040" cy="3154680"/>
        </p:xfrm>
        <a:graphic xmlns:a="http://schemas.openxmlformats.org/drawingml/2006/main">
          <a:graphicData uri="http://schemas.openxmlformats.org/drawingml/2006/chart">
            <c:chart xmlns:c="http://schemas.openxmlformats.org/drawingml/2006/chart" r:id="rId1"/>
          </a:graphicData>
        </a:graphic>
      </p:graphicFrame>
      <p:sp>
        <p:nvSpPr>
          <p:cNvPr id="19" name="texto-40"/>
          <p:cNvSpPr txBox="1"/>
          <p:nvPr/>
        </p:nvSpPr>
        <p:spPr>
          <a:xfrm>
            <a:off x="548640" y="5669280"/>
            <a:ext cx="10972800" cy="457200"/>
          </a:xfrm>
          <a:prstGeom prst="rect">
            <a:avLst/>
          </a:prstGeom>
          <a:noFill/>
          <a:ln/>
        </p:spPr>
        <p:txBody>
          <a:bodyPr wrap="square" lIns="0" tIns="0" rIns="0" bIns="0" rtlCol="0" anchor="t"/>
          <a:lstStyle/>
          <a:p>
            <a:pPr indent="0" marL="0">
              <a:buNone/>
            </a:pPr>
            <a:r>
              <a:rPr lang="en-US" sz="1200" dirty="0">
                <a:solidFill>
                  <a:schemeClr val="tx2"/>
                </a:solidFill>
              </a:rPr>
              <a:t>Sin tendencia: abril (en verde) es el mejor mes. Si los códigos hubieran aplicado su descuento, la venta neta sería de 37.217 €.</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La venta se sostiene con clientes previos y la captación cae por Orgánico</a:t>
            </a:r>
            <a:endParaRPr lang="en-US" sz="3200" dirty="0"/>
          </a:p>
        </p:txBody>
      </p:sp>
      <p:sp>
        <p:nvSpPr>
          <p:cNvPr id="4" name="tarjeta-41"/>
          <p:cNvSpPr/>
          <p:nvPr/>
        </p:nvSpPr>
        <p:spPr>
          <a:xfrm>
            <a:off x="548640" y="1645920"/>
            <a:ext cx="6949440"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42"/>
          <p:cNvSpPr txBox="1"/>
          <p:nvPr/>
        </p:nvSpPr>
        <p:spPr>
          <a:xfrm>
            <a:off x="822960" y="1828800"/>
            <a:ext cx="6400800" cy="320040"/>
          </a:xfrm>
          <a:prstGeom prst="rect">
            <a:avLst/>
          </a:prstGeom>
          <a:noFill/>
          <a:ln/>
        </p:spPr>
        <p:txBody>
          <a:bodyPr wrap="square" lIns="0" tIns="0" rIns="0" bIns="0" rtlCol="0" anchor="t"/>
          <a:lstStyle/>
          <a:p>
            <a:pPr indent="0" marL="0">
              <a:buNone/>
            </a:pPr>
            <a:r>
              <a:rPr lang="en-US" sz="1400" b="1" dirty="0">
                <a:solidFill>
                  <a:schemeClr val="tx1"/>
                </a:solidFill>
              </a:rPr>
              <a:t>Clientes nuevos por mes y canal de su primer pedido</a:t>
            </a:r>
            <a:endParaRPr lang="en-US" sz="1400" dirty="0"/>
          </a:p>
        </p:txBody>
      </p:sp>
      <p:graphicFrame>
        <p:nvGraphicFramePr>
          <p:cNvPr id="6" name="Chart 0" descr=""/>
          <p:cNvGraphicFramePr/>
          <p:nvPr/>
        </p:nvGraphicFramePr>
        <p:xfrm>
          <a:off x="731520" y="219456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7" name="tarjeta-43"/>
          <p:cNvSpPr/>
          <p:nvPr/>
        </p:nvSpPr>
        <p:spPr>
          <a:xfrm>
            <a:off x="7726680" y="1645920"/>
            <a:ext cx="3913632" cy="2011680"/>
          </a:xfrm>
          <a:prstGeom prst="roundRect">
            <a:avLst>
              <a:gd name="adj" fmla="val 6364"/>
            </a:avLst>
          </a:prstGeom>
          <a:solidFill>
            <a:srgbClr val="111513">
              <a:alpha val="88000"/>
            </a:srgbClr>
          </a:solidFill>
          <a:ln w="9525">
            <a:solidFill>
              <a:srgbClr val="2C302E"/>
            </a:solidFill>
            <a:prstDash val="solid"/>
          </a:ln>
          <a:effectLst>
            <a:outerShdw sx="100000" sy="100000" kx="0" ky="0" algn="bl" rotWithShape="0" blurRad="177800" dist="38100" dir="5400000">
              <a:srgbClr val="1B2A22">
                <a:alpha val="10000"/>
              </a:srgbClr>
            </a:outerShdw>
          </a:effectLst>
        </p:spPr>
      </p:sp>
      <p:sp>
        <p:nvSpPr>
          <p:cNvPr id="8" name="texto-44"/>
          <p:cNvSpPr txBox="1"/>
          <p:nvPr/>
        </p:nvSpPr>
        <p:spPr>
          <a:xfrm>
            <a:off x="8001000" y="1828800"/>
            <a:ext cx="3474720" cy="731520"/>
          </a:xfrm>
          <a:prstGeom prst="rect">
            <a:avLst/>
          </a:prstGeom>
          <a:noFill/>
          <a:ln/>
        </p:spPr>
        <p:txBody>
          <a:bodyPr wrap="square" lIns="0" tIns="0" rIns="0" bIns="0" rtlCol="0" anchor="t"/>
          <a:lstStyle/>
          <a:p>
            <a:pPr indent="0" marL="0">
              <a:buNone/>
            </a:pPr>
            <a:r>
              <a:rPr lang="en-US" sz="4000" dirty="0">
                <a:solidFill>
                  <a:schemeClr val="bg1"/>
                </a:solidFill>
              </a:rPr>
              <a:t>85 %</a:t>
            </a:r>
            <a:endParaRPr lang="en-US" sz="4000" dirty="0"/>
          </a:p>
        </p:txBody>
      </p:sp>
      <p:sp>
        <p:nvSpPr>
          <p:cNvPr id="9" name="texto-45"/>
          <p:cNvSpPr txBox="1"/>
          <p:nvPr/>
        </p:nvSpPr>
        <p:spPr>
          <a:xfrm>
            <a:off x="8001000" y="2560320"/>
            <a:ext cx="3474720" cy="822960"/>
          </a:xfrm>
          <a:prstGeom prst="rect">
            <a:avLst/>
          </a:prstGeom>
          <a:noFill/>
          <a:ln/>
        </p:spPr>
        <p:txBody>
          <a:bodyPr wrap="square" lIns="0" tIns="0" rIns="0" bIns="0" rtlCol="0" anchor="t"/>
          <a:lstStyle/>
          <a:p>
            <a:pPr indent="0" marL="0">
              <a:buNone/>
            </a:pPr>
            <a:r>
              <a:rPr lang="en-US" sz="1300" dirty="0">
                <a:solidFill>
                  <a:schemeClr val="accent6"/>
                </a:solidFill>
              </a:rPr>
              <a:t>de la venta neta de junio viene de clientes que ya compraban (56 % en febrero)</a:t>
            </a:r>
            <a:endParaRPr lang="en-US" sz="1300" dirty="0"/>
          </a:p>
        </p:txBody>
      </p:sp>
      <p:sp>
        <p:nvSpPr>
          <p:cNvPr id="10" name="tarjeta-46"/>
          <p:cNvSpPr/>
          <p:nvPr/>
        </p:nvSpPr>
        <p:spPr>
          <a:xfrm>
            <a:off x="7726680" y="3840480"/>
            <a:ext cx="3913632" cy="2011680"/>
          </a:xfrm>
          <a:prstGeom prst="roundRect">
            <a:avLst>
              <a:gd name="adj" fmla="val 6364"/>
            </a:avLst>
          </a:prstGeom>
          <a:solidFill>
            <a:srgbClr val="F3E3DB">
              <a:alpha val="80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47"/>
          <p:cNvSpPr txBox="1"/>
          <p:nvPr/>
        </p:nvSpPr>
        <p:spPr>
          <a:xfrm>
            <a:off x="8001000" y="4023360"/>
            <a:ext cx="3474720" cy="731520"/>
          </a:xfrm>
          <a:prstGeom prst="rect">
            <a:avLst/>
          </a:prstGeom>
          <a:noFill/>
          <a:ln/>
        </p:spPr>
        <p:txBody>
          <a:bodyPr wrap="square" lIns="0" tIns="0" rIns="0" bIns="0" rtlCol="0" anchor="t"/>
          <a:lstStyle/>
          <a:p>
            <a:pPr indent="0" marL="0">
              <a:buNone/>
            </a:pPr>
            <a:r>
              <a:rPr lang="en-US" sz="4000" dirty="0">
                <a:solidFill>
                  <a:schemeClr val="tx1"/>
                </a:solidFill>
              </a:rPr>
              <a:t>12 → 3</a:t>
            </a:r>
            <a:endParaRPr lang="en-US" sz="4000" dirty="0"/>
          </a:p>
        </p:txBody>
      </p:sp>
      <p:sp>
        <p:nvSpPr>
          <p:cNvPr id="12" name="texto-48"/>
          <p:cNvSpPr txBox="1"/>
          <p:nvPr/>
        </p:nvSpPr>
        <p:spPr>
          <a:xfrm>
            <a:off x="8001000" y="4754880"/>
            <a:ext cx="3474720" cy="822960"/>
          </a:xfrm>
          <a:prstGeom prst="rect">
            <a:avLst/>
          </a:prstGeom>
          <a:noFill/>
          <a:ln/>
        </p:spPr>
        <p:txBody>
          <a:bodyPr wrap="square" lIns="0" tIns="0" rIns="0" bIns="0" rtlCol="0" anchor="t"/>
          <a:lstStyle/>
          <a:p>
            <a:pPr indent="0" marL="0">
              <a:buNone/>
            </a:pPr>
            <a:r>
              <a:rPr lang="en-US" sz="1300" dirty="0">
                <a:solidFill>
                  <a:schemeClr val="tx2"/>
                </a:solidFill>
              </a:rPr>
              <a:t>clientes nuevos de Orgánico al mes, de febrero a junio. Los de pago aguantan (11 → 7).</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Alemania y los mejores clientes son el mismo riesgo</a:t>
            </a:r>
            <a:endParaRPr lang="en-US" sz="3200" dirty="0"/>
          </a:p>
        </p:txBody>
      </p:sp>
      <p:sp>
        <p:nvSpPr>
          <p:cNvPr id="4" name="tarjeta-49"/>
          <p:cNvSpPr/>
          <p:nvPr/>
        </p:nvSpPr>
        <p:spPr>
          <a:xfrm>
            <a:off x="548640" y="1645920"/>
            <a:ext cx="5440680" cy="1783080"/>
          </a:xfrm>
          <a:prstGeom prst="roundRect">
            <a:avLst>
              <a:gd name="adj" fmla="val 7179"/>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50"/>
          <p:cNvSpPr txBox="1"/>
          <p:nvPr/>
        </p:nvSpPr>
        <p:spPr>
          <a:xfrm>
            <a:off x="868680" y="1874520"/>
            <a:ext cx="4846320" cy="777240"/>
          </a:xfrm>
          <a:prstGeom prst="rect">
            <a:avLst/>
          </a:prstGeom>
          <a:noFill/>
          <a:ln/>
        </p:spPr>
        <p:txBody>
          <a:bodyPr wrap="square" lIns="0" tIns="0" rIns="0" bIns="0" rtlCol="0" anchor="t"/>
          <a:lstStyle/>
          <a:p>
            <a:pPr indent="0" marL="0">
              <a:buNone/>
            </a:pPr>
            <a:r>
              <a:rPr lang="en-US" sz="4000" dirty="0">
                <a:solidFill>
                  <a:schemeClr val="tx1"/>
                </a:solidFill>
              </a:rPr>
              <a:t>21,4 %</a:t>
            </a:r>
            <a:endParaRPr lang="en-US" sz="4000" dirty="0"/>
          </a:p>
        </p:txBody>
      </p:sp>
      <p:sp>
        <p:nvSpPr>
          <p:cNvPr id="6" name="texto-51"/>
          <p:cNvSpPr txBox="1"/>
          <p:nvPr/>
        </p:nvSpPr>
        <p:spPr>
          <a:xfrm>
            <a:off x="868680" y="2651760"/>
            <a:ext cx="4846320" cy="548640"/>
          </a:xfrm>
          <a:prstGeom prst="rect">
            <a:avLst/>
          </a:prstGeom>
          <a:noFill/>
          <a:ln/>
        </p:spPr>
        <p:txBody>
          <a:bodyPr wrap="square" lIns="0" tIns="0" rIns="0" bIns="0" rtlCol="0" anchor="t"/>
          <a:lstStyle/>
          <a:p>
            <a:pPr indent="0" marL="0">
              <a:buNone/>
            </a:pPr>
            <a:r>
              <a:rPr lang="en-US" sz="1400" dirty="0">
                <a:solidFill>
                  <a:schemeClr val="tx2"/>
                </a:solidFill>
              </a:rPr>
              <a:t>de los compradores son alemanes (28 de 131)</a:t>
            </a:r>
            <a:endParaRPr lang="en-US" sz="1400" dirty="0"/>
          </a:p>
        </p:txBody>
      </p:sp>
      <p:sp>
        <p:nvSpPr>
          <p:cNvPr id="7" name="tarjeta-52"/>
          <p:cNvSpPr/>
          <p:nvPr/>
        </p:nvSpPr>
        <p:spPr>
          <a:xfrm>
            <a:off x="6172200" y="1645920"/>
            <a:ext cx="5440680" cy="1783080"/>
          </a:xfrm>
          <a:prstGeom prst="roundRect">
            <a:avLst>
              <a:gd name="adj" fmla="val 7179"/>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8" name="texto-53"/>
          <p:cNvSpPr txBox="1"/>
          <p:nvPr/>
        </p:nvSpPr>
        <p:spPr>
          <a:xfrm>
            <a:off x="6492240" y="1874520"/>
            <a:ext cx="4846320" cy="777240"/>
          </a:xfrm>
          <a:prstGeom prst="rect">
            <a:avLst/>
          </a:prstGeom>
          <a:noFill/>
          <a:ln/>
        </p:spPr>
        <p:txBody>
          <a:bodyPr wrap="square" lIns="0" tIns="0" rIns="0" bIns="0" rtlCol="0" anchor="t"/>
          <a:lstStyle/>
          <a:p>
            <a:pPr indent="0" marL="0">
              <a:buNone/>
            </a:pPr>
            <a:r>
              <a:rPr lang="en-US" sz="4000" dirty="0">
                <a:solidFill>
                  <a:schemeClr val="tx1"/>
                </a:solidFill>
              </a:rPr>
              <a:t>49,3 %</a:t>
            </a:r>
            <a:endParaRPr lang="en-US" sz="4000" dirty="0"/>
          </a:p>
        </p:txBody>
      </p:sp>
      <p:sp>
        <p:nvSpPr>
          <p:cNvPr id="9" name="texto-54"/>
          <p:cNvSpPr txBox="1"/>
          <p:nvPr/>
        </p:nvSpPr>
        <p:spPr>
          <a:xfrm>
            <a:off x="6492240" y="2651760"/>
            <a:ext cx="4846320" cy="548640"/>
          </a:xfrm>
          <a:prstGeom prst="rect">
            <a:avLst/>
          </a:prstGeom>
          <a:noFill/>
          <a:ln/>
        </p:spPr>
        <p:txBody>
          <a:bodyPr wrap="square" lIns="0" tIns="0" rIns="0" bIns="0" rtlCol="0" anchor="t"/>
          <a:lstStyle/>
          <a:p>
            <a:pPr indent="0" marL="0">
              <a:buNone/>
            </a:pPr>
            <a:r>
              <a:rPr lang="en-US" sz="1400" dirty="0">
                <a:solidFill>
                  <a:schemeClr val="tx2"/>
                </a:solidFill>
              </a:rPr>
              <a:t>de la venta neta la hacen ellos</a:t>
            </a:r>
            <a:endParaRPr lang="en-US" sz="1400" dirty="0"/>
          </a:p>
        </p:txBody>
      </p:sp>
      <p:sp>
        <p:nvSpPr>
          <p:cNvPr id="10" name="tarjeta-55"/>
          <p:cNvSpPr/>
          <p:nvPr/>
        </p:nvSpPr>
        <p:spPr>
          <a:xfrm>
            <a:off x="548640" y="3611880"/>
            <a:ext cx="5440680" cy="1783080"/>
          </a:xfrm>
          <a:prstGeom prst="roundRect">
            <a:avLst>
              <a:gd name="adj" fmla="val 7179"/>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56"/>
          <p:cNvSpPr txBox="1"/>
          <p:nvPr/>
        </p:nvSpPr>
        <p:spPr>
          <a:xfrm>
            <a:off x="868680" y="3840480"/>
            <a:ext cx="4846320" cy="777240"/>
          </a:xfrm>
          <a:prstGeom prst="rect">
            <a:avLst/>
          </a:prstGeom>
          <a:noFill/>
          <a:ln/>
        </p:spPr>
        <p:txBody>
          <a:bodyPr wrap="square" lIns="0" tIns="0" rIns="0" bIns="0" rtlCol="0" anchor="t"/>
          <a:lstStyle/>
          <a:p>
            <a:pPr indent="0" marL="0">
              <a:buNone/>
            </a:pPr>
            <a:r>
              <a:rPr lang="en-US" sz="4000" dirty="0">
                <a:solidFill>
                  <a:schemeClr val="tx1"/>
                </a:solidFill>
              </a:rPr>
              <a:t>678 € / 190 €</a:t>
            </a:r>
            <a:endParaRPr lang="en-US" sz="4000" dirty="0"/>
          </a:p>
        </p:txBody>
      </p:sp>
      <p:sp>
        <p:nvSpPr>
          <p:cNvPr id="12" name="texto-57"/>
          <p:cNvSpPr txBox="1"/>
          <p:nvPr/>
        </p:nvSpPr>
        <p:spPr>
          <a:xfrm>
            <a:off x="868680" y="4617720"/>
            <a:ext cx="4846320" cy="548640"/>
          </a:xfrm>
          <a:prstGeom prst="rect">
            <a:avLst/>
          </a:prstGeom>
          <a:noFill/>
          <a:ln/>
        </p:spPr>
        <p:txBody>
          <a:bodyPr wrap="square" lIns="0" tIns="0" rIns="0" bIns="0" rtlCol="0" anchor="t"/>
          <a:lstStyle/>
          <a:p>
            <a:pPr indent="0" marL="0">
              <a:buNone/>
            </a:pPr>
            <a:r>
              <a:rPr lang="en-US" sz="1400" dirty="0">
                <a:solidFill>
                  <a:schemeClr val="tx2"/>
                </a:solidFill>
              </a:rPr>
              <a:t>venta neta por cliente, Alemania frente a España</a:t>
            </a:r>
            <a:endParaRPr lang="en-US" sz="1400" dirty="0"/>
          </a:p>
        </p:txBody>
      </p:sp>
      <p:sp>
        <p:nvSpPr>
          <p:cNvPr id="13" name="tarjeta-58"/>
          <p:cNvSpPr/>
          <p:nvPr/>
        </p:nvSpPr>
        <p:spPr>
          <a:xfrm>
            <a:off x="6172200" y="3611880"/>
            <a:ext cx="5440680" cy="1783080"/>
          </a:xfrm>
          <a:prstGeom prst="roundRect">
            <a:avLst>
              <a:gd name="adj" fmla="val 7179"/>
            </a:avLst>
          </a:prstGeom>
          <a:solidFill>
            <a:srgbClr val="DCECE3">
              <a:alpha val="75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4" name="texto-59"/>
          <p:cNvSpPr txBox="1"/>
          <p:nvPr/>
        </p:nvSpPr>
        <p:spPr>
          <a:xfrm>
            <a:off x="6492240" y="3840480"/>
            <a:ext cx="4846320" cy="777240"/>
          </a:xfrm>
          <a:prstGeom prst="rect">
            <a:avLst/>
          </a:prstGeom>
          <a:noFill/>
          <a:ln/>
        </p:spPr>
        <p:txBody>
          <a:bodyPr wrap="square" lIns="0" tIns="0" rIns="0" bIns="0" rtlCol="0" anchor="t"/>
          <a:lstStyle/>
          <a:p>
            <a:pPr indent="0" marL="0">
              <a:buNone/>
            </a:pPr>
            <a:r>
              <a:rPr lang="en-US" sz="4000" dirty="0">
                <a:solidFill>
                  <a:schemeClr val="tx1"/>
                </a:solidFill>
              </a:rPr>
              <a:t>17 de 20</a:t>
            </a:r>
            <a:endParaRPr lang="en-US" sz="4000" dirty="0"/>
          </a:p>
        </p:txBody>
      </p:sp>
      <p:sp>
        <p:nvSpPr>
          <p:cNvPr id="15" name="texto-60"/>
          <p:cNvSpPr txBox="1"/>
          <p:nvPr/>
        </p:nvSpPr>
        <p:spPr>
          <a:xfrm>
            <a:off x="6492240" y="4617720"/>
            <a:ext cx="4846320" cy="548640"/>
          </a:xfrm>
          <a:prstGeom prst="rect">
            <a:avLst/>
          </a:prstGeom>
          <a:noFill/>
          <a:ln/>
        </p:spPr>
        <p:txBody>
          <a:bodyPr wrap="square" lIns="0" tIns="0" rIns="0" bIns="0" rtlCol="0" anchor="t"/>
          <a:lstStyle/>
          <a:p>
            <a:pPr indent="0" marL="0">
              <a:buNone/>
            </a:pPr>
            <a:r>
              <a:rPr lang="en-US" sz="1400" dirty="0">
                <a:solidFill>
                  <a:schemeClr val="tx2"/>
                </a:solidFill>
              </a:rPr>
              <a:t>mayores clientes son alemanes; los 20 hacen el 53,5 % de la venta</a:t>
            </a:r>
            <a:endParaRPr lang="en-US" sz="1400" dirty="0"/>
          </a:p>
        </p:txBody>
      </p:sp>
      <p:sp>
        <p:nvSpPr>
          <p:cNvPr id="16" name="texto-61"/>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300" dirty="0">
                <a:solidFill>
                  <a:schemeClr val="tx2"/>
                </a:solidFill>
              </a:rPr>
              <a:t>Acción: etiquetar el país en cada campaña, probar captación en Alemania aceptando un coste por cliente mayor y poner una alerta de inactividad a los 20 mayores clientes.</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Cada cohorte repite menos: del 83 % al 42 % en 30 días</a:t>
            </a:r>
            <a:endParaRPr lang="en-US" sz="3200" dirty="0"/>
          </a:p>
        </p:txBody>
      </p:sp>
      <p:sp>
        <p:nvSpPr>
          <p:cNvPr id="4" name="tarjeta-62"/>
          <p:cNvSpPr/>
          <p:nvPr/>
        </p:nvSpPr>
        <p:spPr>
          <a:xfrm>
            <a:off x="548640" y="1645920"/>
            <a:ext cx="6949440"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63"/>
          <p:cNvSpPr txBox="1"/>
          <p:nvPr/>
        </p:nvSpPr>
        <p:spPr>
          <a:xfrm>
            <a:off x="822960" y="1828800"/>
            <a:ext cx="6400800" cy="320040"/>
          </a:xfrm>
          <a:prstGeom prst="rect">
            <a:avLst/>
          </a:prstGeom>
          <a:noFill/>
          <a:ln/>
        </p:spPr>
        <p:txBody>
          <a:bodyPr wrap="square" lIns="0" tIns="0" rIns="0" bIns="0" rtlCol="0" anchor="t"/>
          <a:lstStyle/>
          <a:p>
            <a:pPr indent="0" marL="0">
              <a:buNone/>
            </a:pPr>
            <a:r>
              <a:rPr lang="en-US" sz="1400" b="1" dirty="0">
                <a:solidFill>
                  <a:schemeClr val="tx1"/>
                </a:solidFill>
              </a:rPr>
              <a:t>Clientes que repiten en 30 días, por mes del primer pedido (%)</a:t>
            </a:r>
            <a:endParaRPr lang="en-US" sz="1400" dirty="0"/>
          </a:p>
        </p:txBody>
      </p:sp>
      <p:graphicFrame>
        <p:nvGraphicFramePr>
          <p:cNvPr id="6" name="Chart 0" descr=""/>
          <p:cNvGraphicFramePr/>
          <p:nvPr/>
        </p:nvGraphicFramePr>
        <p:xfrm>
          <a:off x="731520" y="219456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7" name="tarjeta-64"/>
          <p:cNvSpPr/>
          <p:nvPr/>
        </p:nvSpPr>
        <p:spPr>
          <a:xfrm>
            <a:off x="7726680" y="1645920"/>
            <a:ext cx="3913632" cy="2011680"/>
          </a:xfrm>
          <a:prstGeom prst="roundRect">
            <a:avLst>
              <a:gd name="adj" fmla="val 6364"/>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8" name="texto-65"/>
          <p:cNvSpPr txBox="1"/>
          <p:nvPr/>
        </p:nvSpPr>
        <p:spPr>
          <a:xfrm>
            <a:off x="8001000" y="1828800"/>
            <a:ext cx="3474720" cy="731520"/>
          </a:xfrm>
          <a:prstGeom prst="rect">
            <a:avLst/>
          </a:prstGeom>
          <a:noFill/>
          <a:ln/>
        </p:spPr>
        <p:txBody>
          <a:bodyPr wrap="square" lIns="0" tIns="0" rIns="0" bIns="0" rtlCol="0" anchor="t"/>
          <a:lstStyle/>
          <a:p>
            <a:pPr indent="0" marL="0">
              <a:buNone/>
            </a:pPr>
            <a:r>
              <a:rPr lang="en-US" sz="4000" dirty="0">
                <a:solidFill>
                  <a:schemeClr val="tx1"/>
                </a:solidFill>
              </a:rPr>
              <a:t>232 €</a:t>
            </a:r>
            <a:endParaRPr lang="en-US" sz="4000" dirty="0"/>
          </a:p>
        </p:txBody>
      </p:sp>
      <p:sp>
        <p:nvSpPr>
          <p:cNvPr id="9" name="texto-66"/>
          <p:cNvSpPr txBox="1"/>
          <p:nvPr/>
        </p:nvSpPr>
        <p:spPr>
          <a:xfrm>
            <a:off x="8001000" y="2560320"/>
            <a:ext cx="3474720" cy="822960"/>
          </a:xfrm>
          <a:prstGeom prst="rect">
            <a:avLst/>
          </a:prstGeom>
          <a:noFill/>
          <a:ln/>
        </p:spPr>
        <p:txBody>
          <a:bodyPr wrap="square" lIns="0" tIns="0" rIns="0" bIns="0" rtlCol="0" anchor="t"/>
          <a:lstStyle/>
          <a:p>
            <a:pPr indent="0" marL="0">
              <a:buNone/>
            </a:pPr>
            <a:r>
              <a:rPr lang="en-US" sz="1300" dirty="0">
                <a:solidFill>
                  <a:schemeClr val="tx2"/>
                </a:solidFill>
              </a:rPr>
              <a:t>vale un cliente nuevo en sus primeros 90 días (cohortes de febrero a abril)</a:t>
            </a:r>
            <a:endParaRPr lang="en-US" sz="1300" dirty="0"/>
          </a:p>
        </p:txBody>
      </p:sp>
      <p:sp>
        <p:nvSpPr>
          <p:cNvPr id="10" name="tarjeta-67"/>
          <p:cNvSpPr/>
          <p:nvPr/>
        </p:nvSpPr>
        <p:spPr>
          <a:xfrm>
            <a:off x="7726680" y="3840480"/>
            <a:ext cx="3913632" cy="2011680"/>
          </a:xfrm>
          <a:prstGeom prst="roundRect">
            <a:avLst>
              <a:gd name="adj" fmla="val 6364"/>
            </a:avLst>
          </a:prstGeom>
          <a:solidFill>
            <a:srgbClr val="DCECE3">
              <a:alpha val="75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68"/>
          <p:cNvSpPr txBox="1"/>
          <p:nvPr/>
        </p:nvSpPr>
        <p:spPr>
          <a:xfrm>
            <a:off x="8001000" y="4069080"/>
            <a:ext cx="3429000" cy="1554480"/>
          </a:xfrm>
          <a:prstGeom prst="rect">
            <a:avLst/>
          </a:prstGeom>
          <a:noFill/>
          <a:ln/>
        </p:spPr>
        <p:txBody>
          <a:bodyPr wrap="square" lIns="0" tIns="0" rIns="0" bIns="0" rtlCol="0" anchor="t"/>
          <a:lstStyle/>
          <a:p>
            <a:pPr indent="0" marL="0">
              <a:buNone/>
            </a:pPr>
            <a:r>
              <a:rPr lang="en-US" sz="1500" dirty="0">
                <a:solidFill>
                  <a:schemeClr val="tx1"/>
                </a:solidFill>
              </a:rPr>
              <a:t>Mensaje de segundo pedido a los 10 días y un KPI mensual de recompra a 30 días por cohorte.</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Captar un cliente cuesta 32–59 € en TikTok, Email y Google, y 167–725 € en Meta e Instagram</a:t>
            </a:r>
            <a:endParaRPr lang="en-US" sz="3200" dirty="0"/>
          </a:p>
        </p:txBody>
      </p:sp>
      <p:sp>
        <p:nvSpPr>
          <p:cNvPr id="4" name="tarjeta-69"/>
          <p:cNvSpPr/>
          <p:nvPr/>
        </p:nvSpPr>
        <p:spPr>
          <a:xfrm>
            <a:off x="548640" y="1645920"/>
            <a:ext cx="5394960"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70"/>
          <p:cNvSpPr txBox="1"/>
          <p:nvPr/>
        </p:nvSpPr>
        <p:spPr>
          <a:xfrm>
            <a:off x="822960" y="1828800"/>
            <a:ext cx="4937760" cy="320040"/>
          </a:xfrm>
          <a:prstGeom prst="rect">
            <a:avLst/>
          </a:prstGeom>
          <a:noFill/>
          <a:ln/>
        </p:spPr>
        <p:txBody>
          <a:bodyPr wrap="square" lIns="0" tIns="0" rIns="0" bIns="0" rtlCol="0" anchor="t"/>
          <a:lstStyle/>
          <a:p>
            <a:pPr indent="0" marL="0">
              <a:buNone/>
            </a:pPr>
            <a:r>
              <a:rPr lang="en-US" sz="1400" b="1" dirty="0">
                <a:solidFill>
                  <a:schemeClr val="tx1"/>
                </a:solidFill>
              </a:rPr>
              <a:t>Coste por cliente nuevo, marzo a junio (€)</a:t>
            </a:r>
            <a:endParaRPr lang="en-US" sz="1400" dirty="0"/>
          </a:p>
        </p:txBody>
      </p:sp>
      <p:graphicFrame>
        <p:nvGraphicFramePr>
          <p:cNvPr id="6" name="Chart 0" descr=""/>
          <p:cNvGraphicFramePr/>
          <p:nvPr/>
        </p:nvGraphicFramePr>
        <p:xfrm>
          <a:off x="731520" y="219456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7" name="tarjeta-71"/>
          <p:cNvSpPr/>
          <p:nvPr/>
        </p:nvSpPr>
        <p:spPr>
          <a:xfrm>
            <a:off x="6172200" y="1645920"/>
            <a:ext cx="5468112"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8" name="texto-72"/>
          <p:cNvSpPr txBox="1"/>
          <p:nvPr/>
        </p:nvSpPr>
        <p:spPr>
          <a:xfrm>
            <a:off x="6446520" y="1828800"/>
            <a:ext cx="4937760" cy="320040"/>
          </a:xfrm>
          <a:prstGeom prst="rect">
            <a:avLst/>
          </a:prstGeom>
          <a:noFill/>
          <a:ln/>
        </p:spPr>
        <p:txBody>
          <a:bodyPr wrap="square" lIns="0" tIns="0" rIns="0" bIns="0" rtlCol="0" anchor="t"/>
          <a:lstStyle/>
          <a:p>
            <a:pPr indent="0" marL="0">
              <a:buNone/>
            </a:pPr>
            <a:r>
              <a:rPr lang="en-US" sz="1400" b="1" dirty="0">
                <a:solidFill>
                  <a:schemeClr val="tx1"/>
                </a:solidFill>
              </a:rPr>
              <a:t>Inversión, captación e IEC desde marzo</a:t>
            </a:r>
            <a:endParaRPr lang="en-US" sz="1400" dirty="0"/>
          </a:p>
        </p:txBody>
      </p:sp>
      <p:graphicFrame>
        <p:nvGraphicFramePr>
          <p:cNvPr id="8" name="tabla-canales"/>
          <p:cNvGraphicFramePr>
            <a:graphicFrameLocks noGrp="1"/>
          </p:cNvGraphicFramePr>
          <p:nvPr>
            <p:extLst>
              <p:ext uri="{D42A27DB-BD31-4B8C-83A1-F6EECF244321}">
                <p14:modId xmlns:p14="http://schemas.microsoft.com/office/powerpoint/2010/main" val="1579011935"/>
              </p:ext>
            </p:extLst>
          </p:nvPr>
        </p:nvGraphicFramePr>
        <p:xfrm>
          <a:off x="6446520" y="2240280"/>
          <a:ext cx="4937760" cy="914400"/>
        </p:xfrm>
        <a:graphic>
          <a:graphicData uri="http://schemas.openxmlformats.org/drawingml/2006/table">
            <a:tbl>
              <a:tblPr/>
              <a:tblGrid>
                <a:gridCol w="1280160"/>
                <a:gridCol w="1005840"/>
                <a:gridCol w="822960"/>
                <a:gridCol w="914400"/>
                <a:gridCol w="914400"/>
              </a:tblGrid>
              <a:tr h="384048">
                <a:tc>
                  <a:txBody>
                    <a:bodyPr/>
                    <a:lstStyle/>
                    <a:p>
                      <a:pPr algn="l" indent="0" marL="0">
                        <a:buNone/>
                      </a:pPr>
                      <a:r>
                        <a:rPr lang="en-US" sz="1100" b="1" dirty="0">
                          <a:solidFill>
                            <a:srgbClr val="666B68"/>
                          </a:solidFill>
                        </a:rPr>
                        <a:t>Canal</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c>
                  <a:txBody>
                    <a:bodyPr/>
                    <a:lstStyle/>
                    <a:p>
                      <a:pPr algn="r" indent="0" marL="0">
                        <a:buNone/>
                      </a:pPr>
                      <a:r>
                        <a:rPr lang="en-US" sz="1100" b="1" dirty="0">
                          <a:solidFill>
                            <a:srgbClr val="666B68"/>
                          </a:solidFill>
                        </a:rPr>
                        <a:t>Inversión</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c>
                  <a:txBody>
                    <a:bodyPr/>
                    <a:lstStyle/>
                    <a:p>
                      <a:pPr algn="r" indent="0" marL="0">
                        <a:buNone/>
                      </a:pPr>
                      <a:r>
                        <a:rPr lang="en-US" sz="1100" b="1" dirty="0">
                          <a:solidFill>
                            <a:srgbClr val="666B68"/>
                          </a:solidFill>
                        </a:rPr>
                        <a:t>Nuevos</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c>
                  <a:txBody>
                    <a:bodyPr/>
                    <a:lstStyle/>
                    <a:p>
                      <a:pPr algn="r" indent="0" marL="0">
                        <a:buNone/>
                      </a:pPr>
                      <a:r>
                        <a:rPr lang="en-US" sz="1100" b="1" dirty="0">
                          <a:solidFill>
                            <a:srgbClr val="666B68"/>
                          </a:solidFill>
                        </a:rPr>
                        <a:t>€/cliente</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c>
                  <a:txBody>
                    <a:bodyPr/>
                    <a:lstStyle/>
                    <a:p>
                      <a:pPr algn="r" indent="0" marL="0">
                        <a:buNone/>
                      </a:pPr>
                      <a:r>
                        <a:rPr lang="en-US" sz="1100" b="1" dirty="0">
                          <a:solidFill>
                            <a:srgbClr val="666B68"/>
                          </a:solidFill>
                        </a:rPr>
                        <a:t>IEC</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r>
              <a:tr h="384048">
                <a:tc>
                  <a:txBody>
                    <a:bodyPr/>
                    <a:lstStyle/>
                    <a:p>
                      <a:pPr algn="l" indent="0" marL="0">
                        <a:buNone/>
                      </a:pPr>
                      <a:r>
                        <a:rPr lang="en-US" sz="1300" b="1" dirty="0">
                          <a:solidFill>
                            <a:srgbClr val="111513"/>
                          </a:solidFill>
                        </a:rPr>
                        <a:t>TikTok</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160 €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5</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32 €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15,5×</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384048">
                <a:tc>
                  <a:txBody>
                    <a:bodyPr/>
                    <a:lstStyle/>
                    <a:p>
                      <a:pPr algn="l" indent="0" marL="0">
                        <a:buNone/>
                      </a:pPr>
                      <a:r>
                        <a:rPr lang="en-US" sz="1300" b="1" dirty="0">
                          <a:solidFill>
                            <a:srgbClr val="111513"/>
                          </a:solidFill>
                        </a:rPr>
                        <a:t>Email</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449 €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11</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41 €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7,9×</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384048">
                <a:tc>
                  <a:txBody>
                    <a:bodyPr/>
                    <a:lstStyle/>
                    <a:p>
                      <a:pPr algn="l" indent="0" marL="0">
                        <a:buNone/>
                      </a:pPr>
                      <a:r>
                        <a:rPr lang="en-US" sz="1300" b="1" dirty="0">
                          <a:solidFill>
                            <a:srgbClr val="111513"/>
                          </a:solidFill>
                        </a:rPr>
                        <a:t>Google</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883 €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15</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59 €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4,3×</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384048">
                <a:tc>
                  <a:txBody>
                    <a:bodyPr/>
                    <a:lstStyle/>
                    <a:p>
                      <a:pPr algn="l" indent="0" marL="0">
                        <a:buNone/>
                      </a:pPr>
                      <a:r>
                        <a:rPr lang="en-US" sz="1300" b="1" dirty="0">
                          <a:solidFill>
                            <a:srgbClr val="111513"/>
                          </a:solidFill>
                        </a:rPr>
                        <a:t>Meta</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1.004 €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6</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167 €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5,0×</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384048">
                <a:tc>
                  <a:txBody>
                    <a:bodyPr/>
                    <a:lstStyle/>
                    <a:p>
                      <a:pPr algn="l" indent="0" marL="0">
                        <a:buNone/>
                      </a:pPr>
                      <a:r>
                        <a:rPr lang="en-US" sz="1300" b="1" dirty="0">
                          <a:solidFill>
                            <a:srgbClr val="C98468"/>
                          </a:solidFill>
                        </a:rPr>
                        <a:t>Instagram</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725 €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1</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725 €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0,8×</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bl>
          </a:graphicData>
        </a:graphic>
      </p:graphicFrame>
      <p:sp>
        <p:nvSpPr>
          <p:cNvPr id="10" name="texto-73"/>
          <p:cNvSpPr txBox="1"/>
          <p:nvPr/>
        </p:nvSpPr>
        <p:spPr>
          <a:xfrm>
            <a:off x="6446520" y="4709160"/>
            <a:ext cx="4937760" cy="1005840"/>
          </a:xfrm>
          <a:prstGeom prst="rect">
            <a:avLst/>
          </a:prstGeom>
          <a:noFill/>
          <a:ln/>
        </p:spPr>
        <p:txBody>
          <a:bodyPr wrap="square" lIns="0" tIns="0" rIns="0" bIns="0" rtlCol="0" anchor="t"/>
          <a:lstStyle/>
          <a:p>
            <a:pPr indent="0" marL="0">
              <a:buNone/>
            </a:pPr>
            <a:r>
              <a:rPr lang="en-US" sz="1200" dirty="0">
                <a:solidFill>
                  <a:schemeClr val="tx2"/>
                </a:solidFill>
              </a:rPr>
              <a:t>IEC = venta neta atribuida ÷ inversión. Entre el 76 % y el 93 % de esa venta es recompra: no mide captación. Unidos como en el anexo, Meta + Instagram cuestan 247 € por cliente y Email + Newsletter, 24 €.</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TikTok vendió más al mes gastando 20 veces menos</a:t>
            </a:r>
            <a:endParaRPr lang="en-US" sz="3200" dirty="0"/>
          </a:p>
        </p:txBody>
      </p:sp>
      <p:sp>
        <p:nvSpPr>
          <p:cNvPr id="4" name="tarjeta-74"/>
          <p:cNvSpPr/>
          <p:nvPr/>
        </p:nvSpPr>
        <p:spPr>
          <a:xfrm>
            <a:off x="548640" y="1645920"/>
            <a:ext cx="2651760" cy="2743200"/>
          </a:xfrm>
          <a:prstGeom prst="roundRect">
            <a:avLst>
              <a:gd name="adj" fmla="val 4828"/>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75"/>
          <p:cNvSpPr txBox="1"/>
          <p:nvPr/>
        </p:nvSpPr>
        <p:spPr>
          <a:xfrm>
            <a:off x="777240" y="1828800"/>
            <a:ext cx="2240280" cy="548640"/>
          </a:xfrm>
          <a:prstGeom prst="rect">
            <a:avLst/>
          </a:prstGeom>
          <a:noFill/>
          <a:ln/>
        </p:spPr>
        <p:txBody>
          <a:bodyPr wrap="square" lIns="0" tIns="0" rIns="0" bIns="0" rtlCol="0" anchor="t"/>
          <a:lstStyle/>
          <a:p>
            <a:pPr indent="0" marL="0">
              <a:buNone/>
            </a:pPr>
            <a:r>
              <a:rPr lang="en-US" sz="1300" b="1" dirty="0">
                <a:solidFill>
                  <a:schemeClr val="tx2"/>
                </a:solidFill>
              </a:rPr>
              <a:t>Gasto en TikTok al mes</a:t>
            </a:r>
            <a:endParaRPr lang="en-US" sz="1300" dirty="0"/>
          </a:p>
        </p:txBody>
      </p:sp>
      <p:sp>
        <p:nvSpPr>
          <p:cNvPr id="6" name="texto-76"/>
          <p:cNvSpPr txBox="1"/>
          <p:nvPr/>
        </p:nvSpPr>
        <p:spPr>
          <a:xfrm>
            <a:off x="777240" y="2468880"/>
            <a:ext cx="2194560" cy="274320"/>
          </a:xfrm>
          <a:prstGeom prst="rect">
            <a:avLst/>
          </a:prstGeom>
          <a:noFill/>
          <a:ln/>
        </p:spPr>
        <p:txBody>
          <a:bodyPr wrap="square" lIns="0" tIns="0" rIns="0" bIns="0" rtlCol="0" anchor="t"/>
          <a:lstStyle/>
          <a:p>
            <a:pPr indent="0" marL="0">
              <a:buNone/>
            </a:pPr>
            <a:r>
              <a:rPr lang="en-US" sz="1200" dirty="0">
                <a:solidFill>
                  <a:schemeClr val="tx2"/>
                </a:solidFill>
              </a:rPr>
              <a:t>ene–feb</a:t>
            </a:r>
            <a:endParaRPr lang="en-US" sz="1200" dirty="0"/>
          </a:p>
        </p:txBody>
      </p:sp>
      <p:sp>
        <p:nvSpPr>
          <p:cNvPr id="7" name="texto-77"/>
          <p:cNvSpPr txBox="1"/>
          <p:nvPr/>
        </p:nvSpPr>
        <p:spPr>
          <a:xfrm>
            <a:off x="777240" y="2697480"/>
            <a:ext cx="2194560" cy="548640"/>
          </a:xfrm>
          <a:prstGeom prst="rect">
            <a:avLst/>
          </a:prstGeom>
          <a:noFill/>
          <a:ln/>
        </p:spPr>
        <p:txBody>
          <a:bodyPr wrap="square" lIns="0" tIns="0" rIns="0" bIns="0" rtlCol="0" anchor="t"/>
          <a:lstStyle/>
          <a:p>
            <a:pPr indent="0" marL="0">
              <a:buNone/>
            </a:pPr>
            <a:r>
              <a:rPr lang="en-US" sz="2800" dirty="0">
                <a:solidFill>
                  <a:schemeClr val="tx1"/>
                </a:solidFill>
              </a:rPr>
              <a:t>788 €</a:t>
            </a:r>
            <a:endParaRPr lang="en-US" sz="2800" dirty="0"/>
          </a:p>
        </p:txBody>
      </p:sp>
      <p:sp>
        <p:nvSpPr>
          <p:cNvPr id="8" name="texto-78"/>
          <p:cNvSpPr txBox="1"/>
          <p:nvPr/>
        </p:nvSpPr>
        <p:spPr>
          <a:xfrm>
            <a:off x="777240" y="3337560"/>
            <a:ext cx="2194560" cy="274320"/>
          </a:xfrm>
          <a:prstGeom prst="rect">
            <a:avLst/>
          </a:prstGeom>
          <a:noFill/>
          <a:ln/>
        </p:spPr>
        <p:txBody>
          <a:bodyPr wrap="square" lIns="0" tIns="0" rIns="0" bIns="0" rtlCol="0" anchor="t"/>
          <a:lstStyle/>
          <a:p>
            <a:pPr indent="0" marL="0">
              <a:buNone/>
            </a:pPr>
            <a:r>
              <a:rPr lang="en-US" sz="1200" dirty="0">
                <a:solidFill>
                  <a:schemeClr val="tx2"/>
                </a:solidFill>
              </a:rPr>
              <a:t>mar–jun</a:t>
            </a:r>
            <a:endParaRPr lang="en-US" sz="1200" dirty="0"/>
          </a:p>
        </p:txBody>
      </p:sp>
      <p:sp>
        <p:nvSpPr>
          <p:cNvPr id="9" name="texto-79"/>
          <p:cNvSpPr txBox="1"/>
          <p:nvPr/>
        </p:nvSpPr>
        <p:spPr>
          <a:xfrm>
            <a:off x="777240" y="3566160"/>
            <a:ext cx="2194560" cy="548640"/>
          </a:xfrm>
          <a:prstGeom prst="rect">
            <a:avLst/>
          </a:prstGeom>
          <a:noFill/>
          <a:ln/>
        </p:spPr>
        <p:txBody>
          <a:bodyPr wrap="square" lIns="0" tIns="0" rIns="0" bIns="0" rtlCol="0" anchor="t"/>
          <a:lstStyle/>
          <a:p>
            <a:pPr indent="0" marL="0">
              <a:buNone/>
            </a:pPr>
            <a:r>
              <a:rPr lang="en-US" sz="2800" b="1" dirty="0">
                <a:solidFill>
                  <a:srgbClr val="C98468"/>
                </a:solidFill>
              </a:rPr>
              <a:t>40 €</a:t>
            </a:r>
            <a:endParaRPr lang="en-US" sz="2800" dirty="0"/>
          </a:p>
        </p:txBody>
      </p:sp>
      <p:sp>
        <p:nvSpPr>
          <p:cNvPr id="10" name="tarjeta-80"/>
          <p:cNvSpPr/>
          <p:nvPr/>
        </p:nvSpPr>
        <p:spPr>
          <a:xfrm>
            <a:off x="3364992" y="1645920"/>
            <a:ext cx="2651760" cy="2743200"/>
          </a:xfrm>
          <a:prstGeom prst="roundRect">
            <a:avLst>
              <a:gd name="adj" fmla="val 4828"/>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81"/>
          <p:cNvSpPr txBox="1"/>
          <p:nvPr/>
        </p:nvSpPr>
        <p:spPr>
          <a:xfrm>
            <a:off x="3593592" y="1828800"/>
            <a:ext cx="2240280" cy="548640"/>
          </a:xfrm>
          <a:prstGeom prst="rect">
            <a:avLst/>
          </a:prstGeom>
          <a:noFill/>
          <a:ln/>
        </p:spPr>
        <p:txBody>
          <a:bodyPr wrap="square" lIns="0" tIns="0" rIns="0" bIns="0" rtlCol="0" anchor="t"/>
          <a:lstStyle/>
          <a:p>
            <a:pPr indent="0" marL="0">
              <a:buNone/>
            </a:pPr>
            <a:r>
              <a:rPr lang="en-US" sz="1300" b="1" dirty="0">
                <a:solidFill>
                  <a:schemeClr val="tx2"/>
                </a:solidFill>
              </a:rPr>
              <a:t>Venta neta de TikTok al mes</a:t>
            </a:r>
            <a:endParaRPr lang="en-US" sz="1300" dirty="0"/>
          </a:p>
        </p:txBody>
      </p:sp>
      <p:sp>
        <p:nvSpPr>
          <p:cNvPr id="12" name="texto-82"/>
          <p:cNvSpPr txBox="1"/>
          <p:nvPr/>
        </p:nvSpPr>
        <p:spPr>
          <a:xfrm>
            <a:off x="3593592" y="2468880"/>
            <a:ext cx="2194560" cy="274320"/>
          </a:xfrm>
          <a:prstGeom prst="rect">
            <a:avLst/>
          </a:prstGeom>
          <a:noFill/>
          <a:ln/>
        </p:spPr>
        <p:txBody>
          <a:bodyPr wrap="square" lIns="0" tIns="0" rIns="0" bIns="0" rtlCol="0" anchor="t"/>
          <a:lstStyle/>
          <a:p>
            <a:pPr indent="0" marL="0">
              <a:buNone/>
            </a:pPr>
            <a:r>
              <a:rPr lang="en-US" sz="1200" dirty="0">
                <a:solidFill>
                  <a:schemeClr val="tx2"/>
                </a:solidFill>
              </a:rPr>
              <a:t>ene–feb</a:t>
            </a:r>
            <a:endParaRPr lang="en-US" sz="1200" dirty="0"/>
          </a:p>
        </p:txBody>
      </p:sp>
      <p:sp>
        <p:nvSpPr>
          <p:cNvPr id="13" name="texto-83"/>
          <p:cNvSpPr txBox="1"/>
          <p:nvPr/>
        </p:nvSpPr>
        <p:spPr>
          <a:xfrm>
            <a:off x="3593592" y="2697480"/>
            <a:ext cx="2194560" cy="548640"/>
          </a:xfrm>
          <a:prstGeom prst="rect">
            <a:avLst/>
          </a:prstGeom>
          <a:noFill/>
          <a:ln/>
        </p:spPr>
        <p:txBody>
          <a:bodyPr wrap="square" lIns="0" tIns="0" rIns="0" bIns="0" rtlCol="0" anchor="t"/>
          <a:lstStyle/>
          <a:p>
            <a:pPr indent="0" marL="0">
              <a:buNone/>
            </a:pPr>
            <a:r>
              <a:rPr lang="en-US" sz="2800" dirty="0">
                <a:solidFill>
                  <a:schemeClr val="tx1"/>
                </a:solidFill>
              </a:rPr>
              <a:t>527 €</a:t>
            </a:r>
            <a:endParaRPr lang="en-US" sz="2800" dirty="0"/>
          </a:p>
        </p:txBody>
      </p:sp>
      <p:sp>
        <p:nvSpPr>
          <p:cNvPr id="14" name="texto-84"/>
          <p:cNvSpPr txBox="1"/>
          <p:nvPr/>
        </p:nvSpPr>
        <p:spPr>
          <a:xfrm>
            <a:off x="3593592" y="3337560"/>
            <a:ext cx="2194560" cy="274320"/>
          </a:xfrm>
          <a:prstGeom prst="rect">
            <a:avLst/>
          </a:prstGeom>
          <a:noFill/>
          <a:ln/>
        </p:spPr>
        <p:txBody>
          <a:bodyPr wrap="square" lIns="0" tIns="0" rIns="0" bIns="0" rtlCol="0" anchor="t"/>
          <a:lstStyle/>
          <a:p>
            <a:pPr indent="0" marL="0">
              <a:buNone/>
            </a:pPr>
            <a:r>
              <a:rPr lang="en-US" sz="1200" dirty="0">
                <a:solidFill>
                  <a:schemeClr val="tx2"/>
                </a:solidFill>
              </a:rPr>
              <a:t>mar–jun</a:t>
            </a:r>
            <a:endParaRPr lang="en-US" sz="1200" dirty="0"/>
          </a:p>
        </p:txBody>
      </p:sp>
      <p:sp>
        <p:nvSpPr>
          <p:cNvPr id="15" name="texto-85"/>
          <p:cNvSpPr txBox="1"/>
          <p:nvPr/>
        </p:nvSpPr>
        <p:spPr>
          <a:xfrm>
            <a:off x="3593592" y="3566160"/>
            <a:ext cx="2194560" cy="548640"/>
          </a:xfrm>
          <a:prstGeom prst="rect">
            <a:avLst/>
          </a:prstGeom>
          <a:noFill/>
          <a:ln/>
        </p:spPr>
        <p:txBody>
          <a:bodyPr wrap="square" lIns="0" tIns="0" rIns="0" bIns="0" rtlCol="0" anchor="t"/>
          <a:lstStyle/>
          <a:p>
            <a:pPr indent="0" marL="0">
              <a:buNone/>
            </a:pPr>
            <a:r>
              <a:rPr lang="en-US" sz="2800" b="1" dirty="0">
                <a:solidFill>
                  <a:srgbClr val="5B9A7B"/>
                </a:solidFill>
              </a:rPr>
              <a:t>621 €</a:t>
            </a:r>
            <a:endParaRPr lang="en-US" sz="2800" dirty="0"/>
          </a:p>
        </p:txBody>
      </p:sp>
      <p:sp>
        <p:nvSpPr>
          <p:cNvPr id="16" name="tarjeta-86"/>
          <p:cNvSpPr/>
          <p:nvPr/>
        </p:nvSpPr>
        <p:spPr>
          <a:xfrm>
            <a:off x="6181344" y="1645920"/>
            <a:ext cx="2651760" cy="2743200"/>
          </a:xfrm>
          <a:prstGeom prst="roundRect">
            <a:avLst>
              <a:gd name="adj" fmla="val 4828"/>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7" name="texto-87"/>
          <p:cNvSpPr txBox="1"/>
          <p:nvPr/>
        </p:nvSpPr>
        <p:spPr>
          <a:xfrm>
            <a:off x="6409944" y="1828800"/>
            <a:ext cx="2240280" cy="548640"/>
          </a:xfrm>
          <a:prstGeom prst="rect">
            <a:avLst/>
          </a:prstGeom>
          <a:noFill/>
          <a:ln/>
        </p:spPr>
        <p:txBody>
          <a:bodyPr wrap="square" lIns="0" tIns="0" rIns="0" bIns="0" rtlCol="0" anchor="t"/>
          <a:lstStyle/>
          <a:p>
            <a:pPr indent="0" marL="0">
              <a:buNone/>
            </a:pPr>
            <a:r>
              <a:rPr lang="en-US" sz="1300" b="1" dirty="0">
                <a:solidFill>
                  <a:schemeClr val="tx2"/>
                </a:solidFill>
              </a:rPr>
              <a:t>Gasto total en marketing al mes</a:t>
            </a:r>
            <a:endParaRPr lang="en-US" sz="1300" dirty="0"/>
          </a:p>
        </p:txBody>
      </p:sp>
      <p:sp>
        <p:nvSpPr>
          <p:cNvPr id="18" name="texto-88"/>
          <p:cNvSpPr txBox="1"/>
          <p:nvPr/>
        </p:nvSpPr>
        <p:spPr>
          <a:xfrm>
            <a:off x="6409944" y="2468880"/>
            <a:ext cx="2194560" cy="274320"/>
          </a:xfrm>
          <a:prstGeom prst="rect">
            <a:avLst/>
          </a:prstGeom>
          <a:noFill/>
          <a:ln/>
        </p:spPr>
        <p:txBody>
          <a:bodyPr wrap="square" lIns="0" tIns="0" rIns="0" bIns="0" rtlCol="0" anchor="t"/>
          <a:lstStyle/>
          <a:p>
            <a:pPr indent="0" marL="0">
              <a:buNone/>
            </a:pPr>
            <a:r>
              <a:rPr lang="en-US" sz="1200" dirty="0">
                <a:solidFill>
                  <a:schemeClr val="tx2"/>
                </a:solidFill>
              </a:rPr>
              <a:t>ene–feb</a:t>
            </a:r>
            <a:endParaRPr lang="en-US" sz="1200" dirty="0"/>
          </a:p>
        </p:txBody>
      </p:sp>
      <p:sp>
        <p:nvSpPr>
          <p:cNvPr id="19" name="texto-89"/>
          <p:cNvSpPr txBox="1"/>
          <p:nvPr/>
        </p:nvSpPr>
        <p:spPr>
          <a:xfrm>
            <a:off x="6409944" y="2697480"/>
            <a:ext cx="2194560" cy="548640"/>
          </a:xfrm>
          <a:prstGeom prst="rect">
            <a:avLst/>
          </a:prstGeom>
          <a:noFill/>
          <a:ln/>
        </p:spPr>
        <p:txBody>
          <a:bodyPr wrap="square" lIns="0" tIns="0" rIns="0" bIns="0" rtlCol="0" anchor="t"/>
          <a:lstStyle/>
          <a:p>
            <a:pPr indent="0" marL="0">
              <a:buNone/>
            </a:pPr>
            <a:r>
              <a:rPr lang="en-US" sz="2800" dirty="0">
                <a:solidFill>
                  <a:schemeClr val="tx1"/>
                </a:solidFill>
              </a:rPr>
              <a:t>1.511 €</a:t>
            </a:r>
            <a:endParaRPr lang="en-US" sz="2800" dirty="0"/>
          </a:p>
        </p:txBody>
      </p:sp>
      <p:sp>
        <p:nvSpPr>
          <p:cNvPr id="20" name="texto-90"/>
          <p:cNvSpPr txBox="1"/>
          <p:nvPr/>
        </p:nvSpPr>
        <p:spPr>
          <a:xfrm>
            <a:off x="6409944" y="3337560"/>
            <a:ext cx="2194560" cy="274320"/>
          </a:xfrm>
          <a:prstGeom prst="rect">
            <a:avLst/>
          </a:prstGeom>
          <a:noFill/>
          <a:ln/>
        </p:spPr>
        <p:txBody>
          <a:bodyPr wrap="square" lIns="0" tIns="0" rIns="0" bIns="0" rtlCol="0" anchor="t"/>
          <a:lstStyle/>
          <a:p>
            <a:pPr indent="0" marL="0">
              <a:buNone/>
            </a:pPr>
            <a:r>
              <a:rPr lang="en-US" sz="1200" dirty="0">
                <a:solidFill>
                  <a:schemeClr val="tx2"/>
                </a:solidFill>
              </a:rPr>
              <a:t>mar–jun</a:t>
            </a:r>
            <a:endParaRPr lang="en-US" sz="1200" dirty="0"/>
          </a:p>
        </p:txBody>
      </p:sp>
      <p:sp>
        <p:nvSpPr>
          <p:cNvPr id="21" name="texto-91"/>
          <p:cNvSpPr txBox="1"/>
          <p:nvPr/>
        </p:nvSpPr>
        <p:spPr>
          <a:xfrm>
            <a:off x="6409944" y="3566160"/>
            <a:ext cx="2194560" cy="548640"/>
          </a:xfrm>
          <a:prstGeom prst="rect">
            <a:avLst/>
          </a:prstGeom>
          <a:noFill/>
          <a:ln/>
        </p:spPr>
        <p:txBody>
          <a:bodyPr wrap="square" lIns="0" tIns="0" rIns="0" bIns="0" rtlCol="0" anchor="t"/>
          <a:lstStyle/>
          <a:p>
            <a:pPr indent="0" marL="0">
              <a:buNone/>
            </a:pPr>
            <a:r>
              <a:rPr lang="en-US" sz="2800" b="1" dirty="0">
                <a:solidFill>
                  <a:srgbClr val="C98468"/>
                </a:solidFill>
              </a:rPr>
              <a:t>805 €</a:t>
            </a:r>
            <a:endParaRPr lang="en-US" sz="2800" dirty="0"/>
          </a:p>
        </p:txBody>
      </p:sp>
      <p:sp>
        <p:nvSpPr>
          <p:cNvPr id="22" name="tarjeta-92"/>
          <p:cNvSpPr/>
          <p:nvPr/>
        </p:nvSpPr>
        <p:spPr>
          <a:xfrm>
            <a:off x="8997696" y="1645920"/>
            <a:ext cx="2651760" cy="2743200"/>
          </a:xfrm>
          <a:prstGeom prst="roundRect">
            <a:avLst>
              <a:gd name="adj" fmla="val 4828"/>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3" name="texto-93"/>
          <p:cNvSpPr txBox="1"/>
          <p:nvPr/>
        </p:nvSpPr>
        <p:spPr>
          <a:xfrm>
            <a:off x="9226296" y="1828800"/>
            <a:ext cx="2240280" cy="548640"/>
          </a:xfrm>
          <a:prstGeom prst="rect">
            <a:avLst/>
          </a:prstGeom>
          <a:noFill/>
          <a:ln/>
        </p:spPr>
        <p:txBody>
          <a:bodyPr wrap="square" lIns="0" tIns="0" rIns="0" bIns="0" rtlCol="0" anchor="t"/>
          <a:lstStyle/>
          <a:p>
            <a:pPr indent="0" marL="0">
              <a:buNone/>
            </a:pPr>
            <a:r>
              <a:rPr lang="en-US" sz="1300" b="1" dirty="0">
                <a:solidFill>
                  <a:schemeClr val="tx2"/>
                </a:solidFill>
              </a:rPr>
              <a:t>Venta neta total al mes</a:t>
            </a:r>
            <a:endParaRPr lang="en-US" sz="1300" dirty="0"/>
          </a:p>
        </p:txBody>
      </p:sp>
      <p:sp>
        <p:nvSpPr>
          <p:cNvPr id="24" name="texto-94"/>
          <p:cNvSpPr txBox="1"/>
          <p:nvPr/>
        </p:nvSpPr>
        <p:spPr>
          <a:xfrm>
            <a:off x="9226296" y="2468880"/>
            <a:ext cx="2194560" cy="274320"/>
          </a:xfrm>
          <a:prstGeom prst="rect">
            <a:avLst/>
          </a:prstGeom>
          <a:noFill/>
          <a:ln/>
        </p:spPr>
        <p:txBody>
          <a:bodyPr wrap="square" lIns="0" tIns="0" rIns="0" bIns="0" rtlCol="0" anchor="t"/>
          <a:lstStyle/>
          <a:p>
            <a:pPr indent="0" marL="0">
              <a:buNone/>
            </a:pPr>
            <a:r>
              <a:rPr lang="en-US" sz="1200" dirty="0">
                <a:solidFill>
                  <a:schemeClr val="tx2"/>
                </a:solidFill>
              </a:rPr>
              <a:t>ene–feb</a:t>
            </a:r>
            <a:endParaRPr lang="en-US" sz="1200" dirty="0"/>
          </a:p>
        </p:txBody>
      </p:sp>
      <p:sp>
        <p:nvSpPr>
          <p:cNvPr id="25" name="texto-95"/>
          <p:cNvSpPr txBox="1"/>
          <p:nvPr/>
        </p:nvSpPr>
        <p:spPr>
          <a:xfrm>
            <a:off x="9226296" y="2697480"/>
            <a:ext cx="2194560" cy="548640"/>
          </a:xfrm>
          <a:prstGeom prst="rect">
            <a:avLst/>
          </a:prstGeom>
          <a:noFill/>
          <a:ln/>
        </p:spPr>
        <p:txBody>
          <a:bodyPr wrap="square" lIns="0" tIns="0" rIns="0" bIns="0" rtlCol="0" anchor="t"/>
          <a:lstStyle/>
          <a:p>
            <a:pPr indent="0" marL="0">
              <a:buNone/>
            </a:pPr>
            <a:r>
              <a:rPr lang="en-US" sz="2800" dirty="0">
                <a:solidFill>
                  <a:schemeClr val="tx1"/>
                </a:solidFill>
              </a:rPr>
              <a:t>5.903 €</a:t>
            </a:r>
            <a:endParaRPr lang="en-US" sz="2800" dirty="0"/>
          </a:p>
        </p:txBody>
      </p:sp>
      <p:sp>
        <p:nvSpPr>
          <p:cNvPr id="26" name="texto-96"/>
          <p:cNvSpPr txBox="1"/>
          <p:nvPr/>
        </p:nvSpPr>
        <p:spPr>
          <a:xfrm>
            <a:off x="9226296" y="3337560"/>
            <a:ext cx="2194560" cy="274320"/>
          </a:xfrm>
          <a:prstGeom prst="rect">
            <a:avLst/>
          </a:prstGeom>
          <a:noFill/>
          <a:ln/>
        </p:spPr>
        <p:txBody>
          <a:bodyPr wrap="square" lIns="0" tIns="0" rIns="0" bIns="0" rtlCol="0" anchor="t"/>
          <a:lstStyle/>
          <a:p>
            <a:pPr indent="0" marL="0">
              <a:buNone/>
            </a:pPr>
            <a:r>
              <a:rPr lang="en-US" sz="1200" dirty="0">
                <a:solidFill>
                  <a:schemeClr val="tx2"/>
                </a:solidFill>
              </a:rPr>
              <a:t>mar–jun</a:t>
            </a:r>
            <a:endParaRPr lang="en-US" sz="1200" dirty="0"/>
          </a:p>
        </p:txBody>
      </p:sp>
      <p:sp>
        <p:nvSpPr>
          <p:cNvPr id="27" name="texto-97"/>
          <p:cNvSpPr txBox="1"/>
          <p:nvPr/>
        </p:nvSpPr>
        <p:spPr>
          <a:xfrm>
            <a:off x="9226296" y="3566160"/>
            <a:ext cx="2194560" cy="548640"/>
          </a:xfrm>
          <a:prstGeom prst="rect">
            <a:avLst/>
          </a:prstGeom>
          <a:noFill/>
          <a:ln/>
        </p:spPr>
        <p:txBody>
          <a:bodyPr wrap="square" lIns="0" tIns="0" rIns="0" bIns="0" rtlCol="0" anchor="t"/>
          <a:lstStyle/>
          <a:p>
            <a:pPr indent="0" marL="0">
              <a:buNone/>
            </a:pPr>
            <a:r>
              <a:rPr lang="en-US" sz="2800" b="1" dirty="0">
                <a:solidFill>
                  <a:srgbClr val="5B9A7B"/>
                </a:solidFill>
              </a:rPr>
              <a:t>6.681 €</a:t>
            </a:r>
            <a:endParaRPr lang="en-US" sz="2800" dirty="0"/>
          </a:p>
        </p:txBody>
      </p:sp>
      <p:sp>
        <p:nvSpPr>
          <p:cNvPr id="28" name="tarjeta-98"/>
          <p:cNvSpPr/>
          <p:nvPr/>
        </p:nvSpPr>
        <p:spPr>
          <a:xfrm>
            <a:off x="548640" y="4617720"/>
            <a:ext cx="11091672" cy="1463040"/>
          </a:xfrm>
          <a:prstGeom prst="roundRect">
            <a:avLst>
              <a:gd name="adj" fmla="val 8750"/>
            </a:avLst>
          </a:prstGeom>
          <a:solidFill>
            <a:srgbClr val="111513">
              <a:alpha val="88000"/>
            </a:srgbClr>
          </a:solidFill>
          <a:ln w="9525">
            <a:solidFill>
              <a:srgbClr val="2C302E"/>
            </a:solidFill>
            <a:prstDash val="solid"/>
          </a:ln>
          <a:effectLst>
            <a:outerShdw sx="100000" sy="100000" kx="0" ky="0" algn="bl" rotWithShape="0" blurRad="177800" dist="38100" dir="5400000">
              <a:srgbClr val="1B2A22">
                <a:alpha val="10000"/>
              </a:srgbClr>
            </a:outerShdw>
          </a:effectLst>
        </p:spPr>
      </p:sp>
      <p:sp>
        <p:nvSpPr>
          <p:cNvPr id="29" name="texto-99"/>
          <p:cNvSpPr txBox="1"/>
          <p:nvPr/>
        </p:nvSpPr>
        <p:spPr>
          <a:xfrm>
            <a:off x="822960" y="4800600"/>
            <a:ext cx="10515600" cy="1097280"/>
          </a:xfrm>
          <a:prstGeom prst="rect">
            <a:avLst/>
          </a:prstGeom>
          <a:noFill/>
          <a:ln/>
        </p:spPr>
        <p:txBody>
          <a:bodyPr wrap="square" lIns="0" tIns="0" rIns="0" bIns="0" rtlCol="0" anchor="ctr"/>
          <a:lstStyle/>
          <a:p>
            <a:pPr indent="0" marL="0">
              <a:buNone/>
            </a:pPr>
            <a:r>
              <a:rPr lang="en-US" sz="1600" dirty="0">
                <a:solidFill>
                  <a:schemeClr val="bg1"/>
                </a:solidFill>
              </a:rPr>
              <a:t>El gasto de enero–febrero no compraba ventas. No volver a ese nivel, que serían unos 4.700 € en H2. Si se sube, por tramos: 120 €/mes durante 8 semanas, y mantenerlo solo si el cliente nuevo cuesta menos de 59 € (el coste de Google).</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Desde que existe, Deporte es el 7,1 % de la venta, pero vende menos por referencia</a:t>
            </a:r>
            <a:endParaRPr lang="en-US" sz="3200" dirty="0"/>
          </a:p>
        </p:txBody>
      </p:sp>
      <p:sp>
        <p:nvSpPr>
          <p:cNvPr id="4" name="tarjeta-100"/>
          <p:cNvSpPr/>
          <p:nvPr/>
        </p:nvSpPr>
        <p:spPr>
          <a:xfrm>
            <a:off x="548640" y="1645920"/>
            <a:ext cx="6309360"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101"/>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400" b="1" dirty="0">
                <a:solidFill>
                  <a:schemeClr val="tx1"/>
                </a:solidFill>
              </a:rPr>
              <a:t>Venta por categoría, mayo–junio (€)</a:t>
            </a:r>
            <a:endParaRPr lang="en-US" sz="1400" dirty="0"/>
          </a:p>
        </p:txBody>
      </p:sp>
      <p:graphicFrame>
        <p:nvGraphicFramePr>
          <p:cNvPr id="6" name="Chart 0" descr=""/>
          <p:cNvGraphicFramePr/>
          <p:nvPr/>
        </p:nvGraphicFramePr>
        <p:xfrm>
          <a:off x="731520" y="2194560"/>
          <a:ext cx="5943600" cy="3566160"/>
        </p:xfrm>
        <a:graphic xmlns:a="http://schemas.openxmlformats.org/drawingml/2006/main">
          <a:graphicData uri="http://schemas.openxmlformats.org/drawingml/2006/chart">
            <c:chart xmlns:c="http://schemas.openxmlformats.org/drawingml/2006/chart" r:id="rId1"/>
          </a:graphicData>
        </a:graphic>
      </p:graphicFrame>
      <p:sp>
        <p:nvSpPr>
          <p:cNvPr id="7" name="tarjeta-102"/>
          <p:cNvSpPr/>
          <p:nvPr/>
        </p:nvSpPr>
        <p:spPr>
          <a:xfrm>
            <a:off x="7086600" y="1645920"/>
            <a:ext cx="4553712" cy="2011680"/>
          </a:xfrm>
          <a:prstGeom prst="roundRect">
            <a:avLst>
              <a:gd name="adj" fmla="val 6364"/>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8" name="texto-103"/>
          <p:cNvSpPr txBox="1"/>
          <p:nvPr/>
        </p:nvSpPr>
        <p:spPr>
          <a:xfrm>
            <a:off x="7360920" y="1828800"/>
            <a:ext cx="4023360" cy="640080"/>
          </a:xfrm>
          <a:prstGeom prst="rect">
            <a:avLst/>
          </a:prstGeom>
          <a:noFill/>
          <a:ln/>
        </p:spPr>
        <p:txBody>
          <a:bodyPr wrap="square" lIns="0" tIns="0" rIns="0" bIns="0" rtlCol="0" anchor="t"/>
          <a:lstStyle/>
          <a:p>
            <a:pPr indent="0" marL="0">
              <a:buNone/>
            </a:pPr>
            <a:r>
              <a:rPr lang="en-US" sz="3000" dirty="0">
                <a:solidFill>
                  <a:schemeClr val="tx1"/>
                </a:solidFill>
              </a:rPr>
              <a:t>472 € vs 594–709 €</a:t>
            </a:r>
            <a:endParaRPr lang="en-US" sz="3000" dirty="0"/>
          </a:p>
        </p:txBody>
      </p:sp>
      <p:sp>
        <p:nvSpPr>
          <p:cNvPr id="9" name="texto-104"/>
          <p:cNvSpPr txBox="1"/>
          <p:nvPr/>
        </p:nvSpPr>
        <p:spPr>
          <a:xfrm>
            <a:off x="7360920" y="2468880"/>
            <a:ext cx="4023360" cy="731520"/>
          </a:xfrm>
          <a:prstGeom prst="rect">
            <a:avLst/>
          </a:prstGeom>
          <a:noFill/>
          <a:ln/>
        </p:spPr>
        <p:txBody>
          <a:bodyPr wrap="square" lIns="0" tIns="0" rIns="0" bIns="0" rtlCol="0" anchor="t"/>
          <a:lstStyle/>
          <a:p>
            <a:pPr indent="0" marL="0">
              <a:buNone/>
            </a:pPr>
            <a:r>
              <a:rPr lang="en-US" sz="1300" dirty="0">
                <a:solidFill>
                  <a:schemeClr val="tx2"/>
                </a:solidFill>
              </a:rPr>
              <a:t>venta por referencia en mayo–junio: Deporte frente al resto de categorías</a:t>
            </a:r>
            <a:endParaRPr lang="en-US" sz="1300" dirty="0"/>
          </a:p>
        </p:txBody>
      </p:sp>
      <p:sp>
        <p:nvSpPr>
          <p:cNvPr id="10" name="tarjeta-105"/>
          <p:cNvSpPr/>
          <p:nvPr/>
        </p:nvSpPr>
        <p:spPr>
          <a:xfrm>
            <a:off x="7086600" y="3840480"/>
            <a:ext cx="4553712" cy="2011680"/>
          </a:xfrm>
          <a:prstGeom prst="roundRect">
            <a:avLst>
              <a:gd name="adj" fmla="val 6364"/>
            </a:avLst>
          </a:prstGeom>
          <a:solidFill>
            <a:srgbClr val="F3E3DB">
              <a:alpha val="80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106"/>
          <p:cNvSpPr txBox="1"/>
          <p:nvPr/>
        </p:nvSpPr>
        <p:spPr>
          <a:xfrm>
            <a:off x="7360920" y="4023360"/>
            <a:ext cx="4023360" cy="1645920"/>
          </a:xfrm>
          <a:prstGeom prst="rect">
            <a:avLst/>
          </a:prstGeom>
          <a:noFill/>
          <a:ln/>
        </p:spPr>
        <p:txBody>
          <a:bodyPr wrap="square" lIns="0" tIns="0" rIns="0" bIns="0" rtlCol="0" anchor="t"/>
          <a:lstStyle/>
          <a:p>
            <a:pPr indent="0" marL="0">
              <a:buNone/>
            </a:pPr>
            <a:r>
              <a:rPr lang="en-US" sz="1400" dirty="0">
                <a:solidFill>
                  <a:schemeClr val="tx1"/>
                </a:solidFill>
              </a:rPr>
              <a:t>Ojo: Deporte existe desde el 1 de mayo, no desde enero como dice el enunciado. Con el semestre entero parecería residual (2,2 %). Propuesta: apuesta acotada, manteniendo cada referencia solo si alcanza 594 € cada dos meses, como Accesorios.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La nota no anticipa la devolución, y los códigos no rebajan nada</a:t>
            </a:r>
            <a:endParaRPr lang="en-US" sz="3200" dirty="0"/>
          </a:p>
        </p:txBody>
      </p:sp>
      <p:sp>
        <p:nvSpPr>
          <p:cNvPr id="4" name="tarjeta-107"/>
          <p:cNvSpPr/>
          <p:nvPr/>
        </p:nvSpPr>
        <p:spPr>
          <a:xfrm>
            <a:off x="548640" y="1645920"/>
            <a:ext cx="6309360"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108"/>
          <p:cNvSpPr txBox="1"/>
          <p:nvPr/>
        </p:nvSpPr>
        <p:spPr>
          <a:xfrm>
            <a:off x="822960" y="1828800"/>
            <a:ext cx="5852160" cy="320040"/>
          </a:xfrm>
          <a:prstGeom prst="rect">
            <a:avLst/>
          </a:prstGeom>
          <a:noFill/>
          <a:ln/>
        </p:spPr>
        <p:txBody>
          <a:bodyPr wrap="square" lIns="0" tIns="0" rIns="0" bIns="0" rtlCol="0" anchor="t"/>
          <a:lstStyle/>
          <a:p>
            <a:pPr indent="0" marL="0">
              <a:buNone/>
            </a:pPr>
            <a:r>
              <a:rPr lang="en-US" sz="1400" b="1" dirty="0">
                <a:solidFill>
                  <a:schemeClr val="tx1"/>
                </a:solidFill>
              </a:rPr>
              <a:t>Valoración frente a devolución (productos con 10+ reseñas, H1)</a:t>
            </a:r>
            <a:endParaRPr lang="en-US" sz="1400" dirty="0"/>
          </a:p>
        </p:txBody>
      </p:sp>
      <p:graphicFrame>
        <p:nvGraphicFramePr>
          <p:cNvPr id="11" name="tabla-nota-devolucion"/>
          <p:cNvGraphicFramePr>
            <a:graphicFrameLocks noGrp="1"/>
          </p:cNvGraphicFramePr>
          <p:nvPr>
            <p:extLst>
              <p:ext uri="{D42A27DB-BD31-4B8C-83A1-F6EECF244321}">
                <p14:modId xmlns:p14="http://schemas.microsoft.com/office/powerpoint/2010/main" val="1579011935"/>
              </p:ext>
            </p:extLst>
          </p:nvPr>
        </p:nvGraphicFramePr>
        <p:xfrm>
          <a:off x="822960" y="2286000"/>
          <a:ext cx="5760720" cy="914400"/>
        </p:xfrm>
        <a:graphic>
          <a:graphicData uri="http://schemas.openxmlformats.org/drawingml/2006/table">
            <a:tbl>
              <a:tblPr/>
              <a:tblGrid>
                <a:gridCol w="3017520"/>
                <a:gridCol w="1280160"/>
                <a:gridCol w="1463040"/>
              </a:tblGrid>
              <a:tr h="438912">
                <a:tc>
                  <a:txBody>
                    <a:bodyPr/>
                    <a:lstStyle/>
                    <a:p>
                      <a:pPr algn="l" indent="0" marL="0">
                        <a:buNone/>
                      </a:pPr>
                      <a:r>
                        <a:rPr lang="en-US" sz="1100" b="1" dirty="0">
                          <a:solidFill>
                            <a:srgbClr val="666B68"/>
                          </a:solidFill>
                        </a:rPr>
                        <a:t>Producto</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c>
                  <a:txBody>
                    <a:bodyPr/>
                    <a:lstStyle/>
                    <a:p>
                      <a:pPr algn="r" indent="0" marL="0">
                        <a:buNone/>
                      </a:pPr>
                      <a:r>
                        <a:rPr lang="en-US" sz="1100" b="1" dirty="0">
                          <a:solidFill>
                            <a:srgbClr val="666B68"/>
                          </a:solidFill>
                        </a:rPr>
                        <a:t>Nota</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c>
                  <a:txBody>
                    <a:bodyPr/>
                    <a:lstStyle/>
                    <a:p>
                      <a:pPr algn="r" indent="0" marL="0">
                        <a:buNone/>
                      </a:pPr>
                      <a:r>
                        <a:rPr lang="en-US" sz="1100" b="1" dirty="0">
                          <a:solidFill>
                            <a:srgbClr val="666B68"/>
                          </a:solidFill>
                        </a:rPr>
                        <a:t>Devolución</a:t>
                      </a:r>
                      <a:endParaRPr lang="en-US" sz="1100" dirty="0"/>
                    </a:p>
                  </a:txBody>
                  <a:tcPr marL="73152" marR="73152" marT="36576" marB="36576">
                    <a:lnL w="0" cap="flat" cmpd="sng" algn="ctr">
                      <a:noFill/>
                    </a:lnL>
                    <a:lnR w="0" cap="flat" cmpd="sng" algn="ctr">
                      <a:noFill/>
                    </a:lnR>
                    <a:lnT w="0" cap="flat" cmpd="sng" algn="ctr">
                      <a:noFill/>
                    </a:lnT>
                    <a:lnB w="12700" cap="flat" cmpd="sng" algn="ctr">
                      <a:solidFill>
                        <a:srgbClr val="D5D8D6"/>
                      </a:solidFill>
                      <a:prstDash val="solid"/>
                      <a:round/>
                      <a:headEnd type="none" w="med" len="med"/>
                      <a:tailEnd type="none" w="med" len="med"/>
                    </a:lnB>
                  </a:tcPr>
                </a:tc>
              </a:tr>
              <a:tr h="438912">
                <a:tc>
                  <a:txBody>
                    <a:bodyPr/>
                    <a:lstStyle/>
                    <a:p>
                      <a:pPr algn="l" indent="0" marL="0">
                        <a:buNone/>
                      </a:pPr>
                      <a:r>
                        <a:rPr lang="en-US" sz="1300" b="1" dirty="0">
                          <a:solidFill>
                            <a:srgbClr val="C98468"/>
                          </a:solidFill>
                        </a:rPr>
                        <a:t>Pantalón Cargo</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5,0</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14,3 %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438912">
                <a:tc>
                  <a:txBody>
                    <a:bodyPr/>
                    <a:lstStyle/>
                    <a:p>
                      <a:pPr algn="l" indent="0" marL="0">
                        <a:buNone/>
                      </a:pPr>
                      <a:r>
                        <a:rPr lang="en-US" sz="1300" b="1" dirty="0">
                          <a:solidFill>
                            <a:srgbClr val="C98468"/>
                          </a:solidFill>
                        </a:rPr>
                        <a:t>Zapatillas Classic</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4,25</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b="1" dirty="0">
                          <a:solidFill>
                            <a:srgbClr val="C98468"/>
                          </a:solidFill>
                        </a:rPr>
                        <a:t>13,9 %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438912">
                <a:tc>
                  <a:txBody>
                    <a:bodyPr/>
                    <a:lstStyle/>
                    <a:p>
                      <a:pPr algn="l" indent="0" marL="0">
                        <a:buNone/>
                      </a:pPr>
                      <a:r>
                        <a:rPr lang="en-US" sz="1300" b="1" dirty="0">
                          <a:solidFill>
                            <a:srgbClr val="111513"/>
                          </a:solidFill>
                        </a:rPr>
                        <a:t>Zapatillas Running</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4,0</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0,0 %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438912">
                <a:tc>
                  <a:txBody>
                    <a:bodyPr/>
                    <a:lstStyle/>
                    <a:p>
                      <a:pPr algn="l" indent="0" marL="0">
                        <a:buNone/>
                      </a:pPr>
                      <a:r>
                        <a:rPr lang="en-US" sz="1300" b="1" dirty="0">
                          <a:solidFill>
                            <a:srgbClr val="111513"/>
                          </a:solidFill>
                        </a:rPr>
                        <a:t>Top Básico</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3,7</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7,6 %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r h="438912">
                <a:tc>
                  <a:txBody>
                    <a:bodyPr/>
                    <a:lstStyle/>
                    <a:p>
                      <a:pPr algn="l" indent="0" marL="0">
                        <a:buNone/>
                      </a:pPr>
                      <a:r>
                        <a:rPr lang="en-US" sz="1300" b="1" dirty="0">
                          <a:solidFill>
                            <a:srgbClr val="111513"/>
                          </a:solidFill>
                        </a:rPr>
                        <a:t>Camiseta Oversize</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3,21</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c>
                  <a:txBody>
                    <a:bodyPr/>
                    <a:lstStyle/>
                    <a:p>
                      <a:pPr algn="r" indent="0" marL="0">
                        <a:buNone/>
                      </a:pPr>
                      <a:r>
                        <a:rPr lang="en-US" sz="1300" dirty="0">
                          <a:solidFill>
                            <a:srgbClr val="111513"/>
                          </a:solidFill>
                        </a:rPr>
                        <a:t>1,2 %</a:t>
                      </a:r>
                      <a:endParaRPr lang="en-US" sz="1300" dirty="0"/>
                    </a:p>
                  </a:txBody>
                  <a:tcPr marL="73152" marR="73152" marT="36576" marB="36576">
                    <a:lnL w="0" cap="flat" cmpd="sng" algn="ctr">
                      <a:noFill/>
                    </a:lnL>
                    <a:lnR w="0" cap="flat" cmpd="sng" algn="ctr">
                      <a:noFill/>
                    </a:lnR>
                    <a:lnT w="0" cap="flat" cmpd="sng" algn="ctr">
                      <a:noFill/>
                    </a:lnT>
                    <a:lnB w="6350" cap="flat" cmpd="sng" algn="ctr">
                      <a:solidFill>
                        <a:srgbClr val="D5D8D6"/>
                      </a:solidFill>
                      <a:prstDash val="solid"/>
                      <a:round/>
                      <a:headEnd type="none" w="med" len="med"/>
                      <a:tailEnd type="none" w="med" len="med"/>
                    </a:lnB>
                  </a:tcPr>
                </a:tc>
              </a:tr>
            </a:tbl>
          </a:graphicData>
        </a:graphic>
      </p:graphicFrame>
      <p:sp>
        <p:nvSpPr>
          <p:cNvPr id="7" name="texto-109"/>
          <p:cNvSpPr txBox="1"/>
          <p:nvPr/>
        </p:nvSpPr>
        <p:spPr>
          <a:xfrm>
            <a:off x="822960" y="5074920"/>
            <a:ext cx="5760720" cy="640080"/>
          </a:xfrm>
          <a:prstGeom prst="rect">
            <a:avLst/>
          </a:prstGeom>
          <a:noFill/>
          <a:ln/>
        </p:spPr>
        <p:txBody>
          <a:bodyPr wrap="square" lIns="0" tIns="0" rIns="0" bIns="0" rtlCol="0" anchor="t"/>
          <a:lstStyle/>
          <a:p>
            <a:pPr indent="0" marL="0">
              <a:buNone/>
            </a:pPr>
            <a:r>
              <a:rPr lang="en-US" sz="1300" dirty="0">
                <a:solidFill>
                  <a:schemeClr val="tx2"/>
                </a:solidFill>
              </a:rPr>
              <a:t>Medir la calidad con la devolución: empezar por la guía de tallas de Pantalón Cargo y Zapatillas Classic.</a:t>
            </a:r>
            <a:endParaRPr lang="en-US" sz="1300" dirty="0"/>
          </a:p>
        </p:txBody>
      </p:sp>
      <p:sp>
        <p:nvSpPr>
          <p:cNvPr id="8" name="tarjeta-110"/>
          <p:cNvSpPr/>
          <p:nvPr/>
        </p:nvSpPr>
        <p:spPr>
          <a:xfrm>
            <a:off x="7086600" y="1645920"/>
            <a:ext cx="4553712" cy="4206240"/>
          </a:xfrm>
          <a:prstGeom prst="roundRect">
            <a:avLst>
              <a:gd name="adj" fmla="val 304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9" name="texto-111"/>
          <p:cNvSpPr txBox="1"/>
          <p:nvPr/>
        </p:nvSpPr>
        <p:spPr>
          <a:xfrm>
            <a:off x="7360920" y="1828800"/>
            <a:ext cx="4023360" cy="320040"/>
          </a:xfrm>
          <a:prstGeom prst="rect">
            <a:avLst/>
          </a:prstGeom>
          <a:noFill/>
          <a:ln/>
        </p:spPr>
        <p:txBody>
          <a:bodyPr wrap="square" lIns="0" tIns="0" rIns="0" bIns="0" rtlCol="0" anchor="t"/>
          <a:lstStyle/>
          <a:p>
            <a:pPr indent="0" marL="0">
              <a:buNone/>
            </a:pPr>
            <a:r>
              <a:rPr lang="en-US" sz="1400" b="1" dirty="0">
                <a:solidFill>
                  <a:schemeClr val="tx1"/>
                </a:solidFill>
              </a:rPr>
              <a:t>Ingreso por código (nota de dirección)</a:t>
            </a:r>
            <a:endParaRPr lang="en-US" sz="1400" dirty="0"/>
          </a:p>
        </p:txBody>
      </p:sp>
      <p:sp>
        <p:nvSpPr>
          <p:cNvPr id="10" name="texto-112"/>
          <p:cNvSpPr txBox="1"/>
          <p:nvPr/>
        </p:nvSpPr>
        <p:spPr>
          <a:xfrm>
            <a:off x="7360920" y="2286000"/>
            <a:ext cx="4023360" cy="685800"/>
          </a:xfrm>
          <a:prstGeom prst="rect">
            <a:avLst/>
          </a:prstGeom>
          <a:noFill/>
          <a:ln/>
        </p:spPr>
        <p:txBody>
          <a:bodyPr wrap="square" lIns="0" tIns="0" rIns="0" bIns="0" rtlCol="0" anchor="t"/>
          <a:lstStyle/>
          <a:p>
            <a:pPr indent="0" marL="0">
              <a:buNone/>
            </a:pPr>
            <a:r>
              <a:rPr lang="en-US" sz="3600" dirty="0">
                <a:solidFill>
                  <a:schemeClr val="tx1"/>
                </a:solidFill>
              </a:rPr>
              <a:t>+9,8 %</a:t>
            </a:r>
            <a:endParaRPr lang="en-US" sz="3600" dirty="0"/>
          </a:p>
        </p:txBody>
      </p:sp>
      <p:sp>
        <p:nvSpPr>
          <p:cNvPr id="11" name="texto-113"/>
          <p:cNvSpPr txBox="1"/>
          <p:nvPr/>
        </p:nvSpPr>
        <p:spPr>
          <a:xfrm>
            <a:off x="7360920" y="2971800"/>
            <a:ext cx="4023360" cy="731520"/>
          </a:xfrm>
          <a:prstGeom prst="rect">
            <a:avLst/>
          </a:prstGeom>
          <a:noFill/>
          <a:ln/>
        </p:spPr>
        <p:txBody>
          <a:bodyPr wrap="square" lIns="0" tIns="0" rIns="0" bIns="0" rtlCol="0" anchor="t"/>
          <a:lstStyle/>
          <a:p>
            <a:pPr indent="0" marL="0">
              <a:buNone/>
            </a:pPr>
            <a:r>
              <a:rPr lang="en-US" sz="1300" dirty="0">
                <a:solidFill>
                  <a:schemeClr val="tx2"/>
                </a:solidFill>
              </a:rPr>
              <a:t>inflado al cruzar pedidos con códigos: 12.311 € frente a 11.210 € contados una vez</a:t>
            </a:r>
            <a:endParaRPr lang="en-US" sz="1300" dirty="0"/>
          </a:p>
        </p:txBody>
      </p:sp>
      <p:sp>
        <p:nvSpPr>
          <p:cNvPr id="12" name="texto-114"/>
          <p:cNvSpPr txBox="1"/>
          <p:nvPr/>
        </p:nvSpPr>
        <p:spPr>
          <a:xfrm>
            <a:off x="7360920" y="3840480"/>
            <a:ext cx="4023360" cy="1828800"/>
          </a:xfrm>
          <a:prstGeom prst="rect">
            <a:avLst/>
          </a:prstGeom>
          <a:noFill/>
          <a:ln/>
        </p:spPr>
        <p:txBody>
          <a:bodyPr wrap="square" lIns="0" tIns="0" rIns="0" bIns="0" rtlCol="0" anchor="t"/>
          <a:lstStyle/>
          <a:p>
            <a:pPr indent="0" marL="0">
              <a:buNone/>
            </a:pPr>
            <a:r>
              <a:rPr lang="en-US" sz="1300" dirty="0">
                <a:solidFill>
                  <a:schemeClr val="tx2"/>
                </a:solidFill>
              </a:rPr>
              <a:t>No creemos que esté bien medido: suma ventas a precio lleno (ningún pedido refleja el descuento) y no dice si el código generó la venta. Registrar el descuento aplicado y usar códigos únicos por canal.</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Seis decisiones para el segundo semestre, cada una con su cifra</a:t>
            </a:r>
            <a:endParaRPr lang="en-US" sz="3200" dirty="0"/>
          </a:p>
        </p:txBody>
      </p:sp>
      <p:sp>
        <p:nvSpPr>
          <p:cNvPr id="4" name="tarjeta-115"/>
          <p:cNvSpPr/>
          <p:nvPr/>
        </p:nvSpPr>
        <p:spPr>
          <a:xfrm>
            <a:off x="548640" y="1645920"/>
            <a:ext cx="3593592" cy="2057400"/>
          </a:xfrm>
          <a:prstGeom prst="roundRect">
            <a:avLst>
              <a:gd name="adj" fmla="val 6222"/>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numero-116"/>
          <p:cNvSpPr/>
          <p:nvPr/>
        </p:nvSpPr>
        <p:spPr>
          <a:xfrm>
            <a:off x="822960" y="1920240"/>
            <a:ext cx="411480" cy="411480"/>
          </a:xfrm>
          <a:prstGeom prst="ellipse">
            <a:avLst/>
          </a:prstGeom>
          <a:solidFill>
            <a:srgbClr val="C98468"/>
          </a:solidFill>
          <a:ln w="6350">
            <a:solidFill>
              <a:srgbClr val="C98468"/>
            </a:solidFill>
            <a:prstDash val="solid"/>
          </a:ln>
        </p:spPr>
      </p:sp>
      <p:sp>
        <p:nvSpPr>
          <p:cNvPr id="6" name="texto-117"/>
          <p:cNvSpPr txBox="1"/>
          <p:nvPr/>
        </p:nvSpPr>
        <p:spPr>
          <a:xfrm>
            <a:off x="82296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o-118"/>
          <p:cNvSpPr txBox="1"/>
          <p:nvPr/>
        </p:nvSpPr>
        <p:spPr>
          <a:xfrm>
            <a:off x="1417320" y="1920240"/>
            <a:ext cx="2560320" cy="548640"/>
          </a:xfrm>
          <a:prstGeom prst="rect">
            <a:avLst/>
          </a:prstGeom>
          <a:noFill/>
          <a:ln/>
        </p:spPr>
        <p:txBody>
          <a:bodyPr wrap="square" lIns="0" tIns="0" rIns="0" bIns="0" rtlCol="0" anchor="ctr"/>
          <a:lstStyle/>
          <a:p>
            <a:pPr indent="0" marL="0">
              <a:buNone/>
            </a:pPr>
            <a:r>
              <a:rPr lang="en-US" sz="1500" b="1" dirty="0">
                <a:solidFill>
                  <a:schemeClr val="tx1"/>
                </a:solidFill>
              </a:rPr>
              <a:t>Pausar Instagram y bajar Meta</a:t>
            </a:r>
            <a:endParaRPr lang="en-US" sz="1500" dirty="0"/>
          </a:p>
        </p:txBody>
      </p:sp>
      <p:sp>
        <p:nvSpPr>
          <p:cNvPr id="8" name="texto-119"/>
          <p:cNvSpPr txBox="1"/>
          <p:nvPr/>
        </p:nvSpPr>
        <p:spPr>
          <a:xfrm>
            <a:off x="822960" y="2606040"/>
            <a:ext cx="3108960" cy="960120"/>
          </a:xfrm>
          <a:prstGeom prst="rect">
            <a:avLst/>
          </a:prstGeom>
          <a:noFill/>
          <a:ln/>
        </p:spPr>
        <p:txBody>
          <a:bodyPr wrap="square" lIns="0" tIns="0" rIns="0" bIns="0" rtlCol="0" anchor="t"/>
          <a:lstStyle/>
          <a:p>
            <a:pPr indent="0" marL="0">
              <a:buNone/>
            </a:pPr>
            <a:r>
              <a:rPr lang="en-US" sz="1300" dirty="0">
                <a:solidFill>
                  <a:schemeClr val="tx2"/>
                </a:solidFill>
              </a:rPr>
              <a:t>725 € y 167 € por cliente nuevo; Instagram cuesta unos 180 € al mes.</a:t>
            </a:r>
            <a:endParaRPr lang="en-US" sz="1300" dirty="0"/>
          </a:p>
        </p:txBody>
      </p:sp>
      <p:sp>
        <p:nvSpPr>
          <p:cNvPr id="9" name="tarjeta-120"/>
          <p:cNvSpPr/>
          <p:nvPr/>
        </p:nvSpPr>
        <p:spPr>
          <a:xfrm>
            <a:off x="4297680" y="1645920"/>
            <a:ext cx="3593592" cy="2057400"/>
          </a:xfrm>
          <a:prstGeom prst="roundRect">
            <a:avLst>
              <a:gd name="adj" fmla="val 6222"/>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0" name="numero-121"/>
          <p:cNvSpPr/>
          <p:nvPr/>
        </p:nvSpPr>
        <p:spPr>
          <a:xfrm>
            <a:off x="4572000" y="1920240"/>
            <a:ext cx="411480" cy="411480"/>
          </a:xfrm>
          <a:prstGeom prst="ellipse">
            <a:avLst/>
          </a:prstGeom>
          <a:solidFill>
            <a:srgbClr val="5B9A7B"/>
          </a:solidFill>
          <a:ln w="6350">
            <a:solidFill>
              <a:srgbClr val="5B9A7B"/>
            </a:solidFill>
            <a:prstDash val="solid"/>
          </a:ln>
        </p:spPr>
      </p:sp>
      <p:sp>
        <p:nvSpPr>
          <p:cNvPr id="11" name="texto-122"/>
          <p:cNvSpPr txBox="1"/>
          <p:nvPr/>
        </p:nvSpPr>
        <p:spPr>
          <a:xfrm>
            <a:off x="457200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o-123"/>
          <p:cNvSpPr txBox="1"/>
          <p:nvPr/>
        </p:nvSpPr>
        <p:spPr>
          <a:xfrm>
            <a:off x="5166360" y="1920240"/>
            <a:ext cx="2560320" cy="548640"/>
          </a:xfrm>
          <a:prstGeom prst="rect">
            <a:avLst/>
          </a:prstGeom>
          <a:noFill/>
          <a:ln/>
        </p:spPr>
        <p:txBody>
          <a:bodyPr wrap="square" lIns="0" tIns="0" rIns="0" bIns="0" rtlCol="0" anchor="ctr"/>
          <a:lstStyle/>
          <a:p>
            <a:pPr indent="0" marL="0">
              <a:buNone/>
            </a:pPr>
            <a:r>
              <a:rPr lang="en-US" sz="1500" b="1" dirty="0">
                <a:solidFill>
                  <a:schemeClr val="tx1"/>
                </a:solidFill>
              </a:rPr>
              <a:t>Reforzar Email y Google</a:t>
            </a:r>
            <a:endParaRPr lang="en-US" sz="1500" dirty="0"/>
          </a:p>
        </p:txBody>
      </p:sp>
      <p:sp>
        <p:nvSpPr>
          <p:cNvPr id="13" name="texto-124"/>
          <p:cNvSpPr txBox="1"/>
          <p:nvPr/>
        </p:nvSpPr>
        <p:spPr>
          <a:xfrm>
            <a:off x="4572000" y="2606040"/>
            <a:ext cx="3108960" cy="960120"/>
          </a:xfrm>
          <a:prstGeom prst="rect">
            <a:avLst/>
          </a:prstGeom>
          <a:noFill/>
          <a:ln/>
        </p:spPr>
        <p:txBody>
          <a:bodyPr wrap="square" lIns="0" tIns="0" rIns="0" bIns="0" rtlCol="0" anchor="t"/>
          <a:lstStyle/>
          <a:p>
            <a:pPr indent="0" marL="0">
              <a:buNone/>
            </a:pPr>
            <a:r>
              <a:rPr lang="en-US" sz="1300" dirty="0">
                <a:solidFill>
                  <a:schemeClr val="tx2"/>
                </a:solidFill>
              </a:rPr>
              <a:t>41 € y 59 € por cliente nuevo desde marzo.</a:t>
            </a:r>
            <a:endParaRPr lang="en-US" sz="1300" dirty="0"/>
          </a:p>
        </p:txBody>
      </p:sp>
      <p:sp>
        <p:nvSpPr>
          <p:cNvPr id="14" name="tarjeta-125"/>
          <p:cNvSpPr/>
          <p:nvPr/>
        </p:nvSpPr>
        <p:spPr>
          <a:xfrm>
            <a:off x="8046720" y="1645920"/>
            <a:ext cx="3593592" cy="2057400"/>
          </a:xfrm>
          <a:prstGeom prst="roundRect">
            <a:avLst>
              <a:gd name="adj" fmla="val 6222"/>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5" name="numero-126"/>
          <p:cNvSpPr/>
          <p:nvPr/>
        </p:nvSpPr>
        <p:spPr>
          <a:xfrm>
            <a:off x="8321040" y="1920240"/>
            <a:ext cx="411480" cy="411480"/>
          </a:xfrm>
          <a:prstGeom prst="ellipse">
            <a:avLst/>
          </a:prstGeom>
          <a:solidFill>
            <a:srgbClr val="5B9A7B"/>
          </a:solidFill>
          <a:ln w="6350">
            <a:solidFill>
              <a:srgbClr val="5B9A7B"/>
            </a:solidFill>
            <a:prstDash val="solid"/>
          </a:ln>
        </p:spPr>
      </p:sp>
      <p:sp>
        <p:nvSpPr>
          <p:cNvPr id="16" name="texto-127"/>
          <p:cNvSpPr txBox="1"/>
          <p:nvPr/>
        </p:nvSpPr>
        <p:spPr>
          <a:xfrm>
            <a:off x="8321040" y="1920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o-128"/>
          <p:cNvSpPr txBox="1"/>
          <p:nvPr/>
        </p:nvSpPr>
        <p:spPr>
          <a:xfrm>
            <a:off x="8915400" y="1920240"/>
            <a:ext cx="2560320" cy="548640"/>
          </a:xfrm>
          <a:prstGeom prst="rect">
            <a:avLst/>
          </a:prstGeom>
          <a:noFill/>
          <a:ln/>
        </p:spPr>
        <p:txBody>
          <a:bodyPr wrap="square" lIns="0" tIns="0" rIns="0" bIns="0" rtlCol="0" anchor="ctr"/>
          <a:lstStyle/>
          <a:p>
            <a:pPr indent="0" marL="0">
              <a:buNone/>
            </a:pPr>
            <a:r>
              <a:rPr lang="en-US" sz="1500" b="1" dirty="0">
                <a:solidFill>
                  <a:schemeClr val="tx1"/>
                </a:solidFill>
              </a:rPr>
              <a:t>TikTok, solo por tramos</a:t>
            </a:r>
            <a:endParaRPr lang="en-US" sz="1500" dirty="0"/>
          </a:p>
        </p:txBody>
      </p:sp>
      <p:sp>
        <p:nvSpPr>
          <p:cNvPr id="18" name="texto-129"/>
          <p:cNvSpPr txBox="1"/>
          <p:nvPr/>
        </p:nvSpPr>
        <p:spPr>
          <a:xfrm>
            <a:off x="8321040" y="2606040"/>
            <a:ext cx="3108960" cy="960120"/>
          </a:xfrm>
          <a:prstGeom prst="rect">
            <a:avLst/>
          </a:prstGeom>
          <a:noFill/>
          <a:ln/>
        </p:spPr>
        <p:txBody>
          <a:bodyPr wrap="square" lIns="0" tIns="0" rIns="0" bIns="0" rtlCol="0" anchor="t"/>
          <a:lstStyle/>
          <a:p>
            <a:pPr indent="0" marL="0">
              <a:buNone/>
            </a:pPr>
            <a:r>
              <a:rPr lang="en-US" sz="1300" dirty="0">
                <a:solidFill>
                  <a:schemeClr val="tx2"/>
                </a:solidFill>
              </a:rPr>
              <a:t>Vende más con 40 € al mes que con 788 € al mes.</a:t>
            </a:r>
            <a:endParaRPr lang="en-US" sz="1300" dirty="0"/>
          </a:p>
        </p:txBody>
      </p:sp>
      <p:sp>
        <p:nvSpPr>
          <p:cNvPr id="19" name="tarjeta-130"/>
          <p:cNvSpPr/>
          <p:nvPr/>
        </p:nvSpPr>
        <p:spPr>
          <a:xfrm>
            <a:off x="548640" y="3886200"/>
            <a:ext cx="3593592" cy="2057400"/>
          </a:xfrm>
          <a:prstGeom prst="roundRect">
            <a:avLst>
              <a:gd name="adj" fmla="val 6222"/>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0" name="numero-131"/>
          <p:cNvSpPr/>
          <p:nvPr/>
        </p:nvSpPr>
        <p:spPr>
          <a:xfrm>
            <a:off x="822960" y="4160520"/>
            <a:ext cx="411480" cy="411480"/>
          </a:xfrm>
          <a:prstGeom prst="ellipse">
            <a:avLst/>
          </a:prstGeom>
          <a:solidFill>
            <a:srgbClr val="2C302E"/>
          </a:solidFill>
          <a:ln w="6350">
            <a:solidFill>
              <a:srgbClr val="2C302E"/>
            </a:solidFill>
            <a:prstDash val="solid"/>
          </a:ln>
        </p:spPr>
      </p:sp>
      <p:sp>
        <p:nvSpPr>
          <p:cNvPr id="21" name="texto-132"/>
          <p:cNvSpPr txBox="1"/>
          <p:nvPr/>
        </p:nvSpPr>
        <p:spPr>
          <a:xfrm>
            <a:off x="822960" y="4160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o-133"/>
          <p:cNvSpPr txBox="1"/>
          <p:nvPr/>
        </p:nvSpPr>
        <p:spPr>
          <a:xfrm>
            <a:off x="1417320" y="4160520"/>
            <a:ext cx="2560320" cy="548640"/>
          </a:xfrm>
          <a:prstGeom prst="rect">
            <a:avLst/>
          </a:prstGeom>
          <a:noFill/>
          <a:ln/>
        </p:spPr>
        <p:txBody>
          <a:bodyPr wrap="square" lIns="0" tIns="0" rIns="0" bIns="0" rtlCol="0" anchor="ctr"/>
          <a:lstStyle/>
          <a:p>
            <a:pPr indent="0" marL="0">
              <a:buNone/>
            </a:pPr>
            <a:r>
              <a:rPr lang="en-US" sz="1500" b="1" dirty="0">
                <a:solidFill>
                  <a:schemeClr val="tx1"/>
                </a:solidFill>
              </a:rPr>
              <a:t>Recuperar la captación orgánica</a:t>
            </a:r>
            <a:endParaRPr lang="en-US" sz="1500" dirty="0"/>
          </a:p>
        </p:txBody>
      </p:sp>
      <p:sp>
        <p:nvSpPr>
          <p:cNvPr id="23" name="texto-134"/>
          <p:cNvSpPr txBox="1"/>
          <p:nvPr/>
        </p:nvSpPr>
        <p:spPr>
          <a:xfrm>
            <a:off x="822960" y="4846320"/>
            <a:ext cx="3108960" cy="960120"/>
          </a:xfrm>
          <a:prstGeom prst="rect">
            <a:avLst/>
          </a:prstGeom>
          <a:noFill/>
          <a:ln/>
        </p:spPr>
        <p:txBody>
          <a:bodyPr wrap="square" lIns="0" tIns="0" rIns="0" bIns="0" rtlCol="0" anchor="t"/>
          <a:lstStyle/>
          <a:p>
            <a:pPr indent="0" marL="0">
              <a:buNone/>
            </a:pPr>
            <a:r>
              <a:rPr lang="en-US" sz="1300" dirty="0">
                <a:solidFill>
                  <a:schemeClr val="tx2"/>
                </a:solidFill>
              </a:rPr>
              <a:t>De 12 a 3 clientes nuevos al mes; objetivo de 20 o más clientes nuevos al mes en total.</a:t>
            </a:r>
            <a:endParaRPr lang="en-US" sz="1300" dirty="0"/>
          </a:p>
        </p:txBody>
      </p:sp>
      <p:sp>
        <p:nvSpPr>
          <p:cNvPr id="24" name="tarjeta-135"/>
          <p:cNvSpPr/>
          <p:nvPr/>
        </p:nvSpPr>
        <p:spPr>
          <a:xfrm>
            <a:off x="4297680" y="3886200"/>
            <a:ext cx="3593592" cy="2057400"/>
          </a:xfrm>
          <a:prstGeom prst="roundRect">
            <a:avLst>
              <a:gd name="adj" fmla="val 6222"/>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5" name="numero-136"/>
          <p:cNvSpPr/>
          <p:nvPr/>
        </p:nvSpPr>
        <p:spPr>
          <a:xfrm>
            <a:off x="4572000" y="4160520"/>
            <a:ext cx="411480" cy="411480"/>
          </a:xfrm>
          <a:prstGeom prst="ellipse">
            <a:avLst/>
          </a:prstGeom>
          <a:solidFill>
            <a:srgbClr val="2C302E"/>
          </a:solidFill>
          <a:ln w="6350">
            <a:solidFill>
              <a:srgbClr val="2C302E"/>
            </a:solidFill>
            <a:prstDash val="solid"/>
          </a:ln>
        </p:spPr>
      </p:sp>
      <p:sp>
        <p:nvSpPr>
          <p:cNvPr id="26" name="texto-137"/>
          <p:cNvSpPr txBox="1"/>
          <p:nvPr/>
        </p:nvSpPr>
        <p:spPr>
          <a:xfrm>
            <a:off x="4572000" y="4160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o-138"/>
          <p:cNvSpPr txBox="1"/>
          <p:nvPr/>
        </p:nvSpPr>
        <p:spPr>
          <a:xfrm>
            <a:off x="5166360" y="4160520"/>
            <a:ext cx="2560320" cy="548640"/>
          </a:xfrm>
          <a:prstGeom prst="rect">
            <a:avLst/>
          </a:prstGeom>
          <a:noFill/>
          <a:ln/>
        </p:spPr>
        <p:txBody>
          <a:bodyPr wrap="square" lIns="0" tIns="0" rIns="0" bIns="0" rtlCol="0" anchor="ctr"/>
          <a:lstStyle/>
          <a:p>
            <a:pPr indent="0" marL="0">
              <a:buNone/>
            </a:pPr>
            <a:r>
              <a:rPr lang="en-US" sz="1500" b="1" dirty="0">
                <a:solidFill>
                  <a:schemeClr val="tx1"/>
                </a:solidFill>
              </a:rPr>
              <a:t>Cuidar la recompra y Alemania</a:t>
            </a:r>
            <a:endParaRPr lang="en-US" sz="1500" dirty="0"/>
          </a:p>
        </p:txBody>
      </p:sp>
      <p:sp>
        <p:nvSpPr>
          <p:cNvPr id="28" name="texto-139"/>
          <p:cNvSpPr txBox="1"/>
          <p:nvPr/>
        </p:nvSpPr>
        <p:spPr>
          <a:xfrm>
            <a:off x="4572000" y="4846320"/>
            <a:ext cx="3108960" cy="960120"/>
          </a:xfrm>
          <a:prstGeom prst="rect">
            <a:avLst/>
          </a:prstGeom>
          <a:noFill/>
          <a:ln/>
        </p:spPr>
        <p:txBody>
          <a:bodyPr wrap="square" lIns="0" tIns="0" rIns="0" bIns="0" rtlCol="0" anchor="t"/>
          <a:lstStyle/>
          <a:p>
            <a:pPr indent="0" marL="0">
              <a:buNone/>
            </a:pPr>
            <a:r>
              <a:rPr lang="en-US" sz="1300" dirty="0">
                <a:solidFill>
                  <a:schemeClr val="tx2"/>
                </a:solidFill>
              </a:rPr>
              <a:t>Recompra a 30 días: del 83 % al 42 %. Alemania hace el 49 % de la venta.</a:t>
            </a:r>
            <a:endParaRPr lang="en-US" sz="1300" dirty="0"/>
          </a:p>
        </p:txBody>
      </p:sp>
      <p:sp>
        <p:nvSpPr>
          <p:cNvPr id="29" name="tarjeta-140"/>
          <p:cNvSpPr/>
          <p:nvPr/>
        </p:nvSpPr>
        <p:spPr>
          <a:xfrm>
            <a:off x="8046720" y="3886200"/>
            <a:ext cx="3593592" cy="2057400"/>
          </a:xfrm>
          <a:prstGeom prst="roundRect">
            <a:avLst>
              <a:gd name="adj" fmla="val 6222"/>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30" name="numero-141"/>
          <p:cNvSpPr/>
          <p:nvPr/>
        </p:nvSpPr>
        <p:spPr>
          <a:xfrm>
            <a:off x="8321040" y="4160520"/>
            <a:ext cx="411480" cy="411480"/>
          </a:xfrm>
          <a:prstGeom prst="ellipse">
            <a:avLst/>
          </a:prstGeom>
          <a:solidFill>
            <a:srgbClr val="2C302E"/>
          </a:solidFill>
          <a:ln w="6350">
            <a:solidFill>
              <a:srgbClr val="2C302E"/>
            </a:solidFill>
            <a:prstDash val="solid"/>
          </a:ln>
        </p:spPr>
      </p:sp>
      <p:sp>
        <p:nvSpPr>
          <p:cNvPr id="31" name="texto-142"/>
          <p:cNvSpPr txBox="1"/>
          <p:nvPr/>
        </p:nvSpPr>
        <p:spPr>
          <a:xfrm>
            <a:off x="8321040" y="4160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o-143"/>
          <p:cNvSpPr txBox="1"/>
          <p:nvPr/>
        </p:nvSpPr>
        <p:spPr>
          <a:xfrm>
            <a:off x="8915400" y="4160520"/>
            <a:ext cx="2560320" cy="548640"/>
          </a:xfrm>
          <a:prstGeom prst="rect">
            <a:avLst/>
          </a:prstGeom>
          <a:noFill/>
          <a:ln/>
        </p:spPr>
        <p:txBody>
          <a:bodyPr wrap="square" lIns="0" tIns="0" rIns="0" bIns="0" rtlCol="0" anchor="ctr"/>
          <a:lstStyle/>
          <a:p>
            <a:pPr indent="0" marL="0">
              <a:buNone/>
            </a:pPr>
            <a:r>
              <a:rPr lang="en-US" sz="1500" b="1" dirty="0">
                <a:solidFill>
                  <a:schemeClr val="tx1"/>
                </a:solidFill>
              </a:rPr>
              <a:t>Ordenar el catálogo y los códigos</a:t>
            </a:r>
            <a:endParaRPr lang="en-US" sz="1500" dirty="0"/>
          </a:p>
        </p:txBody>
      </p:sp>
      <p:sp>
        <p:nvSpPr>
          <p:cNvPr id="33" name="texto-144"/>
          <p:cNvSpPr txBox="1"/>
          <p:nvPr/>
        </p:nvSpPr>
        <p:spPr>
          <a:xfrm>
            <a:off x="8321040" y="4846320"/>
            <a:ext cx="3108960" cy="960120"/>
          </a:xfrm>
          <a:prstGeom prst="rect">
            <a:avLst/>
          </a:prstGeom>
          <a:noFill/>
          <a:ln/>
        </p:spPr>
        <p:txBody>
          <a:bodyPr wrap="square" lIns="0" tIns="0" rIns="0" bIns="0" rtlCol="0" anchor="t"/>
          <a:lstStyle/>
          <a:p>
            <a:pPr indent="0" marL="0">
              <a:buNone/>
            </a:pPr>
            <a:r>
              <a:rPr lang="en-US" sz="1300" dirty="0">
                <a:solidFill>
                  <a:schemeClr val="tx2"/>
                </a:solidFill>
              </a:rPr>
              <a:t>Umbral de venta por referencia para Deporte y registrar el descuento aplicado en cada pedido.</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9418320" cy="1097280"/>
          </a:xfrm>
          <a:prstGeom prst="rect">
            <a:avLst/>
          </a:prstGeom>
          <a:noFill/>
          <a:ln/>
        </p:spPr>
        <p:txBody>
          <a:bodyPr wrap="square" lIns="0" tIns="0" rIns="0" bIns="0" rtlCol="0" anchor="t"/>
          <a:lstStyle/>
          <a:p>
            <a:pPr algn="l" indent="0" marL="0">
              <a:buNone/>
            </a:pPr>
            <a:r>
              <a:rPr lang="en-US" sz="3200" dirty="0">
                <a:solidFill>
                  <a:schemeClr val="tx1"/>
                </a:solidFill>
              </a:rPr>
              <a:t>Cómo leer las cifras y sus límites</a:t>
            </a:r>
            <a:endParaRPr lang="en-US" sz="3200" dirty="0"/>
          </a:p>
        </p:txBody>
      </p:sp>
      <p:sp>
        <p:nvSpPr>
          <p:cNvPr id="4" name="tarjeta-145"/>
          <p:cNvSpPr/>
          <p:nvPr/>
        </p:nvSpPr>
        <p:spPr>
          <a:xfrm>
            <a:off x="548640" y="164592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5" name="texto-146"/>
          <p:cNvSpPr txBox="1"/>
          <p:nvPr/>
        </p:nvSpPr>
        <p:spPr>
          <a:xfrm>
            <a:off x="822960" y="1764792"/>
            <a:ext cx="4937760" cy="292608"/>
          </a:xfrm>
          <a:prstGeom prst="rect">
            <a:avLst/>
          </a:prstGeom>
          <a:noFill/>
          <a:ln/>
        </p:spPr>
        <p:txBody>
          <a:bodyPr wrap="square" lIns="0" tIns="0" rIns="0" bIns="0" rtlCol="0" anchor="t"/>
          <a:lstStyle/>
          <a:p>
            <a:pPr indent="0" marL="0">
              <a:buNone/>
            </a:pPr>
            <a:r>
              <a:rPr lang="en-US" sz="1400" b="1" dirty="0">
                <a:solidFill>
                  <a:schemeClr val="tx1"/>
                </a:solidFill>
              </a:rPr>
              <a:t>Venta neta</a:t>
            </a:r>
            <a:endParaRPr lang="en-US" sz="1400" dirty="0"/>
          </a:p>
        </p:txBody>
      </p:sp>
      <p:sp>
        <p:nvSpPr>
          <p:cNvPr id="6" name="texto-147"/>
          <p:cNvSpPr txBox="1"/>
          <p:nvPr/>
        </p:nvSpPr>
        <p:spPr>
          <a:xfrm>
            <a:off x="822960" y="2075688"/>
            <a:ext cx="4937760" cy="502920"/>
          </a:xfrm>
          <a:prstGeom prst="rect">
            <a:avLst/>
          </a:prstGeom>
          <a:noFill/>
          <a:ln/>
        </p:spPr>
        <p:txBody>
          <a:bodyPr wrap="square" lIns="0" tIns="0" rIns="0" bIns="0" rtlCol="0" anchor="t"/>
          <a:lstStyle/>
          <a:p>
            <a:pPr indent="0" marL="0">
              <a:buNone/>
            </a:pPr>
            <a:r>
              <a:rPr lang="en-US" sz="1200" dirty="0">
                <a:solidFill>
                  <a:schemeClr val="tx2"/>
                </a:solidFill>
              </a:rPr>
              <a:t>Subtotal sin IVA ni envío de pedidos no cancelados, menos devoluciones. Solo fichas activas. H1: 38.531 €.</a:t>
            </a:r>
            <a:endParaRPr lang="en-US" sz="1200" dirty="0"/>
          </a:p>
        </p:txBody>
      </p:sp>
      <p:sp>
        <p:nvSpPr>
          <p:cNvPr id="7" name="tarjeta-148"/>
          <p:cNvSpPr/>
          <p:nvPr/>
        </p:nvSpPr>
        <p:spPr>
          <a:xfrm>
            <a:off x="6172200" y="164592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8" name="texto-149"/>
          <p:cNvSpPr txBox="1"/>
          <p:nvPr/>
        </p:nvSpPr>
        <p:spPr>
          <a:xfrm>
            <a:off x="6446520" y="1764792"/>
            <a:ext cx="4937760" cy="292608"/>
          </a:xfrm>
          <a:prstGeom prst="rect">
            <a:avLst/>
          </a:prstGeom>
          <a:noFill/>
          <a:ln/>
        </p:spPr>
        <p:txBody>
          <a:bodyPr wrap="square" lIns="0" tIns="0" rIns="0" bIns="0" rtlCol="0" anchor="t"/>
          <a:lstStyle/>
          <a:p>
            <a:pPr indent="0" marL="0">
              <a:buNone/>
            </a:pPr>
            <a:r>
              <a:rPr lang="en-US" sz="1400" b="1" dirty="0">
                <a:solidFill>
                  <a:schemeClr val="tx1"/>
                </a:solidFill>
              </a:rPr>
              <a:t>Periodo</a:t>
            </a:r>
            <a:endParaRPr lang="en-US" sz="1400" dirty="0"/>
          </a:p>
        </p:txBody>
      </p:sp>
      <p:sp>
        <p:nvSpPr>
          <p:cNvPr id="9" name="texto-150"/>
          <p:cNvSpPr txBox="1"/>
          <p:nvPr/>
        </p:nvSpPr>
        <p:spPr>
          <a:xfrm>
            <a:off x="6446520" y="2075688"/>
            <a:ext cx="4937760" cy="502920"/>
          </a:xfrm>
          <a:prstGeom prst="rect">
            <a:avLst/>
          </a:prstGeom>
          <a:noFill/>
          <a:ln/>
        </p:spPr>
        <p:txBody>
          <a:bodyPr wrap="square" lIns="0" tIns="0" rIns="0" bIns="0" rtlCol="0" anchor="t"/>
          <a:lstStyle/>
          <a:p>
            <a:pPr indent="0" marL="0">
              <a:buNone/>
            </a:pPr>
            <a:r>
              <a:rPr lang="en-US" sz="1200" dirty="0">
                <a:solidFill>
                  <a:schemeClr val="tx2"/>
                </a:solidFill>
              </a:rPr>
              <a:t>Del 1 de enero al 30 de junio. Julio (hasta el día 12) va aparte.</a:t>
            </a:r>
            <a:endParaRPr lang="en-US" sz="1200" dirty="0"/>
          </a:p>
        </p:txBody>
      </p:sp>
      <p:sp>
        <p:nvSpPr>
          <p:cNvPr id="10" name="tarjeta-151"/>
          <p:cNvSpPr/>
          <p:nvPr/>
        </p:nvSpPr>
        <p:spPr>
          <a:xfrm>
            <a:off x="548640" y="274320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1" name="texto-152"/>
          <p:cNvSpPr txBox="1"/>
          <p:nvPr/>
        </p:nvSpPr>
        <p:spPr>
          <a:xfrm>
            <a:off x="822960" y="2862072"/>
            <a:ext cx="4937760" cy="292608"/>
          </a:xfrm>
          <a:prstGeom prst="rect">
            <a:avLst/>
          </a:prstGeom>
          <a:noFill/>
          <a:ln/>
        </p:spPr>
        <p:txBody>
          <a:bodyPr wrap="square" lIns="0" tIns="0" rIns="0" bIns="0" rtlCol="0" anchor="t"/>
          <a:lstStyle/>
          <a:p>
            <a:pPr indent="0" marL="0">
              <a:buNone/>
            </a:pPr>
            <a:r>
              <a:rPr lang="en-US" sz="1400" b="1" dirty="0">
                <a:solidFill>
                  <a:schemeClr val="tx1"/>
                </a:solidFill>
              </a:rPr>
              <a:t>Canales</a:t>
            </a:r>
            <a:endParaRPr lang="en-US" sz="1400" dirty="0"/>
          </a:p>
        </p:txBody>
      </p:sp>
      <p:sp>
        <p:nvSpPr>
          <p:cNvPr id="12" name="texto-153"/>
          <p:cNvSpPr txBox="1"/>
          <p:nvPr/>
        </p:nvSpPr>
        <p:spPr>
          <a:xfrm>
            <a:off x="822960" y="3172968"/>
            <a:ext cx="4937760" cy="502920"/>
          </a:xfrm>
          <a:prstGeom prst="rect">
            <a:avLst/>
          </a:prstGeom>
          <a:noFill/>
          <a:ln/>
        </p:spPr>
        <p:txBody>
          <a:bodyPr wrap="square" lIns="0" tIns="0" rIns="0" bIns="0" rtlCol="0" anchor="t"/>
          <a:lstStyle/>
          <a:p>
            <a:pPr indent="0" marL="0">
              <a:buNone/>
            </a:pPr>
            <a:r>
              <a:rPr lang="en-US" sz="1200" dirty="0">
                <a:solidFill>
                  <a:schemeClr val="tx2"/>
                </a:solidFill>
              </a:rPr>
              <a:t>Se comparan de marzo a junio por coste por cliente nuevo. El IEC y el ticket son solo referencia.</a:t>
            </a:r>
            <a:endParaRPr lang="en-US" sz="1200" dirty="0"/>
          </a:p>
        </p:txBody>
      </p:sp>
      <p:sp>
        <p:nvSpPr>
          <p:cNvPr id="13" name="tarjeta-154"/>
          <p:cNvSpPr/>
          <p:nvPr/>
        </p:nvSpPr>
        <p:spPr>
          <a:xfrm>
            <a:off x="6172200" y="274320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4" name="texto-155"/>
          <p:cNvSpPr txBox="1"/>
          <p:nvPr/>
        </p:nvSpPr>
        <p:spPr>
          <a:xfrm>
            <a:off x="6446520" y="2862072"/>
            <a:ext cx="4937760" cy="292608"/>
          </a:xfrm>
          <a:prstGeom prst="rect">
            <a:avLst/>
          </a:prstGeom>
          <a:noFill/>
          <a:ln/>
        </p:spPr>
        <p:txBody>
          <a:bodyPr wrap="square" lIns="0" tIns="0" rIns="0" bIns="0" rtlCol="0" anchor="t"/>
          <a:lstStyle/>
          <a:p>
            <a:pPr indent="0" marL="0">
              <a:buNone/>
            </a:pPr>
            <a:r>
              <a:rPr lang="en-US" sz="1400" b="1" dirty="0">
                <a:solidFill>
                  <a:schemeClr val="tx1"/>
                </a:solidFill>
              </a:rPr>
              <a:t>Notas de dirección</a:t>
            </a:r>
            <a:endParaRPr lang="en-US" sz="1400" dirty="0"/>
          </a:p>
        </p:txBody>
      </p:sp>
      <p:sp>
        <p:nvSpPr>
          <p:cNvPr id="15" name="texto-156"/>
          <p:cNvSpPr txBox="1"/>
          <p:nvPr/>
        </p:nvSpPr>
        <p:spPr>
          <a:xfrm>
            <a:off x="6446520" y="3172968"/>
            <a:ext cx="4937760" cy="502920"/>
          </a:xfrm>
          <a:prstGeom prst="rect">
            <a:avLst/>
          </a:prstGeom>
          <a:noFill/>
          <a:ln/>
        </p:spPr>
        <p:txBody>
          <a:bodyPr wrap="square" lIns="0" tIns="0" rIns="0" bIns="0" rtlCol="0" anchor="t"/>
          <a:lstStyle/>
          <a:p>
            <a:pPr indent="0" marL="0">
              <a:buNone/>
            </a:pPr>
            <a:r>
              <a:rPr lang="en-US" sz="1200" dirty="0">
                <a:solidFill>
                  <a:schemeClr val="tx2"/>
                </a:solidFill>
              </a:rPr>
              <a:t>Aplicadas: IEC, cliente activo, catálogo vivo, ticket por canal e ingreso por código, con su crítica.</a:t>
            </a:r>
            <a:endParaRPr lang="en-US" sz="1200" dirty="0"/>
          </a:p>
        </p:txBody>
      </p:sp>
      <p:sp>
        <p:nvSpPr>
          <p:cNvPr id="16" name="tarjeta-157"/>
          <p:cNvSpPr/>
          <p:nvPr/>
        </p:nvSpPr>
        <p:spPr>
          <a:xfrm>
            <a:off x="548640" y="384048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17" name="texto-158"/>
          <p:cNvSpPr txBox="1"/>
          <p:nvPr/>
        </p:nvSpPr>
        <p:spPr>
          <a:xfrm>
            <a:off x="822960" y="3959352"/>
            <a:ext cx="4937760" cy="292608"/>
          </a:xfrm>
          <a:prstGeom prst="rect">
            <a:avLst/>
          </a:prstGeom>
          <a:noFill/>
          <a:ln/>
        </p:spPr>
        <p:txBody>
          <a:bodyPr wrap="square" lIns="0" tIns="0" rIns="0" bIns="0" rtlCol="0" anchor="t"/>
          <a:lstStyle/>
          <a:p>
            <a:pPr indent="0" marL="0">
              <a:buNone/>
            </a:pPr>
            <a:r>
              <a:rPr lang="en-US" sz="1400" b="1" dirty="0">
                <a:solidFill>
                  <a:schemeClr val="tx1"/>
                </a:solidFill>
              </a:rPr>
              <a:t>Retorno medio</a:t>
            </a:r>
            <a:endParaRPr lang="en-US" sz="1400" dirty="0"/>
          </a:p>
        </p:txBody>
      </p:sp>
      <p:sp>
        <p:nvSpPr>
          <p:cNvPr id="18" name="texto-159"/>
          <p:cNvSpPr txBox="1"/>
          <p:nvPr/>
        </p:nvSpPr>
        <p:spPr>
          <a:xfrm>
            <a:off x="822960" y="4270248"/>
            <a:ext cx="4937760" cy="502920"/>
          </a:xfrm>
          <a:prstGeom prst="rect">
            <a:avLst/>
          </a:prstGeom>
          <a:noFill/>
          <a:ln/>
        </p:spPr>
        <p:txBody>
          <a:bodyPr wrap="square" lIns="0" tIns="0" rIns="0" bIns="0" rtlCol="0" anchor="t"/>
          <a:lstStyle/>
          <a:p>
            <a:pPr indent="0" marL="0">
              <a:buNone/>
            </a:pPr>
            <a:r>
              <a:rPr lang="en-US" sz="1200" dirty="0">
                <a:solidFill>
                  <a:schemeClr val="tx2"/>
                </a:solidFill>
              </a:rPr>
              <a:t>El gasto apenas varía salvo en TikTok: no se puede medir el siguiente euro.</a:t>
            </a:r>
            <a:endParaRPr lang="en-US" sz="1200" dirty="0"/>
          </a:p>
        </p:txBody>
      </p:sp>
      <p:sp>
        <p:nvSpPr>
          <p:cNvPr id="19" name="tarjeta-160"/>
          <p:cNvSpPr/>
          <p:nvPr/>
        </p:nvSpPr>
        <p:spPr>
          <a:xfrm>
            <a:off x="6172200" y="384048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0" name="texto-161"/>
          <p:cNvSpPr txBox="1"/>
          <p:nvPr/>
        </p:nvSpPr>
        <p:spPr>
          <a:xfrm>
            <a:off x="6446520" y="3959352"/>
            <a:ext cx="4937760" cy="292608"/>
          </a:xfrm>
          <a:prstGeom prst="rect">
            <a:avLst/>
          </a:prstGeom>
          <a:noFill/>
          <a:ln/>
        </p:spPr>
        <p:txBody>
          <a:bodyPr wrap="square" lIns="0" tIns="0" rIns="0" bIns="0" rtlCol="0" anchor="t"/>
          <a:lstStyle/>
          <a:p>
            <a:pPr indent="0" marL="0">
              <a:buNone/>
            </a:pPr>
            <a:r>
              <a:rPr lang="en-US" sz="1400" b="1" dirty="0">
                <a:solidFill>
                  <a:schemeClr val="tx1"/>
                </a:solidFill>
              </a:rPr>
              <a:t>Muestras pequeñas</a:t>
            </a:r>
            <a:endParaRPr lang="en-US" sz="1400" dirty="0"/>
          </a:p>
        </p:txBody>
      </p:sp>
      <p:sp>
        <p:nvSpPr>
          <p:cNvPr id="21" name="texto-162"/>
          <p:cNvSpPr txBox="1"/>
          <p:nvPr/>
        </p:nvSpPr>
        <p:spPr>
          <a:xfrm>
            <a:off x="6446520" y="4270248"/>
            <a:ext cx="4937760" cy="502920"/>
          </a:xfrm>
          <a:prstGeom prst="rect">
            <a:avLst/>
          </a:prstGeom>
          <a:noFill/>
          <a:ln/>
        </p:spPr>
        <p:txBody>
          <a:bodyPr wrap="square" lIns="0" tIns="0" rIns="0" bIns="0" rtlCol="0" anchor="t"/>
          <a:lstStyle/>
          <a:p>
            <a:pPr indent="0" marL="0">
              <a:buNone/>
            </a:pPr>
            <a:r>
              <a:rPr lang="en-US" sz="1200" dirty="0">
                <a:solidFill>
                  <a:schemeClr val="tx2"/>
                </a:solidFill>
              </a:rPr>
              <a:t>Instagram tiene 1 cliente nuevo desde marzo y Meta, 6: son señales, no pruebas.</a:t>
            </a:r>
            <a:endParaRPr lang="en-US" sz="1200" dirty="0"/>
          </a:p>
        </p:txBody>
      </p:sp>
      <p:sp>
        <p:nvSpPr>
          <p:cNvPr id="22" name="tarjeta-163"/>
          <p:cNvSpPr/>
          <p:nvPr/>
        </p:nvSpPr>
        <p:spPr>
          <a:xfrm>
            <a:off x="548640" y="493776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3" name="texto-164"/>
          <p:cNvSpPr txBox="1"/>
          <p:nvPr/>
        </p:nvSpPr>
        <p:spPr>
          <a:xfrm>
            <a:off x="822960" y="5056632"/>
            <a:ext cx="4937760" cy="292608"/>
          </a:xfrm>
          <a:prstGeom prst="rect">
            <a:avLst/>
          </a:prstGeom>
          <a:noFill/>
          <a:ln/>
        </p:spPr>
        <p:txBody>
          <a:bodyPr wrap="square" lIns="0" tIns="0" rIns="0" bIns="0" rtlCol="0" anchor="t"/>
          <a:lstStyle/>
          <a:p>
            <a:pPr indent="0" marL="0">
              <a:buNone/>
            </a:pPr>
            <a:r>
              <a:rPr lang="en-US" sz="1400" b="1" dirty="0">
                <a:solidFill>
                  <a:schemeClr val="tx1"/>
                </a:solidFill>
              </a:rPr>
              <a:t>Sin costes ni país en el gasto</a:t>
            </a:r>
            <a:endParaRPr lang="en-US" sz="1400" dirty="0"/>
          </a:p>
        </p:txBody>
      </p:sp>
      <p:sp>
        <p:nvSpPr>
          <p:cNvPr id="24" name="texto-165"/>
          <p:cNvSpPr txBox="1"/>
          <p:nvPr/>
        </p:nvSpPr>
        <p:spPr>
          <a:xfrm>
            <a:off x="822960" y="5367528"/>
            <a:ext cx="4937760" cy="502920"/>
          </a:xfrm>
          <a:prstGeom prst="rect">
            <a:avLst/>
          </a:prstGeom>
          <a:noFill/>
          <a:ln/>
        </p:spPr>
        <p:txBody>
          <a:bodyPr wrap="square" lIns="0" tIns="0" rIns="0" bIns="0" rtlCol="0" anchor="t"/>
          <a:lstStyle/>
          <a:p>
            <a:pPr indent="0" marL="0">
              <a:buNone/>
            </a:pPr>
            <a:r>
              <a:rPr lang="en-US" sz="1200" dirty="0">
                <a:solidFill>
                  <a:schemeClr val="tx2"/>
                </a:solidFill>
              </a:rPr>
              <a:t>Análisis de ingresos. No se puede calcular el coste de captar en Alemania.</a:t>
            </a:r>
            <a:endParaRPr lang="en-US" sz="1200" dirty="0"/>
          </a:p>
        </p:txBody>
      </p:sp>
      <p:sp>
        <p:nvSpPr>
          <p:cNvPr id="25" name="tarjeta-166"/>
          <p:cNvSpPr/>
          <p:nvPr/>
        </p:nvSpPr>
        <p:spPr>
          <a:xfrm>
            <a:off x="6172200" y="4937760"/>
            <a:ext cx="5468112" cy="987552"/>
          </a:xfrm>
          <a:prstGeom prst="roundRect">
            <a:avLst>
              <a:gd name="adj" fmla="val 12963"/>
            </a:avLst>
          </a:prstGeom>
          <a:solidFill>
            <a:srgbClr val="FFFFFF">
              <a:alpha val="62000"/>
            </a:srgbClr>
          </a:solidFill>
          <a:ln w="12700">
            <a:solidFill>
              <a:srgbClr val="FFFFFF">
                <a:alpha val="75000"/>
              </a:srgbClr>
            </a:solidFill>
            <a:prstDash val="solid"/>
          </a:ln>
          <a:effectLst>
            <a:outerShdw sx="100000" sy="100000" kx="0" ky="0" algn="bl" rotWithShape="0" blurRad="177800" dist="38100" dir="5400000">
              <a:srgbClr val="1B2A22">
                <a:alpha val="10000"/>
              </a:srgbClr>
            </a:outerShdw>
          </a:effectLst>
        </p:spPr>
      </p:sp>
      <p:sp>
        <p:nvSpPr>
          <p:cNvPr id="26" name="texto-167"/>
          <p:cNvSpPr txBox="1"/>
          <p:nvPr/>
        </p:nvSpPr>
        <p:spPr>
          <a:xfrm>
            <a:off x="6446520" y="5056632"/>
            <a:ext cx="4937760" cy="292608"/>
          </a:xfrm>
          <a:prstGeom prst="rect">
            <a:avLst/>
          </a:prstGeom>
          <a:noFill/>
          <a:ln/>
        </p:spPr>
        <p:txBody>
          <a:bodyPr wrap="square" lIns="0" tIns="0" rIns="0" bIns="0" rtlCol="0" anchor="t"/>
          <a:lstStyle/>
          <a:p>
            <a:pPr indent="0" marL="0">
              <a:buNone/>
            </a:pPr>
            <a:r>
              <a:rPr lang="en-US" sz="1400" b="1" dirty="0">
                <a:solidFill>
                  <a:schemeClr val="tx1"/>
                </a:solidFill>
              </a:rPr>
              <a:t>Descuentos</a:t>
            </a:r>
            <a:endParaRPr lang="en-US" sz="1400" dirty="0"/>
          </a:p>
        </p:txBody>
      </p:sp>
      <p:sp>
        <p:nvSpPr>
          <p:cNvPr id="27" name="texto-168"/>
          <p:cNvSpPr txBox="1"/>
          <p:nvPr/>
        </p:nvSpPr>
        <p:spPr>
          <a:xfrm>
            <a:off x="6446520" y="5367528"/>
            <a:ext cx="4937760" cy="502920"/>
          </a:xfrm>
          <a:prstGeom prst="rect">
            <a:avLst/>
          </a:prstGeom>
          <a:noFill/>
          <a:ln/>
        </p:spPr>
        <p:txBody>
          <a:bodyPr wrap="square" lIns="0" tIns="0" rIns="0" bIns="0" rtlCol="0" anchor="t"/>
          <a:lstStyle/>
          <a:p>
            <a:pPr indent="0" marL="0">
              <a:buNone/>
            </a:pPr>
            <a:r>
              <a:rPr lang="en-US" sz="1200" dirty="0">
                <a:solidFill>
                  <a:schemeClr val="tx2"/>
                </a:solidFill>
              </a:rPr>
              <a:t>Ningún importe refleja el descuento de los códigos. Con él, la venta neta sería de 37.217 €.</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cuffers Data">
  <a:themeElements>
    <a:clrScheme name="Scuffers Data">
      <a:dk1>
        <a:srgbClr val="111513"/>
      </a:dk1>
      <a:lt1>
        <a:srgbClr val="FFFFFF"/>
      </a:lt1>
      <a:dk2>
        <a:srgbClr val="4A4E4C"/>
      </a:dk2>
      <a:lt2>
        <a:srgbClr val="F4F5F4"/>
      </a:lt2>
      <a:accent1>
        <a:srgbClr val="5B9A7B"/>
      </a:accent1>
      <a:accent2>
        <a:srgbClr val="C98468"/>
      </a:accent2>
      <a:accent3>
        <a:srgbClr val="7C8A95"/>
      </a:accent3>
      <a:accent4>
        <a:srgbClr val="9AA09D"/>
      </a:accent4>
      <a:accent5>
        <a:srgbClr val="2C302E"/>
      </a:accent5>
      <a:accent6>
        <a:srgbClr val="D5D8D6"/>
      </a:accent6>
      <a:hlink>
        <a:srgbClr val="5B9A7B"/>
      </a:hlink>
      <a:folHlink>
        <a:srgbClr val="7C8A95"/>
      </a:folHlink>
    </a:clrScheme>
    <a:fontScheme name="Scuffers Da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Presupuesto del segundo semestre</dc:title>
  <dc:subject>PptxGenJS Presentation</dc:subject>
  <dc:creator>Análisis de datos</dc:creator>
  <cp:lastModifiedBy>Análisis de datos</cp:lastModifiedBy>
  <cp:revision>1</cp:revision>
  <dcterms:created xsi:type="dcterms:W3CDTF">2026-10-07T18:50:09Z</dcterms:created>
  <dcterms:modified xsi:type="dcterms:W3CDTF">2026-10-07T18:50:09Z</dcterms:modified>
</cp:coreProperties>
</file>