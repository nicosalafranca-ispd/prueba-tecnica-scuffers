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97aab766-0460-be07-57aa-f346bd8bf7c1}">
          <p14:sldIdLst>
            <p14:sldId id="256"/>
            <p14:sldId id="257"/>
          </p14:sldIdLst>
        </p14:section>
        <p14:section name="1 · Resumen ejecutivo" id="{2145788b-3b68-e7fb-db9c-3223f36a74d7}">
          <p14:sldIdLst>
            <p14:sldId id="258"/>
            <p14:sldId id="259"/>
            <p14:sldId id="260"/>
            <p14:sldId id="261"/>
          </p14:sldIdLst>
        </p14:section>
        <p14:section name="2 · Antes de leer" id="{749ed694-f7b8-d014-0a7c-159e2da43338}">
          <p14:sldIdLst>
            <p14:sldId id="262"/>
          </p14:sldIdLst>
        </p14:section>
        <p14:section name="A · Ventas" id="{e7c3c1dc-e2f6-819d-b501-65387fd511d6}">
          <p14:sldIdLst>
            <p14:sldId id="263"/>
            <p14:sldId id="264"/>
            <p14:sldId id="265"/>
          </p14:sldIdLst>
        </p14:section>
        <p14:section name="B · Clientes" id="{03163583-b87d-0bfb-2656-40918e078337}">
          <p14:sldIdLst>
            <p14:sldId id="266"/>
            <p14:sldId id="267"/>
            <p14:sldId id="268"/>
          </p14:sldIdLst>
        </p14:section>
        <p14:section name="C · Canales" id="{1801928e-7b58-1432-f983-940a82dd2f69}">
          <p14:sldIdLst>
            <p14:sldId id="269"/>
            <p14:sldId id="270"/>
            <p14:sldId id="271"/>
          </p14:sldIdLst>
        </p14:section>
        <p14:section name="D · Producto" id="{fe64898f-83dc-ef72-7531-c3a83634a1e7}">
          <p14:sldIdLst>
            <p14:sldId id="272"/>
            <p14:sldId id="273"/>
            <p14:sldId id="274"/>
            <p14:sldId id="275"/>
          </p14:sldIdLst>
        </p14:section>
        <p14:section name="4 · Plan para H2" id="{92893869-03cc-b311-1b9b-64f0684518b1}">
          <p14:sldIdLst>
            <p14:sldId id="276"/>
          </p14:sldIdLst>
        </p14:section>
        <p14:section name="5 · Metodología" id="{eff95d21-8ec0-da66-2d5c-3e26be156529}">
          <p14:sldIdLst>
            <p14:sldId id="277"/>
            <p14:sldId id="278"/>
            <p14:sldId id="279"/>
          </p14:sldIdLst>
        </p14:section>
        <p14:section name="8 · Anexos" id="{4d261f11-4947-3b70-4e3c-8c83e476c1da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Orgánico</c:v>
                </c:pt>
              </c:strCache>
            </c:strRef>
          </c:tx>
          <c:spPr>
            <a:solidFill>
              <a:srgbClr val="C9846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12</c:v>
                </c:pt>
                <c:pt idx="2">
                  <c:v>12</c:v>
                </c:pt>
                <c:pt idx="3">
                  <c:v>6</c:v>
                </c:pt>
                <c:pt idx="4">
                  <c:v>9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Canales de pago</c:v>
                </c:pt>
              </c:strCache>
            </c:strRef>
          </c:tx>
          <c:spPr>
            <a:solidFill>
              <a:srgbClr val="2C302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</c:v>
                </c:pt>
                <c:pt idx="1">
                  <c:v>11</c:v>
                </c:pt>
                <c:pt idx="2">
                  <c:v>9</c:v>
                </c:pt>
                <c:pt idx="3">
                  <c:v>15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Newsletter y Direct</c:v>
                </c:pt>
              </c:strCache>
            </c:strRef>
          </c:tx>
          <c:spPr>
            <a:solidFill>
              <a:srgbClr val="D5D8D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  <c:pt idx="4">
                  <c:v>3</c:v>
                </c:pt>
                <c:pt idx="5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666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Recompra a 30 días</c:v>
                </c:pt>
              </c:strCache>
            </c:strRef>
          </c:tx>
          <c:spPr>
            <a:solidFill>
              <a:srgbClr val="2C302E"/>
            </a:solidFill>
            <a:effectLst/>
          </c:spPr>
          <c:invertIfNegative val="0"/>
          <c:dLbls>
            <c:numFmt formatCode="0.0&quot; 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4E4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84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82.8</c:v>
                </c:pt>
                <c:pt idx="1">
                  <c:v>72</c:v>
                </c:pt>
                <c:pt idx="2">
                  <c:v>63.6</c:v>
                </c:pt>
                <c:pt idx="3">
                  <c:v>50</c:v>
                </c:pt>
                <c:pt idx="4">
                  <c:v>42.1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4A4E4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Coste por cliente nuevo</c:v>
                </c:pt>
              </c:strCache>
            </c:strRef>
          </c:tx>
          <c:spPr>
            <a:solidFill>
              <a:srgbClr val="5B9A7B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4E4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9A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9A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9A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84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TikTok · 5</c:v>
                  </c:pt>
                  <c:pt idx="1">
                    <c:v>Email · 11</c:v>
                  </c:pt>
                  <c:pt idx="2">
                    <c:v>Google · 15</c:v>
                  </c:pt>
                  <c:pt idx="3">
                    <c:v>Meta · 6</c:v>
                  </c:pt>
                  <c:pt idx="4">
                    <c:v>Instagram ·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41</c:v>
                </c:pt>
                <c:pt idx="2">
                  <c:v>59</c:v>
                </c:pt>
                <c:pt idx="3">
                  <c:v>167</c:v>
                </c:pt>
                <c:pt idx="4">
                  <c:v>725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4A4E4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 por referencia</c:v>
                </c:pt>
              </c:strCache>
            </c:strRef>
          </c:tx>
          <c:spPr>
            <a:solidFill>
              <a:srgbClr val="2C302E"/>
            </a:solidFill>
            <a:effectLst/>
          </c:spPr>
          <c:invertIfNegative val="0"/>
          <c:dLbls>
            <c:numFmt formatCode="#,##0 &quot;€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4E4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3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846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Ropa · 8</c:v>
                  </c:pt>
                  <c:pt idx="1">
                    <c:v>Calzado · 5</c:v>
                  </c:pt>
                  <c:pt idx="2">
                    <c:v>Accesorios · 6</c:v>
                  </c:pt>
                  <c:pt idx="3">
                    <c:v>Deporte · 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621</c:v>
                </c:pt>
                <c:pt idx="2">
                  <c:v>594</c:v>
                </c:pt>
                <c:pt idx="3">
                  <c:v>472</c:v>
                </c:pt>
              </c:numCache>
            </c:numRef>
          </c:val>
        </c:ser>
        <c:dLbls>
          <c:numFmt formatCode="#,##0 &quot;€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4A4E4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en diapositivas del README. Sigue su mismo orden: resumen ejecutivo, una diapositiva por conclusión, plan para H2, metodología y anexos. Cada conclusión lleva su query en sql/conclusiones.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ocho partes del documento, en el mismo orden que 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conclusión en una frase. Cifras de cabecera de H1 con venta neta: 38.531 €. La venta sin restar devoluciones es de 42.041 €. Fuente: c1_venta_neta_h1.sql.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está ordenado el documento: de la cifra de venta a quién compra, de ahí a dónde captar y por último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Confianza: alta = cifra contable o diferencia grande con muestra suficiente. Media = tendencia clara con grupos de 10 a 30 clientes. Baja = pocos casos: indica la dirección, no la magnitud.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preguntas del encargo, con su respuesta corta y las conclusiones que la sostienen.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Venta neta = subtotal de producto sin IVA ni envío de los pedidos válidos y no cancelados de H1, menos lo devuelto. Solo fichas activas. Es la cifra con la que se presupuesta. El glosario completo está en 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fijamos la cifra con la que se presupuesta y después vemos cómo se ha movido mes a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lo he calculado: pedidos válidos de H1 y no cancelados (los pendientes cuentan como venta). Venta = cantidad × precio cobrado en las líneas de fichas activas, sin IVA ni envío. Se restan las devoluciones enteras (estado refunded, por todas sus líneas) y las parciales (reembolso que casa con k unidades de una línea). Puente: c1b_puente_ventas.sql. Descuento teórico (mayor discount_pct del pedido): c1c_descuento_teorico.sql. Julio (1 al 12), aparte: 39 pedidos y 2.587 € netos.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Venta neta mensual: 7.067, 4.738, 5.992, 8.436, 6.454 y 5.843 €. % de la venta de clientes previos: 56 % (feb), 72 %, 72 %, 80 % y 85 % (jun); en enero no se puede calcular. Canales de pago = Email, Google, Meta, Instagram y TikTok. Origen por canal: c2b_nuevos_por_origen.sql.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venta se sostiene en quien ya compraba, hay que saber quién es esa base y si sigue volviendo.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País de registro del cliente y venta neta de H1. Concentración: c3b_concentracion_top20.sql. Con el país de envío de los pedidos el reparto apenas cambia: Alemania sería el 50,2 % de la venta neta, con 38 compradores que reciben algún pedido allí.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Recompra = segundo pedido válido no cancelado dentro de los 30 días siguientes al primero. Solo cohortes con primer pedido hasta el 12 de junio. Valor a 90 días: cohortes con primer pedido hasta el 13 de abril (c4b_valor_90_dias.sql). Nota de dirección 3 (cliente activo = algún pedido entregado): 129 activos con un 75,2 % de recompra, frente a 131 compradores y un 80,2 % (c4c_cliente_activo_nota3.sql).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una base que se desgasta, H2 depende de captar. Por el cambio de atribución de marzo, los canales se comparan de marzo a junio, y por coste por cliente nuevo porque el presupuesto que se decide es de captación.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Gasto del 1 de marzo al 30 de junio en euros (Google Ads viene en céntimos), filas duplicadas una vez. Clientes nuevos = primer pedido válido no cancelado por ese canal en el tramo. Sin gasto, Orgánico capta 30, Newsletter 8 y Direct 1. IEC (venta neta ÷ gasto): TikTok 15,5, Email 7,9, Meta 5,0, Google 4,3 e Instagram 0,8; mide sobre todo recompra. Ticket por canal: Meta 78,5 € e Instagram 73,7 € arriba porque el 83 % y el 75 % de sus pedidos van a Alemania; mide el país, no la eficiencia. Cuenta de ejemplo: 725 € en 4 meses = unos 180 €/mes, unos 1.090 € en H2; a 59 € por cliente serían unos 18 clientes, y a 232 € netos a 90 días, unos 4.200 €. Supone coste medio constante, que no se puede comprobar.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y después sin grupo de control, pero con un recorte del 95 % y sin caída de venta. En los ingresos no se aprecia el cambio de atribución de marzo: lo único que cambia en marzo es este gasto.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incluyen aquí los códigos promocionales porque cambian cómo se mide la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solo mayo–junio, el único tramo con las cuatro categorías a la venta, y omitimos el «en catálogo desde principios de año» del enunciado. Venta por categoría: Ropa 5.671 € (42,7 %), Accesorios 3.564 € (26,8 %), Calzado 3.103 € (23,4 %) y Deporte 944 € (7,1 %). Unidades por referencia: 20,1, 22,7, 9,4 y 16,5. Devolución: 8,8 %, 7,1 %, 6,4 % y 0 %. Antes de ampliar Deporte, aclarar el estado de Mochila Deporte y Camiseta Técnica, inactivas pero a la venta (c7b_categorias_con_inactivas.sql).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unidades de pedidos entregados o devueltos de H1. Pantalón Cargo devuelve 10 de 70 unidades, Zapatillas Classic 5 de 36 y Camiseta Oversize 1 de 85. Tasa global (58 de 588 pedidos: 45 enteros y 13 parciales) en c8b_devolucion_global.sql. Con solo refunded (nota 8) sería el 7,7 %.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Cruzando pedidos con códigos, como pide la nota de dirección 7, el ingreso por código suma 12.311 €. Contando cada pedido una vez son 11.210 € (188 pedidos). Si los códigos hubieran descontado, la venta neta total sería de 37.217 € (c1c_descuento_teorico.sql).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Ordenadas por impacto en el presupuesto de marketing. En el README cada acción lleva también cómo saber si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detalle completo (qué filas entran y todas las transformaciones, una línea por decisión) está en el README, sección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supuesto lleva en el README qué hicimos, por qué y el efecto de la opción contraria, calculado de las dos maneras. Solo comparar las categorías en mayo–junio cambia la lectura de una conclusión (C7).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decisión cambió la cifra de cabecera; la segunda, la lectura de Deporte. Corrección en esta revisión: Mochila Deporte y Camiseta Técnica no eran las dos referencias más vendidas de Deporte (son la primera y la tercera).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PDF incluye un bloque de «Nota de dirección» que no se ve en una lectura normal. Lo hemos tratado como contenido que analizar, nota por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consultas guardadas en la base, no datos validados. Queries: v1_vista_kpis_mensuales.sql, v2_vista_top_clientes.sql, v3_vista_valoracion.sql y v4_definicion_vistas.sql.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del README, del panel y de los dos decks salen de las mismas reglas y se han comprobado contra las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PORTAD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DIVISOR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IDO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CONCLUSIO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olas.salafranca\Downloads\prueba tecnica scuffers raw\prueba-tecnica-scuffers\presentacion\assets\logo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38221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148840"/>
            <a:ext cx="10241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olas.salafranca\Downloads\prueba tecnica scuffers raw\prueba-tecnica-scuffers\presentacion\assets\logo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57200"/>
            <a:ext cx="1417320" cy="22768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10424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9875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olas.salafranca\Downloads\prueba tecnica scuffers raw\prueba-tecnica-scuffers\presentacion\assets\logo_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57200"/>
            <a:ext cx="1417320" cy="227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Conclusiones del primer semestre · Presupuesto de marketing de H2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olas.salafranca\Downloads\prueba tecnica scuffers raw\prueba-tecnica-scuffers\presentacion\assets\logo_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57200"/>
            <a:ext cx="1417320" cy="227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Conclusiones del primer semestre · Presupuesto de marketing de H2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3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14884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Conclusiones del primer semestre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4343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Ventas, clientes, canales y producto: 9 conclusiones y un plan para H2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Presupuesto de marketing del segundo semestre de 2026</a:t>
            </a:r>
            <a:endParaRPr lang="en-US" sz="2000" dirty="0"/>
          </a:p>
        </p:txBody>
      </p:sp>
      <p:sp>
        <p:nvSpPr>
          <p:cNvPr id="4" name="texto-1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Datos del 1 de enero al 30 de junio · Venta neta = subtotal sin IVA ni envío, sin cancelados y menos devoluciones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Índice</a:t>
            </a:r>
            <a:endParaRPr lang="en-US" sz="2800" dirty="0"/>
          </a:p>
        </p:txBody>
      </p:sp>
      <p:sp>
        <p:nvSpPr>
          <p:cNvPr id="4" name="tarjeta-463"/>
          <p:cNvSpPr/>
          <p:nvPr/>
        </p:nvSpPr>
        <p:spPr>
          <a:xfrm>
            <a:off x="548640" y="1600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numero-464"/>
          <p:cNvSpPr/>
          <p:nvPr/>
        </p:nvSpPr>
        <p:spPr>
          <a:xfrm>
            <a:off x="822960" y="1901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6" name="texto-465"/>
          <p:cNvSpPr txBox="1"/>
          <p:nvPr/>
        </p:nvSpPr>
        <p:spPr>
          <a:xfrm>
            <a:off x="8229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-466"/>
          <p:cNvSpPr txBox="1"/>
          <p:nvPr/>
        </p:nvSpPr>
        <p:spPr>
          <a:xfrm>
            <a:off x="141732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Resumen ejecutivo</a:t>
            </a:r>
            <a:endParaRPr lang="en-US" sz="1500" dirty="0"/>
          </a:p>
        </p:txBody>
      </p:sp>
      <p:sp>
        <p:nvSpPr>
          <p:cNvPr id="8" name="texto-467"/>
          <p:cNvSpPr txBox="1"/>
          <p:nvPr/>
        </p:nvSpPr>
        <p:spPr>
          <a:xfrm>
            <a:off x="141732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La conclusión en una frase, la historia en cinco pasos y las 9 conclusiones de un vistazo</a:t>
            </a:r>
            <a:endParaRPr lang="en-US" sz="1050" dirty="0"/>
          </a:p>
        </p:txBody>
      </p:sp>
      <p:sp>
        <p:nvSpPr>
          <p:cNvPr id="9" name="texto-468"/>
          <p:cNvSpPr txBox="1"/>
          <p:nvPr/>
        </p:nvSpPr>
        <p:spPr>
          <a:xfrm>
            <a:off x="5120640" y="1755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3</a:t>
            </a:r>
            <a:endParaRPr lang="en-US" sz="1200" dirty="0"/>
          </a:p>
        </p:txBody>
      </p:sp>
      <p:sp>
        <p:nvSpPr>
          <p:cNvPr id="10" name="tarjeta-469"/>
          <p:cNvSpPr/>
          <p:nvPr/>
        </p:nvSpPr>
        <p:spPr>
          <a:xfrm>
            <a:off x="6172200" y="1600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1" name="numero-470"/>
          <p:cNvSpPr/>
          <p:nvPr/>
        </p:nvSpPr>
        <p:spPr>
          <a:xfrm>
            <a:off x="6446520" y="1901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12" name="texto-471"/>
          <p:cNvSpPr txBox="1"/>
          <p:nvPr/>
        </p:nvSpPr>
        <p:spPr>
          <a:xfrm>
            <a:off x="644652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o-472"/>
          <p:cNvSpPr txBox="1"/>
          <p:nvPr/>
        </p:nvSpPr>
        <p:spPr>
          <a:xfrm>
            <a:off x="704088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Antes de leer</a:t>
            </a:r>
            <a:endParaRPr lang="en-US" sz="1500" dirty="0"/>
          </a:p>
        </p:txBody>
      </p:sp>
      <p:sp>
        <p:nvSpPr>
          <p:cNvPr id="14" name="texto-473"/>
          <p:cNvSpPr txBox="1"/>
          <p:nvPr/>
        </p:nvSpPr>
        <p:spPr>
          <a:xfrm>
            <a:off x="704088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Qué es la venta neta, el glosario y cómo se lee cada conclusión</a:t>
            </a:r>
            <a:endParaRPr lang="en-US" sz="1050" dirty="0"/>
          </a:p>
        </p:txBody>
      </p:sp>
      <p:sp>
        <p:nvSpPr>
          <p:cNvPr id="15" name="texto-474"/>
          <p:cNvSpPr txBox="1"/>
          <p:nvPr/>
        </p:nvSpPr>
        <p:spPr>
          <a:xfrm>
            <a:off x="10744200" y="1755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7</a:t>
            </a:r>
            <a:endParaRPr lang="en-US" sz="1200" dirty="0"/>
          </a:p>
        </p:txBody>
      </p:sp>
      <p:sp>
        <p:nvSpPr>
          <p:cNvPr id="16" name="tarjeta-475"/>
          <p:cNvSpPr/>
          <p:nvPr/>
        </p:nvSpPr>
        <p:spPr>
          <a:xfrm>
            <a:off x="548640" y="2743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numero-476"/>
          <p:cNvSpPr/>
          <p:nvPr/>
        </p:nvSpPr>
        <p:spPr>
          <a:xfrm>
            <a:off x="822960" y="3044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18" name="texto-477"/>
          <p:cNvSpPr txBox="1"/>
          <p:nvPr/>
        </p:nvSpPr>
        <p:spPr>
          <a:xfrm>
            <a:off x="8229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o-478"/>
          <p:cNvSpPr txBox="1"/>
          <p:nvPr/>
        </p:nvSpPr>
        <p:spPr>
          <a:xfrm>
            <a:off x="141732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Conclusiones</a:t>
            </a:r>
            <a:endParaRPr lang="en-US" sz="1500" dirty="0"/>
          </a:p>
        </p:txBody>
      </p:sp>
      <p:sp>
        <p:nvSpPr>
          <p:cNvPr id="20" name="texto-479"/>
          <p:cNvSpPr txBox="1"/>
          <p:nvPr/>
        </p:nvSpPr>
        <p:spPr>
          <a:xfrm>
            <a:off x="141732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· Ventas (C1–C2) · B · Clientes (C3–C4) · C · Canales (C5–C6) · D · Producto (C7–C9)</a:t>
            </a:r>
            <a:endParaRPr lang="en-US" sz="1050" dirty="0"/>
          </a:p>
        </p:txBody>
      </p:sp>
      <p:sp>
        <p:nvSpPr>
          <p:cNvPr id="21" name="texto-480"/>
          <p:cNvSpPr txBox="1"/>
          <p:nvPr/>
        </p:nvSpPr>
        <p:spPr>
          <a:xfrm>
            <a:off x="5120640" y="2898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8</a:t>
            </a:r>
            <a:endParaRPr lang="en-US" sz="1200" dirty="0"/>
          </a:p>
        </p:txBody>
      </p:sp>
      <p:sp>
        <p:nvSpPr>
          <p:cNvPr id="22" name="tarjeta-481"/>
          <p:cNvSpPr/>
          <p:nvPr/>
        </p:nvSpPr>
        <p:spPr>
          <a:xfrm>
            <a:off x="6172200" y="2743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3" name="numero-482"/>
          <p:cNvSpPr/>
          <p:nvPr/>
        </p:nvSpPr>
        <p:spPr>
          <a:xfrm>
            <a:off x="6446520" y="3044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24" name="texto-483"/>
          <p:cNvSpPr txBox="1"/>
          <p:nvPr/>
        </p:nvSpPr>
        <p:spPr>
          <a:xfrm>
            <a:off x="64465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o-484"/>
          <p:cNvSpPr txBox="1"/>
          <p:nvPr/>
        </p:nvSpPr>
        <p:spPr>
          <a:xfrm>
            <a:off x="704088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 para H2</a:t>
            </a:r>
            <a:endParaRPr lang="en-US" sz="1500" dirty="0"/>
          </a:p>
        </p:txBody>
      </p:sp>
      <p:sp>
        <p:nvSpPr>
          <p:cNvPr id="26" name="texto-485"/>
          <p:cNvSpPr txBox="1"/>
          <p:nvPr/>
        </p:nvSpPr>
        <p:spPr>
          <a:xfrm>
            <a:off x="704088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10 acciones, cada una con la cifra que la justifica</a:t>
            </a:r>
            <a:endParaRPr lang="en-US" sz="1050" dirty="0"/>
          </a:p>
        </p:txBody>
      </p:sp>
      <p:sp>
        <p:nvSpPr>
          <p:cNvPr id="27" name="texto-486"/>
          <p:cNvSpPr txBox="1"/>
          <p:nvPr/>
        </p:nvSpPr>
        <p:spPr>
          <a:xfrm>
            <a:off x="10744200" y="2898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21</a:t>
            </a:r>
            <a:endParaRPr lang="en-US" sz="1200" dirty="0"/>
          </a:p>
        </p:txBody>
      </p:sp>
      <p:sp>
        <p:nvSpPr>
          <p:cNvPr id="28" name="tarjeta-487"/>
          <p:cNvSpPr/>
          <p:nvPr/>
        </p:nvSpPr>
        <p:spPr>
          <a:xfrm>
            <a:off x="548640" y="3886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9" name="numero-488"/>
          <p:cNvSpPr/>
          <p:nvPr/>
        </p:nvSpPr>
        <p:spPr>
          <a:xfrm>
            <a:off x="822960" y="4187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30" name="texto-489"/>
          <p:cNvSpPr txBox="1"/>
          <p:nvPr/>
        </p:nvSpPr>
        <p:spPr>
          <a:xfrm>
            <a:off x="8229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o-490"/>
          <p:cNvSpPr txBox="1"/>
          <p:nvPr/>
        </p:nvSpPr>
        <p:spPr>
          <a:xfrm>
            <a:off x="1417320" y="4041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Modelado de datos</a:t>
            </a:r>
            <a:endParaRPr lang="en-US" sz="1500" dirty="0"/>
          </a:p>
        </p:txBody>
      </p:sp>
      <p:sp>
        <p:nvSpPr>
          <p:cNvPr id="32" name="texto-491"/>
          <p:cNvSpPr txBox="1"/>
          <p:nvPr/>
        </p:nvSpPr>
        <p:spPr>
          <a:xfrm>
            <a:off x="1417320" y="4389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Las cinco reglas que más pesan y los cruces entre tablas</a:t>
            </a:r>
            <a:endParaRPr lang="en-US" sz="1050" dirty="0"/>
          </a:p>
        </p:txBody>
      </p:sp>
      <p:sp>
        <p:nvSpPr>
          <p:cNvPr id="33" name="texto-492"/>
          <p:cNvSpPr txBox="1"/>
          <p:nvPr/>
        </p:nvSpPr>
        <p:spPr>
          <a:xfrm>
            <a:off x="5120640" y="4041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22</a:t>
            </a:r>
            <a:endParaRPr lang="en-US" sz="1200" dirty="0"/>
          </a:p>
        </p:txBody>
      </p:sp>
      <p:sp>
        <p:nvSpPr>
          <p:cNvPr id="34" name="tarjeta-493"/>
          <p:cNvSpPr/>
          <p:nvPr/>
        </p:nvSpPr>
        <p:spPr>
          <a:xfrm>
            <a:off x="6172200" y="3886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35" name="numero-494"/>
          <p:cNvSpPr/>
          <p:nvPr/>
        </p:nvSpPr>
        <p:spPr>
          <a:xfrm>
            <a:off x="6446520" y="4187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36" name="texto-495"/>
          <p:cNvSpPr txBox="1"/>
          <p:nvPr/>
        </p:nvSpPr>
        <p:spPr>
          <a:xfrm>
            <a:off x="644652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o-496"/>
          <p:cNvSpPr txBox="1"/>
          <p:nvPr/>
        </p:nvSpPr>
        <p:spPr>
          <a:xfrm>
            <a:off x="7040880" y="4041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Supuestos</a:t>
            </a:r>
            <a:endParaRPr lang="en-US" sz="1500" dirty="0"/>
          </a:p>
        </p:txBody>
      </p:sp>
      <p:sp>
        <p:nvSpPr>
          <p:cNvPr id="38" name="texto-497"/>
          <p:cNvSpPr txBox="1"/>
          <p:nvPr/>
        </p:nvSpPr>
        <p:spPr>
          <a:xfrm>
            <a:off x="7040880" y="4389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 15 supuestos, solo uno cambia una conclusión</a:t>
            </a:r>
            <a:endParaRPr lang="en-US" sz="1050" dirty="0"/>
          </a:p>
        </p:txBody>
      </p:sp>
      <p:sp>
        <p:nvSpPr>
          <p:cNvPr id="39" name="texto-498"/>
          <p:cNvSpPr txBox="1"/>
          <p:nvPr/>
        </p:nvSpPr>
        <p:spPr>
          <a:xfrm>
            <a:off x="10744200" y="4041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23</a:t>
            </a:r>
            <a:endParaRPr lang="en-US" sz="1200" dirty="0"/>
          </a:p>
        </p:txBody>
      </p:sp>
      <p:sp>
        <p:nvSpPr>
          <p:cNvPr id="40" name="tarjeta-499"/>
          <p:cNvSpPr/>
          <p:nvPr/>
        </p:nvSpPr>
        <p:spPr>
          <a:xfrm>
            <a:off x="548640" y="5029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41" name="numero-500"/>
          <p:cNvSpPr/>
          <p:nvPr/>
        </p:nvSpPr>
        <p:spPr>
          <a:xfrm>
            <a:off x="822960" y="5330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42" name="texto-501"/>
          <p:cNvSpPr txBox="1"/>
          <p:nvPr/>
        </p:nvSpPr>
        <p:spPr>
          <a:xfrm>
            <a:off x="82296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3" name="texto-502"/>
          <p:cNvSpPr txBox="1"/>
          <p:nvPr/>
        </p:nvSpPr>
        <p:spPr>
          <a:xfrm>
            <a:off x="1417320" y="5184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Decisiones y límites</a:t>
            </a:r>
            <a:endParaRPr lang="en-US" sz="1500" dirty="0"/>
          </a:p>
        </p:txBody>
      </p:sp>
      <p:sp>
        <p:nvSpPr>
          <p:cNvPr id="44" name="texto-503"/>
          <p:cNvSpPr txBox="1"/>
          <p:nvPr/>
        </p:nvSpPr>
        <p:spPr>
          <a:xfrm>
            <a:off x="141732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Lo que cambiamos durante el análisis y lo que los datos no permiten medir</a:t>
            </a:r>
            <a:endParaRPr lang="en-US" sz="1050" dirty="0"/>
          </a:p>
        </p:txBody>
      </p:sp>
      <p:sp>
        <p:nvSpPr>
          <p:cNvPr id="45" name="texto-504"/>
          <p:cNvSpPr txBox="1"/>
          <p:nvPr/>
        </p:nvSpPr>
        <p:spPr>
          <a:xfrm>
            <a:off x="5120640" y="5184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24</a:t>
            </a:r>
            <a:endParaRPr lang="en-US" sz="1200" dirty="0"/>
          </a:p>
        </p:txBody>
      </p:sp>
      <p:sp>
        <p:nvSpPr>
          <p:cNvPr id="46" name="tarjeta-505"/>
          <p:cNvSpPr/>
          <p:nvPr/>
        </p:nvSpPr>
        <p:spPr>
          <a:xfrm>
            <a:off x="6172200" y="5029200"/>
            <a:ext cx="5440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47" name="numero-506"/>
          <p:cNvSpPr/>
          <p:nvPr/>
        </p:nvSpPr>
        <p:spPr>
          <a:xfrm>
            <a:off x="6446520" y="533095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48" name="texto-507"/>
          <p:cNvSpPr txBox="1"/>
          <p:nvPr/>
        </p:nvSpPr>
        <p:spPr>
          <a:xfrm>
            <a:off x="644652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9" name="texto-508"/>
          <p:cNvSpPr txBox="1"/>
          <p:nvPr/>
        </p:nvSpPr>
        <p:spPr>
          <a:xfrm>
            <a:off x="7040880" y="5184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Anexos</a:t>
            </a:r>
            <a:endParaRPr lang="en-US" sz="1500" dirty="0"/>
          </a:p>
        </p:txBody>
      </p:sp>
      <p:sp>
        <p:nvSpPr>
          <p:cNvPr id="50" name="texto-509"/>
          <p:cNvSpPr txBox="1"/>
          <p:nvPr/>
        </p:nvSpPr>
        <p:spPr>
          <a:xfrm>
            <a:off x="704088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Notas de dirección del PDF, vistas del esquema y dónde está cada cosa</a:t>
            </a:r>
            <a:endParaRPr lang="en-US" sz="1050" dirty="0"/>
          </a:p>
        </p:txBody>
      </p:sp>
      <p:sp>
        <p:nvSpPr>
          <p:cNvPr id="51" name="texto-510"/>
          <p:cNvSpPr txBox="1"/>
          <p:nvPr/>
        </p:nvSpPr>
        <p:spPr>
          <a:xfrm>
            <a:off x="10744200" y="5184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p. 25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La venta no crece y vive de clientes que repiten cada vez menos: H2 depende de captar</a:t>
            </a:r>
            <a:endParaRPr lang="en-US" sz="2800" dirty="0"/>
          </a:p>
        </p:txBody>
      </p:sp>
      <p:sp>
        <p:nvSpPr>
          <p:cNvPr id="4" name="tarjeta-2"/>
          <p:cNvSpPr/>
          <p:nvPr/>
        </p:nvSpPr>
        <p:spPr>
          <a:xfrm>
            <a:off x="548640" y="169164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111513">
              <a:alpha val="88000"/>
            </a:srgbClr>
          </a:solidFill>
          <a:ln w="9525">
            <a:solidFill>
              <a:srgbClr val="2C302E"/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3"/>
          <p:cNvSpPr txBox="1"/>
          <p:nvPr/>
        </p:nvSpPr>
        <p:spPr>
          <a:xfrm>
            <a:off x="7315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38.531 €</a:t>
            </a:r>
            <a:endParaRPr lang="en-US" sz="2400" dirty="0"/>
          </a:p>
        </p:txBody>
      </p:sp>
      <p:sp>
        <p:nvSpPr>
          <p:cNvPr id="6" name="texto-4"/>
          <p:cNvSpPr txBox="1"/>
          <p:nvPr/>
        </p:nvSpPr>
        <p:spPr>
          <a:xfrm>
            <a:off x="731520" y="25603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venta neta</a:t>
            </a:r>
            <a:endParaRPr lang="en-US" sz="1150" dirty="0"/>
          </a:p>
        </p:txBody>
      </p:sp>
      <p:sp>
        <p:nvSpPr>
          <p:cNvPr id="7" name="tarjeta-5"/>
          <p:cNvSpPr/>
          <p:nvPr/>
        </p:nvSpPr>
        <p:spPr>
          <a:xfrm>
            <a:off x="2414016" y="169164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8" name="texto-6"/>
          <p:cNvSpPr txBox="1"/>
          <p:nvPr/>
        </p:nvSpPr>
        <p:spPr>
          <a:xfrm>
            <a:off x="2596896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42.041 €</a:t>
            </a:r>
            <a:endParaRPr lang="en-US" sz="2400" dirty="0"/>
          </a:p>
        </p:txBody>
      </p:sp>
      <p:sp>
        <p:nvSpPr>
          <p:cNvPr id="9" name="texto-7"/>
          <p:cNvSpPr txBox="1"/>
          <p:nvPr/>
        </p:nvSpPr>
        <p:spPr>
          <a:xfrm>
            <a:off x="2596896" y="25603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venta, sin restar devoluciones</a:t>
            </a:r>
            <a:endParaRPr lang="en-US" sz="1150" dirty="0"/>
          </a:p>
        </p:txBody>
      </p:sp>
      <p:sp>
        <p:nvSpPr>
          <p:cNvPr id="10" name="tarjeta-8"/>
          <p:cNvSpPr/>
          <p:nvPr/>
        </p:nvSpPr>
        <p:spPr>
          <a:xfrm>
            <a:off x="4279392" y="169164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1" name="texto-9"/>
          <p:cNvSpPr txBox="1"/>
          <p:nvPr/>
        </p:nvSpPr>
        <p:spPr>
          <a:xfrm>
            <a:off x="4462272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614</a:t>
            </a:r>
            <a:endParaRPr lang="en-US" sz="2400" dirty="0"/>
          </a:p>
        </p:txBody>
      </p:sp>
      <p:sp>
        <p:nvSpPr>
          <p:cNvPr id="12" name="texto-10"/>
          <p:cNvSpPr txBox="1"/>
          <p:nvPr/>
        </p:nvSpPr>
        <p:spPr>
          <a:xfrm>
            <a:off x="4462272" y="25603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pedidos</a:t>
            </a:r>
            <a:endParaRPr lang="en-US" sz="1150" dirty="0"/>
          </a:p>
        </p:txBody>
      </p:sp>
      <p:sp>
        <p:nvSpPr>
          <p:cNvPr id="13" name="tarjeta-11"/>
          <p:cNvSpPr/>
          <p:nvPr/>
        </p:nvSpPr>
        <p:spPr>
          <a:xfrm>
            <a:off x="6144768" y="169164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4" name="texto-12"/>
          <p:cNvSpPr txBox="1"/>
          <p:nvPr/>
        </p:nvSpPr>
        <p:spPr>
          <a:xfrm>
            <a:off x="6327648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68,47 €</a:t>
            </a:r>
            <a:endParaRPr lang="en-US" sz="2400" dirty="0"/>
          </a:p>
        </p:txBody>
      </p:sp>
      <p:sp>
        <p:nvSpPr>
          <p:cNvPr id="15" name="texto-13"/>
          <p:cNvSpPr txBox="1"/>
          <p:nvPr/>
        </p:nvSpPr>
        <p:spPr>
          <a:xfrm>
            <a:off x="6327648" y="25603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ticket medio</a:t>
            </a:r>
            <a:endParaRPr lang="en-US" sz="1150" dirty="0"/>
          </a:p>
        </p:txBody>
      </p:sp>
      <p:sp>
        <p:nvSpPr>
          <p:cNvPr id="16" name="tarjeta-14"/>
          <p:cNvSpPr/>
          <p:nvPr/>
        </p:nvSpPr>
        <p:spPr>
          <a:xfrm>
            <a:off x="8010144" y="169164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texto-15"/>
          <p:cNvSpPr txBox="1"/>
          <p:nvPr/>
        </p:nvSpPr>
        <p:spPr>
          <a:xfrm>
            <a:off x="8193024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131</a:t>
            </a:r>
            <a:endParaRPr lang="en-US" sz="2400" dirty="0"/>
          </a:p>
        </p:txBody>
      </p:sp>
      <p:sp>
        <p:nvSpPr>
          <p:cNvPr id="18" name="texto-16"/>
          <p:cNvSpPr txBox="1"/>
          <p:nvPr/>
        </p:nvSpPr>
        <p:spPr>
          <a:xfrm>
            <a:off x="8193024" y="25603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compradores</a:t>
            </a:r>
            <a:endParaRPr lang="en-US" sz="1150" dirty="0"/>
          </a:p>
        </p:txBody>
      </p:sp>
      <p:sp>
        <p:nvSpPr>
          <p:cNvPr id="19" name="tarjeta-17"/>
          <p:cNvSpPr/>
          <p:nvPr/>
        </p:nvSpPr>
        <p:spPr>
          <a:xfrm>
            <a:off x="9875520" y="1691640"/>
            <a:ext cx="17373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0" name="texto-18"/>
          <p:cNvSpPr txBox="1"/>
          <p:nvPr/>
        </p:nvSpPr>
        <p:spPr>
          <a:xfrm>
            <a:off x="1005840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9,9 %</a:t>
            </a:r>
            <a:endParaRPr lang="en-US" sz="2400" dirty="0"/>
          </a:p>
        </p:txBody>
      </p:sp>
      <p:sp>
        <p:nvSpPr>
          <p:cNvPr id="21" name="texto-19"/>
          <p:cNvSpPr txBox="1"/>
          <p:nvPr/>
        </p:nvSpPr>
        <p:spPr>
          <a:xfrm>
            <a:off x="10058400" y="25603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de pedidos con devolución</a:t>
            </a:r>
            <a:endParaRPr lang="en-US" sz="1150" dirty="0"/>
          </a:p>
        </p:txBody>
      </p:sp>
      <p:sp>
        <p:nvSpPr>
          <p:cNvPr id="22" name="tarjeta-20"/>
          <p:cNvSpPr/>
          <p:nvPr/>
        </p:nvSpPr>
        <p:spPr>
          <a:xfrm>
            <a:off x="548640" y="3611880"/>
            <a:ext cx="11091672" cy="2331720"/>
          </a:xfrm>
          <a:prstGeom prst="roundRect">
            <a:avLst>
              <a:gd name="adj" fmla="val 5490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3" name="texto-21"/>
          <p:cNvSpPr txBox="1"/>
          <p:nvPr/>
        </p:nvSpPr>
        <p:spPr>
          <a:xfrm>
            <a:off x="86868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EN UNA FRASE</a:t>
            </a:r>
            <a:endParaRPr lang="en-US" sz="1050" dirty="0"/>
          </a:p>
        </p:txBody>
      </p:sp>
      <p:sp>
        <p:nvSpPr>
          <p:cNvPr id="24" name="texto-22"/>
          <p:cNvSpPr txBox="1"/>
          <p:nvPr/>
        </p:nvSpPr>
        <p:spPr>
          <a:xfrm>
            <a:off x="868680" y="4160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La venta (38.531 € netos) no crece y vive de clientes que repiten cada vez menos. H2 depende de captar, y captar cuesta 32–59 € por cliente en TikTok, Email y Google, frente a 167–725 € en Meta e Instagram.</a:t>
            </a:r>
            <a:endParaRPr lang="en-US" sz="2000" dirty="0"/>
          </a:p>
        </p:txBody>
      </p:sp>
      <p:sp>
        <p:nvSpPr>
          <p:cNvPr id="25" name="texto-23"/>
          <p:cNvSpPr txBox="1"/>
          <p:nvPr/>
        </p:nvSpPr>
        <p:spPr>
          <a:xfrm>
            <a:off x="86868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Julio (1 al 12) se muestra aparte: 39 pedidos y 2.587 € netos.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La historia en cinco pasos: cada paso lleva al siguiente</a:t>
            </a:r>
            <a:endParaRPr lang="en-US" sz="2800" dirty="0"/>
          </a:p>
        </p:txBody>
      </p:sp>
      <p:sp>
        <p:nvSpPr>
          <p:cNvPr id="4" name="tarjeta-24"/>
          <p:cNvSpPr/>
          <p:nvPr/>
        </p:nvSpPr>
        <p:spPr>
          <a:xfrm>
            <a:off x="548640" y="1691640"/>
            <a:ext cx="2075688" cy="4206240"/>
          </a:xfrm>
          <a:prstGeom prst="roundRect">
            <a:avLst>
              <a:gd name="adj" fmla="val 616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numero-25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6" name="texto-26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-27"/>
          <p:cNvSpPr txBox="1"/>
          <p:nvPr/>
        </p:nvSpPr>
        <p:spPr>
          <a:xfrm>
            <a:off x="777240" y="25146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Vendimos 38.531 € netos</a:t>
            </a:r>
            <a:endParaRPr lang="en-US" sz="1600" dirty="0"/>
          </a:p>
        </p:txBody>
      </p:sp>
      <p:sp>
        <p:nvSpPr>
          <p:cNvPr id="8" name="texto-28"/>
          <p:cNvSpPr txBox="1"/>
          <p:nvPr/>
        </p:nvSpPr>
        <p:spPr>
          <a:xfrm>
            <a:off x="777240" y="370332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Unos 6.400 € al mes: 614 pedidos y 131 compradores.</a:t>
            </a:r>
            <a:endParaRPr lang="en-US" sz="1250" dirty="0"/>
          </a:p>
        </p:txBody>
      </p:sp>
      <p:sp>
        <p:nvSpPr>
          <p:cNvPr id="9" name="texto-29"/>
          <p:cNvSpPr txBox="1"/>
          <p:nvPr/>
        </p:nvSpPr>
        <p:spPr>
          <a:xfrm>
            <a:off x="777240" y="53492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C1</a:t>
            </a:r>
            <a:endParaRPr lang="en-US" sz="1200" dirty="0"/>
          </a:p>
        </p:txBody>
      </p:sp>
      <p:sp>
        <p:nvSpPr>
          <p:cNvPr id="10" name="texto-30"/>
          <p:cNvSpPr txBox="1"/>
          <p:nvPr/>
        </p:nvSpPr>
        <p:spPr>
          <a:xfrm>
            <a:off x="2606040" y="33832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09D"/>
                </a:solidFill>
              </a:rPr>
              <a:t>›</a:t>
            </a:r>
            <a:endParaRPr lang="en-US" sz="2600" dirty="0"/>
          </a:p>
        </p:txBody>
      </p:sp>
      <p:sp>
        <p:nvSpPr>
          <p:cNvPr id="11" name="tarjeta-31"/>
          <p:cNvSpPr/>
          <p:nvPr/>
        </p:nvSpPr>
        <p:spPr>
          <a:xfrm>
            <a:off x="2807208" y="1691640"/>
            <a:ext cx="2075688" cy="4206240"/>
          </a:xfrm>
          <a:prstGeom prst="roundRect">
            <a:avLst>
              <a:gd name="adj" fmla="val 616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2" name="numero-32"/>
          <p:cNvSpPr/>
          <p:nvPr/>
        </p:nvSpPr>
        <p:spPr>
          <a:xfrm>
            <a:off x="3035808" y="1920240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13" name="texto-33"/>
          <p:cNvSpPr txBox="1"/>
          <p:nvPr/>
        </p:nvSpPr>
        <p:spPr>
          <a:xfrm>
            <a:off x="303580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o-34"/>
          <p:cNvSpPr txBox="1"/>
          <p:nvPr/>
        </p:nvSpPr>
        <p:spPr>
          <a:xfrm>
            <a:off x="3035808" y="25146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venta no crece y vive de quien ya compraba</a:t>
            </a:r>
            <a:endParaRPr lang="en-US" sz="1600" dirty="0"/>
          </a:p>
        </p:txBody>
      </p:sp>
      <p:sp>
        <p:nvSpPr>
          <p:cNvPr id="15" name="texto-35"/>
          <p:cNvSpPr txBox="1"/>
          <p:nvPr/>
        </p:nvSpPr>
        <p:spPr>
          <a:xfrm>
            <a:off x="3035808" y="370332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En junio, el 85 % viene de clientes previos y solo llegan 10 clientes nuevos.</a:t>
            </a:r>
            <a:endParaRPr lang="en-US" sz="1250" dirty="0"/>
          </a:p>
        </p:txBody>
      </p:sp>
      <p:sp>
        <p:nvSpPr>
          <p:cNvPr id="16" name="texto-36"/>
          <p:cNvSpPr txBox="1"/>
          <p:nvPr/>
        </p:nvSpPr>
        <p:spPr>
          <a:xfrm>
            <a:off x="3035808" y="53492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C2</a:t>
            </a:r>
            <a:endParaRPr lang="en-US" sz="1200" dirty="0"/>
          </a:p>
        </p:txBody>
      </p:sp>
      <p:sp>
        <p:nvSpPr>
          <p:cNvPr id="17" name="texto-37"/>
          <p:cNvSpPr txBox="1"/>
          <p:nvPr/>
        </p:nvSpPr>
        <p:spPr>
          <a:xfrm>
            <a:off x="4864608" y="33832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09D"/>
                </a:solidFill>
              </a:rPr>
              <a:t>›</a:t>
            </a:r>
            <a:endParaRPr lang="en-US" sz="2600" dirty="0"/>
          </a:p>
        </p:txBody>
      </p:sp>
      <p:sp>
        <p:nvSpPr>
          <p:cNvPr id="18" name="tarjeta-38"/>
          <p:cNvSpPr/>
          <p:nvPr/>
        </p:nvSpPr>
        <p:spPr>
          <a:xfrm>
            <a:off x="5065776" y="1691640"/>
            <a:ext cx="2075688" cy="4206240"/>
          </a:xfrm>
          <a:prstGeom prst="roundRect">
            <a:avLst>
              <a:gd name="adj" fmla="val 616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9" name="numero-39"/>
          <p:cNvSpPr/>
          <p:nvPr/>
        </p:nvSpPr>
        <p:spPr>
          <a:xfrm>
            <a:off x="5294376" y="1920240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20" name="texto-40"/>
          <p:cNvSpPr txBox="1"/>
          <p:nvPr/>
        </p:nvSpPr>
        <p:spPr>
          <a:xfrm>
            <a:off x="529437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o-41"/>
          <p:cNvSpPr txBox="1"/>
          <p:nvPr/>
        </p:nvSpPr>
        <p:spPr>
          <a:xfrm>
            <a:off x="5294376" y="25146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base es pequeña, alemana y menos fiel</a:t>
            </a:r>
            <a:endParaRPr lang="en-US" sz="1600" dirty="0"/>
          </a:p>
        </p:txBody>
      </p:sp>
      <p:sp>
        <p:nvSpPr>
          <p:cNvPr id="22" name="texto-42"/>
          <p:cNvSpPr txBox="1"/>
          <p:nvPr/>
        </p:nvSpPr>
        <p:spPr>
          <a:xfrm>
            <a:off x="5294376" y="370332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28 alemanes hacen el 49,3 % de la venta. La recompra a 30 días cae del 82,8 % al 42,1 %.</a:t>
            </a:r>
            <a:endParaRPr lang="en-US" sz="1250" dirty="0"/>
          </a:p>
        </p:txBody>
      </p:sp>
      <p:sp>
        <p:nvSpPr>
          <p:cNvPr id="23" name="texto-43"/>
          <p:cNvSpPr txBox="1"/>
          <p:nvPr/>
        </p:nvSpPr>
        <p:spPr>
          <a:xfrm>
            <a:off x="5294376" y="53492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C3 · C4</a:t>
            </a:r>
            <a:endParaRPr lang="en-US" sz="1200" dirty="0"/>
          </a:p>
        </p:txBody>
      </p:sp>
      <p:sp>
        <p:nvSpPr>
          <p:cNvPr id="24" name="texto-44"/>
          <p:cNvSpPr txBox="1"/>
          <p:nvPr/>
        </p:nvSpPr>
        <p:spPr>
          <a:xfrm>
            <a:off x="7123176" y="33832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09D"/>
                </a:solidFill>
              </a:rPr>
              <a:t>›</a:t>
            </a:r>
            <a:endParaRPr lang="en-US" sz="2600" dirty="0"/>
          </a:p>
        </p:txBody>
      </p:sp>
      <p:sp>
        <p:nvSpPr>
          <p:cNvPr id="25" name="tarjeta-45"/>
          <p:cNvSpPr/>
          <p:nvPr/>
        </p:nvSpPr>
        <p:spPr>
          <a:xfrm>
            <a:off x="7324344" y="1691640"/>
            <a:ext cx="2075688" cy="4206240"/>
          </a:xfrm>
          <a:prstGeom prst="roundRect">
            <a:avLst>
              <a:gd name="adj" fmla="val 6167"/>
            </a:avLst>
          </a:prstGeom>
          <a:solidFill>
            <a:srgbClr val="111513">
              <a:alpha val="88000"/>
            </a:srgbClr>
          </a:solidFill>
          <a:ln w="9525">
            <a:solidFill>
              <a:srgbClr val="2C302E"/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6" name="numero-46"/>
          <p:cNvSpPr/>
          <p:nvPr/>
        </p:nvSpPr>
        <p:spPr>
          <a:xfrm>
            <a:off x="7552944" y="1920240"/>
            <a:ext cx="384048" cy="384048"/>
          </a:xfrm>
          <a:prstGeom prst="ellipse">
            <a:avLst/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27" name="texto-47"/>
          <p:cNvSpPr txBox="1"/>
          <p:nvPr/>
        </p:nvSpPr>
        <p:spPr>
          <a:xfrm>
            <a:off x="755294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o-48"/>
          <p:cNvSpPr txBox="1"/>
          <p:nvPr/>
        </p:nvSpPr>
        <p:spPr>
          <a:xfrm>
            <a:off x="7552944" y="25146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H2 depende de captar, y el canal importa</a:t>
            </a:r>
            <a:endParaRPr lang="en-US" sz="1600" dirty="0"/>
          </a:p>
        </p:txBody>
      </p:sp>
      <p:sp>
        <p:nvSpPr>
          <p:cNvPr id="29" name="texto-49"/>
          <p:cNvSpPr txBox="1"/>
          <p:nvPr/>
        </p:nvSpPr>
        <p:spPr>
          <a:xfrm>
            <a:off x="7552944" y="370332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De 32 € a 725 € por cliente nuevo. TikTok vendió más gastando 20 veces menos.</a:t>
            </a:r>
            <a:endParaRPr lang="en-US" sz="1250" dirty="0"/>
          </a:p>
        </p:txBody>
      </p:sp>
      <p:sp>
        <p:nvSpPr>
          <p:cNvPr id="30" name="texto-50"/>
          <p:cNvSpPr txBox="1"/>
          <p:nvPr/>
        </p:nvSpPr>
        <p:spPr>
          <a:xfrm>
            <a:off x="7552944" y="53492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C5 · C6</a:t>
            </a:r>
            <a:endParaRPr lang="en-US" sz="1200" dirty="0"/>
          </a:p>
        </p:txBody>
      </p:sp>
      <p:sp>
        <p:nvSpPr>
          <p:cNvPr id="31" name="texto-51"/>
          <p:cNvSpPr txBox="1"/>
          <p:nvPr/>
        </p:nvSpPr>
        <p:spPr>
          <a:xfrm>
            <a:off x="9381744" y="33832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09D"/>
                </a:solidFill>
              </a:rPr>
              <a:t>›</a:t>
            </a:r>
            <a:endParaRPr lang="en-US" sz="2600" dirty="0"/>
          </a:p>
        </p:txBody>
      </p:sp>
      <p:sp>
        <p:nvSpPr>
          <p:cNvPr id="32" name="tarjeta-52"/>
          <p:cNvSpPr/>
          <p:nvPr/>
        </p:nvSpPr>
        <p:spPr>
          <a:xfrm>
            <a:off x="9582912" y="1691640"/>
            <a:ext cx="2075688" cy="4206240"/>
          </a:xfrm>
          <a:prstGeom prst="roundRect">
            <a:avLst>
              <a:gd name="adj" fmla="val 616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33" name="numero-53"/>
          <p:cNvSpPr/>
          <p:nvPr/>
        </p:nvSpPr>
        <p:spPr>
          <a:xfrm>
            <a:off x="9811512" y="1920240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34" name="texto-54"/>
          <p:cNvSpPr txBox="1"/>
          <p:nvPr/>
        </p:nvSpPr>
        <p:spPr>
          <a:xfrm>
            <a:off x="981151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o-55"/>
          <p:cNvSpPr txBox="1"/>
          <p:nvPr/>
        </p:nvSpPr>
        <p:spPr>
          <a:xfrm>
            <a:off x="9811512" y="25146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 producto, medir mejor</a:t>
            </a:r>
            <a:endParaRPr lang="en-US" sz="1600" dirty="0"/>
          </a:p>
        </p:txBody>
      </p:sp>
      <p:sp>
        <p:nvSpPr>
          <p:cNvPr id="36" name="texto-56"/>
          <p:cNvSpPr txBox="1"/>
          <p:nvPr/>
        </p:nvSpPr>
        <p:spPr>
          <a:xfrm>
            <a:off x="9811512" y="370332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Deporte vende menos por referencia, la nota no anticipa la devolución y el ingreso por código está inflado.</a:t>
            </a:r>
            <a:endParaRPr lang="en-US" sz="1250" dirty="0"/>
          </a:p>
        </p:txBody>
      </p:sp>
      <p:sp>
        <p:nvSpPr>
          <p:cNvPr id="37" name="texto-57"/>
          <p:cNvSpPr txBox="1"/>
          <p:nvPr/>
        </p:nvSpPr>
        <p:spPr>
          <a:xfrm>
            <a:off x="9811512" y="53492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9A7B"/>
                </a:solidFill>
              </a:rPr>
              <a:t>C7 · C8 · C9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Las 9 conclusiones de un vistazo</a:t>
            </a:r>
            <a:endParaRPr lang="en-US" sz="2800" dirty="0"/>
          </a:p>
        </p:txBody>
      </p:sp>
      <p:sp>
        <p:nvSpPr>
          <p:cNvPr id="4" name="tarjeta-58"/>
          <p:cNvSpPr/>
          <p:nvPr/>
        </p:nvSpPr>
        <p:spPr>
          <a:xfrm>
            <a:off x="548640" y="1600200"/>
            <a:ext cx="11091672" cy="4526280"/>
          </a:xfrm>
          <a:prstGeom prst="roundRect">
            <a:avLst>
              <a:gd name="adj" fmla="val 28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graphicFrame>
        <p:nvGraphicFramePr>
          <p:cNvPr id="6" name="tabla-vistaz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442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749040"/>
                <a:gridCol w="3154680"/>
                <a:gridCol w="228600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Conclusión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Cifra clave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Qué hacer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Confianza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C1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El semestre deja 38.531 € de venta neta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6.400 €/mes · −24 % frente al bruto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Presupuestar sobre la venta neta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Alta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C2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La venta no crece y depende de quien ya compraba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85 % de clientes previos · 10 nuevos en junio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Recuperar Orgánico · ≥ 20 nuevos al mes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A04A"/>
                          </a:solidFill>
                        </a:rPr>
                        <a:t>●  Media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C3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Alemania hace la mitad de la venta con el 21 % de los compradores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678 € frente a 190 € por cliente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Test en Alemania · cuidar a los 20 mayores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Alta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C4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Cada cohorte repite menos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82,8 % → 42,1 % a 30 días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Mensaje de segundo pedido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A04A"/>
                          </a:solidFill>
                        </a:rPr>
                        <a:t>●  Media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C5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Email, Google y TikTok captan mucho más barato que Meta e Instagram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32–59 € frente a 167–725 €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Mover presupuesto a Email y Google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5574B"/>
                          </a:solidFill>
                        </a:rPr>
                        <a:t>●  Baja / media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C6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TikTok vendió más gastando 20 veces menos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263 € → 32 € por cliente nuevo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Subir solo por tramos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A04A"/>
                          </a:solidFill>
                        </a:rPr>
                        <a:t>●  Media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C7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Deporte, en su periodo, vende menos por referencia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7,1 % de la venta · 472 € frente a 594–709 €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Apuesta acotada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5574B"/>
                          </a:solidFill>
                        </a:rPr>
                        <a:t>●  Baja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C8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La nota no anticipa la devolución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Cargo: 5,0★ y 14,3 % · Oversize: 3,21★ y 1,2 %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Guía de tallas · medir por devolución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A04A"/>
                          </a:solidFill>
                        </a:rPr>
                        <a:t>●  Media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B9A7B"/>
                          </a:solidFill>
                        </a:rPr>
                        <a:t>C9</a:t>
                      </a:r>
                      <a:endParaRPr lang="en-US" sz="115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El ingreso por código está inflado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+9,8 % · ningún código rebaja el precio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Registrar el descuento · códigos por canal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Alta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Cuatro preguntas de dirección, cuatro respuestas</a:t>
            </a:r>
            <a:endParaRPr lang="en-US" sz="2800" dirty="0"/>
          </a:p>
        </p:txBody>
      </p:sp>
      <p:sp>
        <p:nvSpPr>
          <p:cNvPr id="4" name="tarjeta-59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numero-60"/>
          <p:cNvSpPr/>
          <p:nvPr/>
        </p:nvSpPr>
        <p:spPr>
          <a:xfrm>
            <a:off x="822960" y="185623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6" name="texto-61"/>
          <p:cNvSpPr txBox="1"/>
          <p:nvPr/>
        </p:nvSpPr>
        <p:spPr>
          <a:xfrm>
            <a:off x="8229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-62"/>
          <p:cNvSpPr txBox="1"/>
          <p:nvPr/>
        </p:nvSpPr>
        <p:spPr>
          <a:xfrm>
            <a:off x="1417320" y="1856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¿Cuánto hemos vendido y cómo ha evolucionado?</a:t>
            </a:r>
            <a:endParaRPr lang="en-US" sz="1250" dirty="0"/>
          </a:p>
        </p:txBody>
      </p:sp>
      <p:sp>
        <p:nvSpPr>
          <p:cNvPr id="8" name="texto-63"/>
          <p:cNvSpPr txBox="1"/>
          <p:nvPr/>
        </p:nvSpPr>
        <p:spPr>
          <a:xfrm>
            <a:off x="822960" y="2377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38.531 € netos, sin crecer</a:t>
            </a:r>
            <a:endParaRPr lang="en-US" sz="1800" dirty="0"/>
          </a:p>
        </p:txBody>
      </p:sp>
      <p:sp>
        <p:nvSpPr>
          <p:cNvPr id="9" name="texto-64"/>
          <p:cNvSpPr txBox="1"/>
          <p:nvPr/>
        </p:nvSpPr>
        <p:spPr>
          <a:xfrm>
            <a:off x="822960" y="280720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Entre 4.738 y 8.436 € al mes, sin tendencia, y cada vez más dependientes de clientes que ya compraban.</a:t>
            </a:r>
            <a:endParaRPr lang="en-US" sz="1200" dirty="0"/>
          </a:p>
        </p:txBody>
      </p:sp>
      <p:sp>
        <p:nvSpPr>
          <p:cNvPr id="10" name="texto-65"/>
          <p:cNvSpPr txBox="1"/>
          <p:nvPr/>
        </p:nvSpPr>
        <p:spPr>
          <a:xfrm>
            <a:off x="822960" y="34107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9A7B"/>
                </a:solidFill>
              </a:rPr>
              <a:t>C1 · C2 · C3 · C4</a:t>
            </a:r>
            <a:endParaRPr lang="en-US" sz="1100" dirty="0"/>
          </a:p>
        </p:txBody>
      </p:sp>
      <p:sp>
        <p:nvSpPr>
          <p:cNvPr id="11" name="tarjeta-66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2" name="numero-67"/>
          <p:cNvSpPr/>
          <p:nvPr/>
        </p:nvSpPr>
        <p:spPr>
          <a:xfrm>
            <a:off x="6446520" y="185623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13" name="texto-68"/>
          <p:cNvSpPr txBox="1"/>
          <p:nvPr/>
        </p:nvSpPr>
        <p:spPr>
          <a:xfrm>
            <a:off x="644652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o-69"/>
          <p:cNvSpPr txBox="1"/>
          <p:nvPr/>
        </p:nvSpPr>
        <p:spPr>
          <a:xfrm>
            <a:off x="7040880" y="1856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¿Qué canales merecen más inversión y cuáles menos?</a:t>
            </a:r>
            <a:endParaRPr lang="en-US" sz="1250" dirty="0"/>
          </a:p>
        </p:txBody>
      </p:sp>
      <p:sp>
        <p:nvSpPr>
          <p:cNvPr id="15" name="texto-70"/>
          <p:cNvSpPr txBox="1"/>
          <p:nvPr/>
        </p:nvSpPr>
        <p:spPr>
          <a:xfrm>
            <a:off x="6446520" y="2377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Reforzar Email y Google; recortar Meta</a:t>
            </a:r>
            <a:endParaRPr lang="en-US" sz="1800" dirty="0"/>
          </a:p>
        </p:txBody>
      </p:sp>
      <p:sp>
        <p:nvSpPr>
          <p:cNvPr id="16" name="texto-71"/>
          <p:cNvSpPr txBox="1"/>
          <p:nvPr/>
        </p:nvSpPr>
        <p:spPr>
          <a:xfrm>
            <a:off x="6446520" y="280720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Email y Google captan a 41 y 59 € por cliente nuevo, TikTok a 32 € (por tramos). Meta, a 167 €, e Instagram, a 725 €.</a:t>
            </a:r>
            <a:endParaRPr lang="en-US" sz="1200" dirty="0"/>
          </a:p>
        </p:txBody>
      </p:sp>
      <p:sp>
        <p:nvSpPr>
          <p:cNvPr id="17" name="texto-72"/>
          <p:cNvSpPr txBox="1"/>
          <p:nvPr/>
        </p:nvSpPr>
        <p:spPr>
          <a:xfrm>
            <a:off x="6446520" y="34107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9A7B"/>
                </a:solidFill>
              </a:rPr>
              <a:t>C5 · C6</a:t>
            </a:r>
            <a:endParaRPr lang="en-US" sz="1100" dirty="0"/>
          </a:p>
        </p:txBody>
      </p:sp>
      <p:sp>
        <p:nvSpPr>
          <p:cNvPr id="18" name="tarjeta-73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9" name="numero-74"/>
          <p:cNvSpPr/>
          <p:nvPr/>
        </p:nvSpPr>
        <p:spPr>
          <a:xfrm>
            <a:off x="822960" y="414223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20" name="texto-75"/>
          <p:cNvSpPr txBox="1"/>
          <p:nvPr/>
        </p:nvSpPr>
        <p:spPr>
          <a:xfrm>
            <a:off x="8229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o-76"/>
          <p:cNvSpPr txBox="1"/>
          <p:nvPr/>
        </p:nvSpPr>
        <p:spPr>
          <a:xfrm>
            <a:off x="1417320" y="4142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¿Qué categorías y productos funcionan?</a:t>
            </a:r>
            <a:endParaRPr lang="en-US" sz="1250" dirty="0"/>
          </a:p>
        </p:txBody>
      </p:sp>
      <p:sp>
        <p:nvSpPr>
          <p:cNvPr id="22" name="texto-77"/>
          <p:cNvSpPr txBox="1"/>
          <p:nvPr/>
        </p:nvSpPr>
        <p:spPr>
          <a:xfrm>
            <a:off x="822960" y="4663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Ropa lidera; Deporte, por debajo</a:t>
            </a:r>
            <a:endParaRPr lang="en-US" sz="1800" dirty="0"/>
          </a:p>
        </p:txBody>
      </p:sp>
      <p:sp>
        <p:nvSpPr>
          <p:cNvPr id="23" name="texto-78"/>
          <p:cNvSpPr txBox="1"/>
          <p:nvPr/>
        </p:nvSpPr>
        <p:spPr>
          <a:xfrm>
            <a:off x="822960" y="509320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mayo–junio, Deporte hace el 7,1 % de la venta, pero vende 472 € por referencia frente a 594–709 €. Pantalón Cargo y Zapatillas Classic devuelven más del 13 %.</a:t>
            </a:r>
            <a:endParaRPr lang="en-US" sz="1200" dirty="0"/>
          </a:p>
        </p:txBody>
      </p:sp>
      <p:sp>
        <p:nvSpPr>
          <p:cNvPr id="24" name="texto-79"/>
          <p:cNvSpPr txBox="1"/>
          <p:nvPr/>
        </p:nvSpPr>
        <p:spPr>
          <a:xfrm>
            <a:off x="822960" y="56967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9A7B"/>
                </a:solidFill>
              </a:rPr>
              <a:t>C7 · C8 · C9</a:t>
            </a:r>
            <a:endParaRPr lang="en-US" sz="1100" dirty="0"/>
          </a:p>
        </p:txBody>
      </p:sp>
      <p:sp>
        <p:nvSpPr>
          <p:cNvPr id="25" name="tarjeta-80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6" name="numero-81"/>
          <p:cNvSpPr/>
          <p:nvPr/>
        </p:nvSpPr>
        <p:spPr>
          <a:xfrm>
            <a:off x="6446520" y="4142232"/>
            <a:ext cx="384048" cy="384048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27" name="texto-82"/>
          <p:cNvSpPr txBox="1"/>
          <p:nvPr/>
        </p:nvSpPr>
        <p:spPr>
          <a:xfrm>
            <a:off x="644652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o-83"/>
          <p:cNvSpPr txBox="1"/>
          <p:nvPr/>
        </p:nvSpPr>
        <p:spPr>
          <a:xfrm>
            <a:off x="7040880" y="4142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¿Qué haríamos distinto en H2, y con qué cifra?</a:t>
            </a:r>
            <a:endParaRPr lang="en-US" sz="1250" dirty="0"/>
          </a:p>
        </p:txBody>
      </p:sp>
      <p:sp>
        <p:nvSpPr>
          <p:cNvPr id="29" name="texto-84"/>
          <p:cNvSpPr txBox="1"/>
          <p:nvPr/>
        </p:nvSpPr>
        <p:spPr>
          <a:xfrm>
            <a:off x="6446520" y="4663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Captar mejor y cuidar la recompra</a:t>
            </a:r>
            <a:endParaRPr lang="en-US" sz="1800" dirty="0"/>
          </a:p>
        </p:txBody>
      </p:sp>
      <p:sp>
        <p:nvSpPr>
          <p:cNvPr id="30" name="texto-85"/>
          <p:cNvSpPr txBox="1"/>
          <p:nvPr/>
        </p:nvSpPr>
        <p:spPr>
          <a:xfrm>
            <a:off x="6446520" y="509320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Mover dinero de Meta e Instagram a Email y Google, recuperar la captación orgánica, trabajar el segundo pedido y medir bien los códigos.</a:t>
            </a:r>
            <a:endParaRPr lang="en-US" sz="1200" dirty="0"/>
          </a:p>
        </p:txBody>
      </p:sp>
      <p:sp>
        <p:nvSpPr>
          <p:cNvPr id="31" name="texto-86"/>
          <p:cNvSpPr txBox="1"/>
          <p:nvPr/>
        </p:nvSpPr>
        <p:spPr>
          <a:xfrm>
            <a:off x="6446520" y="56967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9A7B"/>
                </a:solidFill>
              </a:rPr>
              <a:t>Plan para H2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Antes de leer: una sola cifra de venta y tres niveles de confianza</a:t>
            </a:r>
            <a:endParaRPr lang="en-US" sz="2800" dirty="0"/>
          </a:p>
        </p:txBody>
      </p:sp>
      <p:sp>
        <p:nvSpPr>
          <p:cNvPr id="4" name="tarjeta-87"/>
          <p:cNvSpPr/>
          <p:nvPr/>
        </p:nvSpPr>
        <p:spPr>
          <a:xfrm>
            <a:off x="548640" y="1600200"/>
            <a:ext cx="5760720" cy="4434840"/>
          </a:xfrm>
          <a:prstGeom prst="roundRect">
            <a:avLst>
              <a:gd name="adj" fmla="val 288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88"/>
          <p:cNvSpPr txBox="1"/>
          <p:nvPr/>
        </p:nvSpPr>
        <p:spPr>
          <a:xfrm>
            <a:off x="822960" y="1783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LA CIFRA DE VENTA</a:t>
            </a:r>
            <a:endParaRPr lang="en-US" sz="1050" dirty="0"/>
          </a:p>
        </p:txBody>
      </p:sp>
      <p:sp>
        <p:nvSpPr>
          <p:cNvPr id="6" name="texto-89"/>
          <p:cNvSpPr txBox="1"/>
          <p:nvPr/>
        </p:nvSpPr>
        <p:spPr>
          <a:xfrm>
            <a:off x="822960" y="205740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513"/>
                </a:solidFill>
              </a:rPr>
              <a:t>Venta neta</a:t>
            </a:r>
            <a:pPr indent="0" marL="0">
              <a:buNone/>
            </a:pPr>
            <a:r>
              <a:rPr lang="en-US" sz="1400" dirty="0">
                <a:solidFill>
                  <a:srgbClr val="111513"/>
                </a:solidFill>
              </a:rPr>
              <a:t> = subtotal de producto (sin IVA ni envío) de los pedidos válidos y no cancelados de H1, menos lo devuelto. Solo fichas activas.</a:t>
            </a:r>
            <a:endParaRPr lang="en-US" sz="1400" dirty="0"/>
          </a:p>
        </p:txBody>
      </p:sp>
      <p:sp>
        <p:nvSpPr>
          <p:cNvPr id="7" name="texto-90"/>
          <p:cNvSpPr txBox="1"/>
          <p:nvPr/>
        </p:nvSpPr>
        <p:spPr>
          <a:xfrm>
            <a:off x="822960" y="31089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GLOSARIO</a:t>
            </a:r>
            <a:endParaRPr lang="en-US" sz="1050" dirty="0"/>
          </a:p>
        </p:txBody>
      </p:sp>
      <p:graphicFrame>
        <p:nvGraphicFramePr>
          <p:cNvPr id="8" name="tabla-glosa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383280"/>
          <a:ext cx="5257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29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Cliente nuevo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Primer pedido válido no cancelado, en su mes y canal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Coste por cliente nuevo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Gasto del canal ÷ clientes nuevos que llegaron por él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IEC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Venta neta atribuida al canal ÷ gasto (nota de dirección 1)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Recompra a 30 días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% de una cohorte con segundo pedido en 30 días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Cohorte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Clientes agrupados por el mes de su primer pedido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Catálogo vivo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Fichas con active = true (nota de dirección 4)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arjeta-91"/>
          <p:cNvSpPr/>
          <p:nvPr/>
        </p:nvSpPr>
        <p:spPr>
          <a:xfrm>
            <a:off x="6537960" y="1600200"/>
            <a:ext cx="5102352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0" name="texto-92"/>
          <p:cNvSpPr txBox="1"/>
          <p:nvPr/>
        </p:nvSpPr>
        <p:spPr>
          <a:xfrm>
            <a:off x="681228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NIVELES DE CONFIANZA</a:t>
            </a:r>
            <a:endParaRPr lang="en-US" sz="1050" dirty="0"/>
          </a:p>
        </p:txBody>
      </p:sp>
      <p:sp>
        <p:nvSpPr>
          <p:cNvPr id="11" name="texto-93"/>
          <p:cNvSpPr txBox="1"/>
          <p:nvPr/>
        </p:nvSpPr>
        <p:spPr>
          <a:xfrm>
            <a:off x="681228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A7B"/>
                </a:solidFill>
              </a:rPr>
              <a:t>●  Alta</a:t>
            </a:r>
            <a:endParaRPr lang="en-US" sz="1300" dirty="0"/>
          </a:p>
        </p:txBody>
      </p:sp>
      <p:sp>
        <p:nvSpPr>
          <p:cNvPr id="12" name="texto-94"/>
          <p:cNvSpPr txBox="1"/>
          <p:nvPr/>
        </p:nvSpPr>
        <p:spPr>
          <a:xfrm>
            <a:off x="800100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Cifra contable, o diferencia grande con muestra suficiente</a:t>
            </a:r>
            <a:endParaRPr lang="en-US" sz="1150" dirty="0"/>
          </a:p>
        </p:txBody>
      </p:sp>
      <p:sp>
        <p:nvSpPr>
          <p:cNvPr id="13" name="texto-95"/>
          <p:cNvSpPr txBox="1"/>
          <p:nvPr/>
        </p:nvSpPr>
        <p:spPr>
          <a:xfrm>
            <a:off x="6812280" y="2633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04A"/>
                </a:solidFill>
              </a:rPr>
              <a:t>●  Media</a:t>
            </a:r>
            <a:endParaRPr lang="en-US" sz="1300" dirty="0"/>
          </a:p>
        </p:txBody>
      </p:sp>
      <p:sp>
        <p:nvSpPr>
          <p:cNvPr id="14" name="texto-96"/>
          <p:cNvSpPr txBox="1"/>
          <p:nvPr/>
        </p:nvSpPr>
        <p:spPr>
          <a:xfrm>
            <a:off x="8001000" y="26334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Tendencia clara con grupos de 10 a 30 clientes</a:t>
            </a:r>
            <a:endParaRPr lang="en-US" sz="1150" dirty="0"/>
          </a:p>
        </p:txBody>
      </p:sp>
      <p:sp>
        <p:nvSpPr>
          <p:cNvPr id="15" name="texto-97"/>
          <p:cNvSpPr txBox="1"/>
          <p:nvPr/>
        </p:nvSpPr>
        <p:spPr>
          <a:xfrm>
            <a:off x="6812280" y="31638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74B"/>
                </a:solidFill>
              </a:rPr>
              <a:t>●  Baja</a:t>
            </a:r>
            <a:endParaRPr lang="en-US" sz="1300" dirty="0"/>
          </a:p>
        </p:txBody>
      </p:sp>
      <p:sp>
        <p:nvSpPr>
          <p:cNvPr id="16" name="texto-98"/>
          <p:cNvSpPr txBox="1"/>
          <p:nvPr/>
        </p:nvSpPr>
        <p:spPr>
          <a:xfrm>
            <a:off x="8001000" y="31638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Pocos casos: indica la dirección, no la magnitud</a:t>
            </a:r>
            <a:endParaRPr lang="en-US" sz="1150" dirty="0"/>
          </a:p>
        </p:txBody>
      </p:sp>
      <p:sp>
        <p:nvSpPr>
          <p:cNvPr id="17" name="tarjeta-99"/>
          <p:cNvSpPr/>
          <p:nvPr/>
        </p:nvSpPr>
        <p:spPr>
          <a:xfrm>
            <a:off x="6537960" y="3886200"/>
            <a:ext cx="5102352" cy="2148840"/>
          </a:xfrm>
          <a:prstGeom prst="roundRect">
            <a:avLst>
              <a:gd name="adj" fmla="val 5957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8" name="texto-100"/>
          <p:cNvSpPr txBox="1"/>
          <p:nvPr/>
        </p:nvSpPr>
        <p:spPr>
          <a:xfrm>
            <a:off x="6812280" y="4069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CÓMO SE LEE CADA CONCLUSIÓN</a:t>
            </a:r>
            <a:endParaRPr lang="en-US" sz="1050" dirty="0"/>
          </a:p>
        </p:txBody>
      </p:sp>
      <p:sp>
        <p:nvSpPr>
          <p:cNvPr id="19" name="texto-101"/>
          <p:cNvSpPr txBox="1"/>
          <p:nvPr/>
        </p:nvSpPr>
        <p:spPr>
          <a:xfrm>
            <a:off x="6812280" y="4370832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Título: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la conclusión, con su cifra y su comparación.</a:t>
            </a:r>
            <a:endParaRPr lang="en-US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Ficha: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pregunta, confianza, panel y query.</a:t>
            </a:r>
            <a:endParaRPr lang="en-US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Qué dice el dato: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el hecho, con su gráfico o tabla.</a:t>
            </a:r>
            <a:endParaRPr lang="en-US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Por qué importa: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qué hacer, con cifra.</a:t>
            </a:r>
            <a:endParaRPr lang="en-US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Cómo lo he calculado: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el criterio, abajo.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02"/>
          <p:cNvSpPr txBox="1"/>
          <p:nvPr/>
        </p:nvSpPr>
        <p:spPr>
          <a:xfrm>
            <a:off x="73152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9A7B"/>
                </a:solidFill>
              </a:rPr>
              <a:t>BLOQUE A · PREGUNTA 1 DE DIRECCIÓN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Cuánto hemos vendido y cómo ha evolucionado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Respuesta corta: 38.531 € netos, sin tendencia, y cada mes con más peso de los clientes que ya compraban.</a:t>
            </a:r>
            <a:endParaRPr lang="en-US" sz="1800" dirty="0"/>
          </a:p>
        </p:txBody>
      </p:sp>
      <p:sp>
        <p:nvSpPr>
          <p:cNvPr id="5" name="chip-103"/>
          <p:cNvSpPr/>
          <p:nvPr/>
        </p:nvSpPr>
        <p:spPr>
          <a:xfrm>
            <a:off x="731520" y="45720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6" name="texto-104"/>
          <p:cNvSpPr txBox="1"/>
          <p:nvPr/>
        </p:nvSpPr>
        <p:spPr>
          <a:xfrm>
            <a:off x="731520" y="45720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C1</a:t>
            </a:r>
            <a:endParaRPr lang="en-US" sz="1200" dirty="0"/>
          </a:p>
        </p:txBody>
      </p:sp>
      <p:sp>
        <p:nvSpPr>
          <p:cNvPr id="7" name="texto-105"/>
          <p:cNvSpPr txBox="1"/>
          <p:nvPr/>
        </p:nvSpPr>
        <p:spPr>
          <a:xfrm>
            <a:off x="1463040" y="45720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El semestre deja 38.531 € de venta neta</a:t>
            </a:r>
            <a:endParaRPr lang="en-US" sz="1500" dirty="0"/>
          </a:p>
        </p:txBody>
      </p:sp>
      <p:sp>
        <p:nvSpPr>
          <p:cNvPr id="8" name="chip-106"/>
          <p:cNvSpPr/>
          <p:nvPr/>
        </p:nvSpPr>
        <p:spPr>
          <a:xfrm>
            <a:off x="731520" y="50292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9" name="texto-107"/>
          <p:cNvSpPr txBox="1"/>
          <p:nvPr/>
        </p:nvSpPr>
        <p:spPr>
          <a:xfrm>
            <a:off x="731520" y="50292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C2</a:t>
            </a:r>
            <a:endParaRPr lang="en-US" sz="1200" dirty="0"/>
          </a:p>
        </p:txBody>
      </p:sp>
      <p:sp>
        <p:nvSpPr>
          <p:cNvPr id="10" name="texto-108"/>
          <p:cNvSpPr txBox="1"/>
          <p:nvPr/>
        </p:nvSpPr>
        <p:spPr>
          <a:xfrm>
            <a:off x="1463040" y="50292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 venta no crece y depende de quien ya compraba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09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A · VENTAS · C1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El semestre deja 38.531 € de venta neta, unos 6.400 € al mes: un 24 % menos que el subtotal bruto</a:t>
            </a:r>
            <a:endParaRPr lang="en-US" sz="2300" dirty="0"/>
          </a:p>
        </p:txBody>
      </p:sp>
      <p:sp>
        <p:nvSpPr>
          <p:cNvPr id="4" name="chip-110"/>
          <p:cNvSpPr/>
          <p:nvPr/>
        </p:nvSpPr>
        <p:spPr>
          <a:xfrm>
            <a:off x="548640" y="1444752"/>
            <a:ext cx="1325880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111"/>
          <p:cNvSpPr txBox="1"/>
          <p:nvPr/>
        </p:nvSpPr>
        <p:spPr>
          <a:xfrm>
            <a:off x="548640" y="14447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 · Pregunta 1</a:t>
            </a:r>
            <a:endParaRPr lang="en-US" sz="1000" dirty="0"/>
          </a:p>
        </p:txBody>
      </p:sp>
      <p:sp>
        <p:nvSpPr>
          <p:cNvPr id="6" name="chip-112"/>
          <p:cNvSpPr/>
          <p:nvPr/>
        </p:nvSpPr>
        <p:spPr>
          <a:xfrm>
            <a:off x="1984248" y="1444752"/>
            <a:ext cx="146121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113"/>
          <p:cNvSpPr txBox="1"/>
          <p:nvPr/>
        </p:nvSpPr>
        <p:spPr>
          <a:xfrm>
            <a:off x="1984248" y="1444752"/>
            <a:ext cx="14612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9A7B"/>
                </a:solidFill>
              </a:rPr>
              <a:t>●  Confianza alta</a:t>
            </a:r>
            <a:endParaRPr lang="en-US" sz="1000" dirty="0"/>
          </a:p>
        </p:txBody>
      </p:sp>
      <p:sp>
        <p:nvSpPr>
          <p:cNvPr id="8" name="chip-114"/>
          <p:cNvSpPr/>
          <p:nvPr/>
        </p:nvSpPr>
        <p:spPr>
          <a:xfrm>
            <a:off x="3555187" y="1444752"/>
            <a:ext cx="2611526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115"/>
          <p:cNvSpPr txBox="1"/>
          <p:nvPr/>
        </p:nvSpPr>
        <p:spPr>
          <a:xfrm>
            <a:off x="3555187" y="1444752"/>
            <a:ext cx="26115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Resumen › Indicadores clave</a:t>
            </a:r>
            <a:endParaRPr lang="en-US" sz="1000" dirty="0"/>
          </a:p>
        </p:txBody>
      </p:sp>
      <p:sp>
        <p:nvSpPr>
          <p:cNvPr id="10" name="chip-116"/>
          <p:cNvSpPr/>
          <p:nvPr/>
        </p:nvSpPr>
        <p:spPr>
          <a:xfrm>
            <a:off x="6276442" y="1444752"/>
            <a:ext cx="1828800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117"/>
          <p:cNvSpPr txBox="1"/>
          <p:nvPr/>
        </p:nvSpPr>
        <p:spPr>
          <a:xfrm>
            <a:off x="6276442" y="144475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c1_venta_neta_h1.sql</a:t>
            </a:r>
            <a:endParaRPr lang="en-US" sz="1000" dirty="0"/>
          </a:p>
        </p:txBody>
      </p:sp>
      <p:sp>
        <p:nvSpPr>
          <p:cNvPr id="12" name="tarjeta-118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119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120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En H1 hay 614 pedidos con venta y 131 compradores. Del subtotal bruto a la venta neta se pierde un 24 %, sobre todo por cancelados y devoluciones.</a:t>
            </a:r>
            <a:endParaRPr lang="en-US" sz="1250" dirty="0"/>
          </a:p>
        </p:txBody>
      </p:sp>
      <p:graphicFrame>
        <p:nvGraphicFramePr>
          <p:cNvPr id="10" name="tabla-puen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35808"/>
          <a:ext cx="626364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91440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Paso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Pedidos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Importe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Subtotal bruto de H1, todos los pedidos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719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50.827 €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− Pedidos excluidos (borrados o precio anómalo)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−19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−702 €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− Líneas de fichas inactivas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−18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−3.358 €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− Cancelados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−68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−4.727 €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= Venta H1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614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42.041 €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− Devoluciones (45 enteras y 13 parciales)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513"/>
                          </a:solidFill>
                        </a:rPr>
                        <a:t>−3.510 €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= Venta neta H1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614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38.531 €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arjeta-121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texto-122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37.217 €</a:t>
            </a:r>
            <a:endParaRPr lang="en-US" sz="2800" dirty="0"/>
          </a:p>
        </p:txBody>
      </p:sp>
      <p:sp>
        <p:nvSpPr>
          <p:cNvPr id="18" name="texto-123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venta neta si los códigos hubieran aplicado el descuento que prometen (−1.314 €, −3,4 %)</a:t>
            </a:r>
            <a:endParaRPr lang="en-US" sz="1100" dirty="0"/>
          </a:p>
        </p:txBody>
      </p:sp>
      <p:sp>
        <p:nvSpPr>
          <p:cNvPr id="19" name="tarjeta-124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0" name="texto-125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1" name="texto-126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Base para H2: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unos 6.400 € netos al mes, no los 50.000 € de subtotal bruto.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Qué cifra usar: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38.531 € (sin descuentos, como finanzas) o 37.217 € si se contemplan.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Registrar ya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el descuento aplicado en cada pedido (C9).</a:t>
            </a:r>
            <a:endParaRPr lang="en-US" sz="1150" dirty="0"/>
          </a:p>
        </p:txBody>
      </p:sp>
      <p:sp>
        <p:nvSpPr>
          <p:cNvPr id="22" name="texto-127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pedidos válidos de H1 no cancelados · cantidad × precio cobrado en fichas activas, sin IVA ni envío · menos devoluciones enteras y parciales · pendientes cuentan.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28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A · VENTAS · C2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La venta no crece y vive de quien ya compraba: en junio, el 85 % viene de clientes previos y solo llegan 10 nuevos</a:t>
            </a:r>
            <a:endParaRPr lang="en-US" sz="2300" dirty="0"/>
          </a:p>
        </p:txBody>
      </p:sp>
      <p:sp>
        <p:nvSpPr>
          <p:cNvPr id="4" name="chip-129"/>
          <p:cNvSpPr/>
          <p:nvPr/>
        </p:nvSpPr>
        <p:spPr>
          <a:xfrm>
            <a:off x="548640" y="1444752"/>
            <a:ext cx="1325880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130"/>
          <p:cNvSpPr txBox="1"/>
          <p:nvPr/>
        </p:nvSpPr>
        <p:spPr>
          <a:xfrm>
            <a:off x="548640" y="14447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C2 · Pregunta 1</a:t>
            </a:r>
            <a:endParaRPr lang="en-US" sz="1000" dirty="0"/>
          </a:p>
        </p:txBody>
      </p:sp>
      <p:sp>
        <p:nvSpPr>
          <p:cNvPr id="6" name="chip-131"/>
          <p:cNvSpPr/>
          <p:nvPr/>
        </p:nvSpPr>
        <p:spPr>
          <a:xfrm>
            <a:off x="1984248" y="1444752"/>
            <a:ext cx="1528877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132"/>
          <p:cNvSpPr txBox="1"/>
          <p:nvPr/>
        </p:nvSpPr>
        <p:spPr>
          <a:xfrm>
            <a:off x="1984248" y="1444752"/>
            <a:ext cx="152887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04A"/>
                </a:solidFill>
              </a:rPr>
              <a:t>●  Confianza media</a:t>
            </a:r>
            <a:endParaRPr lang="en-US" sz="1000" dirty="0"/>
          </a:p>
        </p:txBody>
      </p:sp>
      <p:sp>
        <p:nvSpPr>
          <p:cNvPr id="8" name="chip-133"/>
          <p:cNvSpPr/>
          <p:nvPr/>
        </p:nvSpPr>
        <p:spPr>
          <a:xfrm>
            <a:off x="3622853" y="1444752"/>
            <a:ext cx="254386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134"/>
          <p:cNvSpPr txBox="1"/>
          <p:nvPr/>
        </p:nvSpPr>
        <p:spPr>
          <a:xfrm>
            <a:off x="3622853" y="1444752"/>
            <a:ext cx="25438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Clientes › Pedidos por mes</a:t>
            </a:r>
            <a:endParaRPr lang="en-US" sz="1000" dirty="0"/>
          </a:p>
        </p:txBody>
      </p:sp>
      <p:sp>
        <p:nvSpPr>
          <p:cNvPr id="10" name="chip-135"/>
          <p:cNvSpPr/>
          <p:nvPr/>
        </p:nvSpPr>
        <p:spPr>
          <a:xfrm>
            <a:off x="6276442" y="1444752"/>
            <a:ext cx="213238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136"/>
          <p:cNvSpPr txBox="1"/>
          <p:nvPr/>
        </p:nvSpPr>
        <p:spPr>
          <a:xfrm>
            <a:off x="6276442" y="1444752"/>
            <a:ext cx="213238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c2_evolucion_mensual.sql</a:t>
            </a:r>
            <a:endParaRPr lang="en-US" sz="1000" dirty="0"/>
          </a:p>
        </p:txBody>
      </p:sp>
      <p:sp>
        <p:nvSpPr>
          <p:cNvPr id="12" name="tarjeta-137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138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139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La venta neta oscila entre 4.738 y 8.436 € al mes, sin tendencia. Los clientes nuevos caen de 29 a 10, y la caída de junio es de Orgánico (de 12 en marzo a 3).</a:t>
            </a:r>
            <a:endParaRPr lang="en-US" sz="1250" dirty="0"/>
          </a:p>
        </p:txBody>
      </p:sp>
      <p:sp>
        <p:nvSpPr>
          <p:cNvPr id="15" name="texto-140"/>
          <p:cNvSpPr txBox="1"/>
          <p:nvPr/>
        </p:nvSpPr>
        <p:spPr>
          <a:xfrm>
            <a:off x="822960" y="299008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Clientes nuevos por mes y canal de su primer pedido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77240" y="3264408"/>
          <a:ext cx="6355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arjeta-141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111513">
              <a:alpha val="88000"/>
            </a:srgbClr>
          </a:solidFill>
          <a:ln w="9525">
            <a:solidFill>
              <a:srgbClr val="2C302E"/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8" name="texto-142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85 %</a:t>
            </a:r>
            <a:endParaRPr lang="en-US" sz="2800" dirty="0"/>
          </a:p>
        </p:txBody>
      </p:sp>
      <p:sp>
        <p:nvSpPr>
          <p:cNvPr id="19" name="texto-143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 la venta neta de junio viene de clientes previos (56 % en febrero)</a:t>
            </a:r>
            <a:endParaRPr lang="en-US" sz="1100" dirty="0"/>
          </a:p>
        </p:txBody>
      </p:sp>
      <p:sp>
        <p:nvSpPr>
          <p:cNvPr id="20" name="tarjeta-144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1" name="texto-145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2" name="texto-146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H2 no crecerá sin captar: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cada cohorte repite menos (C4).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Revisar SEO y alta web de junio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antes de mover presupuesto: los canales de pago aguantan (7).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Objetivo: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20 o más clientes nuevos al mes (media de feb–may: 23).</a:t>
            </a:r>
            <a:endParaRPr lang="en-US" sz="1150" dirty="0"/>
          </a:p>
        </p:txBody>
      </p:sp>
      <p:sp>
        <p:nvSpPr>
          <p:cNvPr id="23" name="texto-147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cliente nuevo = primer pedido válido no cancelado, en su mes y canal · % de clientes previos = venta neta de clientes cuyo primer pedido es de un mes anterior.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48"/>
          <p:cNvSpPr txBox="1"/>
          <p:nvPr/>
        </p:nvSpPr>
        <p:spPr>
          <a:xfrm>
            <a:off x="73152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9A7B"/>
                </a:solidFill>
              </a:rPr>
              <a:t>BLOQUE B · PREGUNTAS 1 Y 4 DE DIRECCIÓN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Quién compra y si vuelve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Respuesta corta: es una base pequeña y concentrada en Alemania, y cada nueva cohorte repite menos que la anterior.</a:t>
            </a:r>
            <a:endParaRPr lang="en-US" sz="1800" dirty="0"/>
          </a:p>
        </p:txBody>
      </p:sp>
      <p:sp>
        <p:nvSpPr>
          <p:cNvPr id="5" name="chip-149"/>
          <p:cNvSpPr/>
          <p:nvPr/>
        </p:nvSpPr>
        <p:spPr>
          <a:xfrm>
            <a:off x="731520" y="45720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6" name="texto-150"/>
          <p:cNvSpPr txBox="1"/>
          <p:nvPr/>
        </p:nvSpPr>
        <p:spPr>
          <a:xfrm>
            <a:off x="731520" y="45720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C3</a:t>
            </a:r>
            <a:endParaRPr lang="en-US" sz="1200" dirty="0"/>
          </a:p>
        </p:txBody>
      </p:sp>
      <p:sp>
        <p:nvSpPr>
          <p:cNvPr id="7" name="texto-151"/>
          <p:cNvSpPr txBox="1"/>
          <p:nvPr/>
        </p:nvSpPr>
        <p:spPr>
          <a:xfrm>
            <a:off x="1463040" y="45720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Alemania hace la mitad de la venta con el 21 % de los compradores</a:t>
            </a:r>
            <a:endParaRPr lang="en-US" sz="1500" dirty="0"/>
          </a:p>
        </p:txBody>
      </p:sp>
      <p:sp>
        <p:nvSpPr>
          <p:cNvPr id="8" name="chip-152"/>
          <p:cNvSpPr/>
          <p:nvPr/>
        </p:nvSpPr>
        <p:spPr>
          <a:xfrm>
            <a:off x="731520" y="50292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9" name="texto-153"/>
          <p:cNvSpPr txBox="1"/>
          <p:nvPr/>
        </p:nvSpPr>
        <p:spPr>
          <a:xfrm>
            <a:off x="731520" y="50292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C4</a:t>
            </a:r>
            <a:endParaRPr lang="en-US" sz="1200" dirty="0"/>
          </a:p>
        </p:txBody>
      </p:sp>
      <p:sp>
        <p:nvSpPr>
          <p:cNvPr id="10" name="texto-154"/>
          <p:cNvSpPr txBox="1"/>
          <p:nvPr/>
        </p:nvSpPr>
        <p:spPr>
          <a:xfrm>
            <a:off x="1463040" y="50292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Cada cohorte repite menos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55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B · CLIENTES · C3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28 compradores alemanes (21,4 %) hacen el 49,3 % de la venta neta: cada uno deja 678 €, frente a 190 € uno español</a:t>
            </a:r>
            <a:endParaRPr lang="en-US" sz="2300" dirty="0"/>
          </a:p>
        </p:txBody>
      </p:sp>
      <p:sp>
        <p:nvSpPr>
          <p:cNvPr id="4" name="chip-156"/>
          <p:cNvSpPr/>
          <p:nvPr/>
        </p:nvSpPr>
        <p:spPr>
          <a:xfrm>
            <a:off x="548640" y="1444752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157"/>
          <p:cNvSpPr txBox="1"/>
          <p:nvPr/>
        </p:nvSpPr>
        <p:spPr>
          <a:xfrm>
            <a:off x="548640" y="1444752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 · Preguntas 1 y 4</a:t>
            </a:r>
            <a:endParaRPr lang="en-US" sz="1000" dirty="0"/>
          </a:p>
        </p:txBody>
      </p:sp>
      <p:sp>
        <p:nvSpPr>
          <p:cNvPr id="6" name="chip-158"/>
          <p:cNvSpPr/>
          <p:nvPr/>
        </p:nvSpPr>
        <p:spPr>
          <a:xfrm>
            <a:off x="2322576" y="1444752"/>
            <a:ext cx="146121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159"/>
          <p:cNvSpPr txBox="1"/>
          <p:nvPr/>
        </p:nvSpPr>
        <p:spPr>
          <a:xfrm>
            <a:off x="2322576" y="1444752"/>
            <a:ext cx="14612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9A7B"/>
                </a:solidFill>
              </a:rPr>
              <a:t>●  Confianza alta</a:t>
            </a:r>
            <a:endParaRPr lang="en-US" sz="1000" dirty="0"/>
          </a:p>
        </p:txBody>
      </p:sp>
      <p:sp>
        <p:nvSpPr>
          <p:cNvPr id="8" name="chip-160"/>
          <p:cNvSpPr/>
          <p:nvPr/>
        </p:nvSpPr>
        <p:spPr>
          <a:xfrm>
            <a:off x="3893515" y="1444752"/>
            <a:ext cx="2882189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161"/>
          <p:cNvSpPr txBox="1"/>
          <p:nvPr/>
        </p:nvSpPr>
        <p:spPr>
          <a:xfrm>
            <a:off x="3893515" y="1444752"/>
            <a:ext cx="28821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Clientes › Compradores por país</a:t>
            </a:r>
            <a:endParaRPr lang="en-US" sz="1000" dirty="0"/>
          </a:p>
        </p:txBody>
      </p:sp>
      <p:sp>
        <p:nvSpPr>
          <p:cNvPr id="10" name="chip-162"/>
          <p:cNvSpPr/>
          <p:nvPr/>
        </p:nvSpPr>
        <p:spPr>
          <a:xfrm>
            <a:off x="6885432" y="1444752"/>
            <a:ext cx="2511857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163"/>
          <p:cNvSpPr txBox="1"/>
          <p:nvPr/>
        </p:nvSpPr>
        <p:spPr>
          <a:xfrm>
            <a:off x="6885432" y="1444752"/>
            <a:ext cx="25118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c3_alemania_pais_registro.sql</a:t>
            </a:r>
            <a:endParaRPr lang="en-US" sz="1000" dirty="0"/>
          </a:p>
        </p:txBody>
      </p:sp>
      <p:sp>
        <p:nvSpPr>
          <p:cNvPr id="12" name="tarjeta-164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165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166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Alemania y España venden casi lo mismo con muy distinto número de compradores, y 17 de los 20 mayores clientes son alemanes: es el mismo riesgo.</a:t>
            </a:r>
            <a:endParaRPr lang="en-US" sz="1250" dirty="0"/>
          </a:p>
        </p:txBody>
      </p:sp>
      <p:graphicFrame>
        <p:nvGraphicFramePr>
          <p:cNvPr id="13" name="tabla-pais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81528"/>
          <a:ext cx="62636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Alemania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España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Compradores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28 (21,4 %)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103 (78,6 %)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Venta neta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18.979 € (49,3 %)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19.552 € (50,7 %)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Pedidos por cliente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9,4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3,4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Venta neta por cliente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678 €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190 €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Entre los 20 mayores clientes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Con 10 o más pedidos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arjeta-167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texto-168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53,5 %</a:t>
            </a:r>
            <a:endParaRPr lang="en-US" sz="2800" dirty="0"/>
          </a:p>
        </p:txBody>
      </p:sp>
      <p:sp>
        <p:nvSpPr>
          <p:cNvPr id="18" name="texto-169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 la venta neta la hacen los 20 mayores clientes (los 10 mayores, el 35,2 %)</a:t>
            </a:r>
            <a:endParaRPr lang="en-US" sz="1100" dirty="0"/>
          </a:p>
        </p:txBody>
      </p:sp>
      <p:sp>
        <p:nvSpPr>
          <p:cNvPr id="19" name="tarjeta-170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0" name="texto-171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1" name="texto-172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Captar en Alemania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aceptando un coste por cliente mayor: vale 3,6 veces más. Probarlo con un test.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Etiquetar el país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en el gasto de marketing: hoy no lo tiene.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Alerta de inactividad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para los 20 mayores clientes.</a:t>
            </a:r>
            <a:endParaRPr lang="en-US" sz="1150" dirty="0"/>
          </a:p>
        </p:txBody>
      </p:sp>
      <p:sp>
        <p:nvSpPr>
          <p:cNvPr id="22" name="texto-173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país de registro del cliente (customers.country) · venta neta de H1 · por país de envío, Alemania sería el 50,2 % · concentración en c3b_concentracion_top20.sql.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74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B · CLIENTES · C4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Cada cohorte repite menos: vuelve en 30 días el 82,8 % de los captados en enero y solo el 42,1 % de los de mayo</a:t>
            </a:r>
            <a:endParaRPr lang="en-US" sz="2300" dirty="0"/>
          </a:p>
        </p:txBody>
      </p:sp>
      <p:sp>
        <p:nvSpPr>
          <p:cNvPr id="4" name="chip-175"/>
          <p:cNvSpPr/>
          <p:nvPr/>
        </p:nvSpPr>
        <p:spPr>
          <a:xfrm>
            <a:off x="548640" y="1444752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176"/>
          <p:cNvSpPr txBox="1"/>
          <p:nvPr/>
        </p:nvSpPr>
        <p:spPr>
          <a:xfrm>
            <a:off x="548640" y="1444752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C4 · Preguntas 1 y 4</a:t>
            </a:r>
            <a:endParaRPr lang="en-US" sz="1000" dirty="0"/>
          </a:p>
        </p:txBody>
      </p:sp>
      <p:sp>
        <p:nvSpPr>
          <p:cNvPr id="6" name="chip-177"/>
          <p:cNvSpPr/>
          <p:nvPr/>
        </p:nvSpPr>
        <p:spPr>
          <a:xfrm>
            <a:off x="2322576" y="1444752"/>
            <a:ext cx="1528877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178"/>
          <p:cNvSpPr txBox="1"/>
          <p:nvPr/>
        </p:nvSpPr>
        <p:spPr>
          <a:xfrm>
            <a:off x="2322576" y="1444752"/>
            <a:ext cx="152887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04A"/>
                </a:solidFill>
              </a:rPr>
              <a:t>●  Confianza media</a:t>
            </a:r>
            <a:endParaRPr lang="en-US" sz="1000" dirty="0"/>
          </a:p>
        </p:txBody>
      </p:sp>
      <p:sp>
        <p:nvSpPr>
          <p:cNvPr id="8" name="chip-179"/>
          <p:cNvSpPr/>
          <p:nvPr/>
        </p:nvSpPr>
        <p:spPr>
          <a:xfrm>
            <a:off x="3961181" y="1444752"/>
            <a:ext cx="2746858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180"/>
          <p:cNvSpPr txBox="1"/>
          <p:nvPr/>
        </p:nvSpPr>
        <p:spPr>
          <a:xfrm>
            <a:off x="3961181" y="1444752"/>
            <a:ext cx="2746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Clientes › Valor y frecuencia</a:t>
            </a:r>
            <a:endParaRPr lang="en-US" sz="1000" dirty="0"/>
          </a:p>
        </p:txBody>
      </p:sp>
      <p:sp>
        <p:nvSpPr>
          <p:cNvPr id="10" name="chip-181"/>
          <p:cNvSpPr/>
          <p:nvPr/>
        </p:nvSpPr>
        <p:spPr>
          <a:xfrm>
            <a:off x="6817766" y="1444752"/>
            <a:ext cx="213238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182"/>
          <p:cNvSpPr txBox="1"/>
          <p:nvPr/>
        </p:nvSpPr>
        <p:spPr>
          <a:xfrm>
            <a:off x="6817766" y="1444752"/>
            <a:ext cx="213238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c4_recompra_cohortes.sql</a:t>
            </a:r>
            <a:endParaRPr lang="en-US" sz="1000" dirty="0"/>
          </a:p>
        </p:txBody>
      </p:sp>
      <p:sp>
        <p:nvSpPr>
          <p:cNvPr id="12" name="tarjeta-183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184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185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La recompra a 30 días baja todos los meses, sin excepción: repiten 24 de los 29 clientes captados en enero y 8 de los 19 captados en mayo.</a:t>
            </a:r>
            <a:endParaRPr lang="en-US" sz="1250" dirty="0"/>
          </a:p>
        </p:txBody>
      </p:sp>
      <p:sp>
        <p:nvSpPr>
          <p:cNvPr id="15" name="texto-186"/>
          <p:cNvSpPr txBox="1"/>
          <p:nvPr/>
        </p:nvSpPr>
        <p:spPr>
          <a:xfrm>
            <a:off x="822960" y="299008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Clientes que repiten en 30 días, por mes del primer pedido (%)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77240" y="3264408"/>
          <a:ext cx="6355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arjeta-187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8" name="texto-188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232 €</a:t>
            </a:r>
            <a:endParaRPr lang="en-US" sz="2800" dirty="0"/>
          </a:p>
        </p:txBody>
      </p:sp>
      <p:sp>
        <p:nvSpPr>
          <p:cNvPr id="19" name="texto-189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deja a 90 días un cliente nuevo de febrero–abril: la mitad que uno de enero (464 €)</a:t>
            </a:r>
            <a:endParaRPr lang="en-US" sz="1100" dirty="0"/>
          </a:p>
        </p:txBody>
      </p:sp>
      <p:sp>
        <p:nvSpPr>
          <p:cNvPr id="20" name="tarjeta-190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1" name="texto-191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2" name="texto-192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Mensaje de segundo pedido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a los 10 días del primero.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KPI mensual: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recompra a 30 días de la última cohorte.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Valorar la captación a 232 €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por cliente, no con la media del semestre.</a:t>
            </a:r>
            <a:endParaRPr lang="en-US" sz="1150" dirty="0"/>
          </a:p>
        </p:txBody>
      </p:sp>
      <p:sp>
        <p:nvSpPr>
          <p:cNvPr id="23" name="texto-193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segundo pedido no cancelado en los 30 días siguientes al primero · solo cohortes con 30 días observables (junio fuera: 6 clientes) · valor a 90 días en c4b.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94"/>
          <p:cNvSpPr txBox="1"/>
          <p:nvPr/>
        </p:nvSpPr>
        <p:spPr>
          <a:xfrm>
            <a:off x="73152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9A7B"/>
                </a:solidFill>
              </a:rPr>
              <a:t>BLOQUE C · PREGUNTA 2 DE DIRECCIÓN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Qué canales merecen más inversión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Respuesta corta: más a Email y Google, TikTok por tramos y menos a Meta e Instagram. Se comparan de marzo a junio, por coste por cliente nuevo.</a:t>
            </a:r>
            <a:endParaRPr lang="en-US" sz="1800" dirty="0"/>
          </a:p>
        </p:txBody>
      </p:sp>
      <p:sp>
        <p:nvSpPr>
          <p:cNvPr id="5" name="chip-195"/>
          <p:cNvSpPr/>
          <p:nvPr/>
        </p:nvSpPr>
        <p:spPr>
          <a:xfrm>
            <a:off x="731520" y="45720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6" name="texto-196"/>
          <p:cNvSpPr txBox="1"/>
          <p:nvPr/>
        </p:nvSpPr>
        <p:spPr>
          <a:xfrm>
            <a:off x="731520" y="45720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C5</a:t>
            </a:r>
            <a:endParaRPr lang="en-US" sz="1200" dirty="0"/>
          </a:p>
        </p:txBody>
      </p:sp>
      <p:sp>
        <p:nvSpPr>
          <p:cNvPr id="7" name="texto-197"/>
          <p:cNvSpPr txBox="1"/>
          <p:nvPr/>
        </p:nvSpPr>
        <p:spPr>
          <a:xfrm>
            <a:off x="1463040" y="45720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Email, Google y TikTok captan mucho más barato que Meta e Instagram</a:t>
            </a:r>
            <a:endParaRPr lang="en-US" sz="1500" dirty="0"/>
          </a:p>
        </p:txBody>
      </p:sp>
      <p:sp>
        <p:nvSpPr>
          <p:cNvPr id="8" name="chip-198"/>
          <p:cNvSpPr/>
          <p:nvPr/>
        </p:nvSpPr>
        <p:spPr>
          <a:xfrm>
            <a:off x="731520" y="50292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9" name="texto-199"/>
          <p:cNvSpPr txBox="1"/>
          <p:nvPr/>
        </p:nvSpPr>
        <p:spPr>
          <a:xfrm>
            <a:off x="731520" y="50292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C6</a:t>
            </a:r>
            <a:endParaRPr lang="en-US" sz="1200" dirty="0"/>
          </a:p>
        </p:txBody>
      </p:sp>
      <p:sp>
        <p:nvSpPr>
          <p:cNvPr id="10" name="texto-200"/>
          <p:cNvSpPr txBox="1"/>
          <p:nvPr/>
        </p:nvSpPr>
        <p:spPr>
          <a:xfrm>
            <a:off x="1463040" y="50292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TikTok vendió más gastando 20 veces menos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01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C · CANALES · C5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Desde marzo, captar un cliente nuevo cuesta 32–59 € en TikTok, Email y Google, frente a 167 € en Meta y 725 € en Instagram</a:t>
            </a:r>
            <a:endParaRPr lang="en-US" sz="2300" dirty="0"/>
          </a:p>
        </p:txBody>
      </p:sp>
      <p:sp>
        <p:nvSpPr>
          <p:cNvPr id="4" name="chip-202"/>
          <p:cNvSpPr/>
          <p:nvPr/>
        </p:nvSpPr>
        <p:spPr>
          <a:xfrm>
            <a:off x="548640" y="1444752"/>
            <a:ext cx="1325880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203"/>
          <p:cNvSpPr txBox="1"/>
          <p:nvPr/>
        </p:nvSpPr>
        <p:spPr>
          <a:xfrm>
            <a:off x="548640" y="14447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C5 · Pregunta 2</a:t>
            </a:r>
            <a:endParaRPr lang="en-US" sz="1000" dirty="0"/>
          </a:p>
        </p:txBody>
      </p:sp>
      <p:sp>
        <p:nvSpPr>
          <p:cNvPr id="6" name="chip-204"/>
          <p:cNvSpPr/>
          <p:nvPr/>
        </p:nvSpPr>
        <p:spPr>
          <a:xfrm>
            <a:off x="1984248" y="1444752"/>
            <a:ext cx="315285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205"/>
          <p:cNvSpPr txBox="1"/>
          <p:nvPr/>
        </p:nvSpPr>
        <p:spPr>
          <a:xfrm>
            <a:off x="1984248" y="1444752"/>
            <a:ext cx="31528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4B"/>
                </a:solidFill>
              </a:rPr>
              <a:t>●  Confianza baja (cifras) · media (orden)</a:t>
            </a:r>
            <a:endParaRPr lang="en-US" sz="1000" dirty="0"/>
          </a:p>
        </p:txBody>
      </p:sp>
      <p:sp>
        <p:nvSpPr>
          <p:cNvPr id="8" name="chip-206"/>
          <p:cNvSpPr/>
          <p:nvPr/>
        </p:nvSpPr>
        <p:spPr>
          <a:xfrm>
            <a:off x="5246827" y="1444752"/>
            <a:ext cx="3355848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207"/>
          <p:cNvSpPr txBox="1"/>
          <p:nvPr/>
        </p:nvSpPr>
        <p:spPr>
          <a:xfrm>
            <a:off x="5246827" y="1444752"/>
            <a:ext cx="3355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Marketing › Qué canal capta más barato</a:t>
            </a:r>
            <a:endParaRPr lang="en-US" sz="1000" dirty="0"/>
          </a:p>
        </p:txBody>
      </p:sp>
      <p:sp>
        <p:nvSpPr>
          <p:cNvPr id="10" name="chip-208"/>
          <p:cNvSpPr/>
          <p:nvPr/>
        </p:nvSpPr>
        <p:spPr>
          <a:xfrm>
            <a:off x="8712403" y="1444752"/>
            <a:ext cx="2739542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209"/>
          <p:cNvSpPr txBox="1"/>
          <p:nvPr/>
        </p:nvSpPr>
        <p:spPr>
          <a:xfrm>
            <a:off x="8712403" y="1444752"/>
            <a:ext cx="273954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c5_coste_cliente_nuevo_canal.sql</a:t>
            </a:r>
            <a:endParaRPr lang="en-US" sz="1000" dirty="0"/>
          </a:p>
        </p:txBody>
      </p:sp>
      <p:sp>
        <p:nvSpPr>
          <p:cNvPr id="12" name="tarjeta-210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211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212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Meta cuesta casi 3 veces más por cliente nuevo que Google, e Instagram 12 veces más. Entre el 75,5 % y el 92,5 % de la venta de cada canal de pago es recompra.</a:t>
            </a:r>
            <a:endParaRPr lang="en-US" sz="1250" dirty="0"/>
          </a:p>
        </p:txBody>
      </p:sp>
      <p:sp>
        <p:nvSpPr>
          <p:cNvPr id="15" name="texto-213"/>
          <p:cNvSpPr txBox="1"/>
          <p:nvPr/>
        </p:nvSpPr>
        <p:spPr>
          <a:xfrm>
            <a:off x="822960" y="299008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Coste por cliente nuevo, marzo a junio (€) · clientes nuevos captados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77240" y="3264408"/>
          <a:ext cx="6355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arjeta-214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8" name="texto-215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≈ 18 clientes</a:t>
            </a:r>
            <a:endParaRPr lang="en-US" sz="2800" dirty="0"/>
          </a:p>
        </p:txBody>
      </p:sp>
      <p:sp>
        <p:nvSpPr>
          <p:cNvPr id="19" name="texto-216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 los unos 1.090 € de Instagram en H2 rindieran como Google: unos 4.200 € netos a 90 días</a:t>
            </a:r>
            <a:endParaRPr lang="en-US" sz="1100" dirty="0"/>
          </a:p>
        </p:txBody>
      </p:sp>
      <p:sp>
        <p:nvSpPr>
          <p:cNvPr id="20" name="tarjeta-217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1" name="texto-218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2" name="texto-219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Pausar Instagram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como test (unos 180 €/mes) y bajar Meta.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Llevar ese dinero a Email y Google,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con un tope de 59 € por cliente nuevo.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TikTok, solo por tramos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(C6).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IEC y ticket por canal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(notas 1 y 6): referencia, no deciden.</a:t>
            </a:r>
            <a:endParaRPr lang="en-US" sz="1150" dirty="0"/>
          </a:p>
        </p:txBody>
      </p:sp>
      <p:sp>
        <p:nvSpPr>
          <p:cNvPr id="23" name="texto-220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gasto de mar–jun en euros, duplicados una vez · clientes cuyo primer pedido llegó por el canal en el tramo · unidos: Meta + Instagram 247 €, Email + Newsletter 24 €.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21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C · CANALES · C6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TikTok vendió más al mes gastando 20 veces menos: 788 €/mes en enero–febrero frente a 40 €/mes desde marzo</a:t>
            </a:r>
            <a:endParaRPr lang="en-US" sz="2300" dirty="0"/>
          </a:p>
        </p:txBody>
      </p:sp>
      <p:sp>
        <p:nvSpPr>
          <p:cNvPr id="4" name="chip-222"/>
          <p:cNvSpPr/>
          <p:nvPr/>
        </p:nvSpPr>
        <p:spPr>
          <a:xfrm>
            <a:off x="548640" y="1444752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223"/>
          <p:cNvSpPr txBox="1"/>
          <p:nvPr/>
        </p:nvSpPr>
        <p:spPr>
          <a:xfrm>
            <a:off x="548640" y="1444752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C6 · Preguntas 2 y 4</a:t>
            </a:r>
            <a:endParaRPr lang="en-US" sz="1000" dirty="0"/>
          </a:p>
        </p:txBody>
      </p:sp>
      <p:sp>
        <p:nvSpPr>
          <p:cNvPr id="6" name="chip-224"/>
          <p:cNvSpPr/>
          <p:nvPr/>
        </p:nvSpPr>
        <p:spPr>
          <a:xfrm>
            <a:off x="2322576" y="1444752"/>
            <a:ext cx="1528877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225"/>
          <p:cNvSpPr txBox="1"/>
          <p:nvPr/>
        </p:nvSpPr>
        <p:spPr>
          <a:xfrm>
            <a:off x="2322576" y="1444752"/>
            <a:ext cx="152887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04A"/>
                </a:solidFill>
              </a:rPr>
              <a:t>●  Confianza media</a:t>
            </a:r>
            <a:endParaRPr lang="en-US" sz="1000" dirty="0"/>
          </a:p>
        </p:txBody>
      </p:sp>
      <p:sp>
        <p:nvSpPr>
          <p:cNvPr id="8" name="chip-226"/>
          <p:cNvSpPr/>
          <p:nvPr/>
        </p:nvSpPr>
        <p:spPr>
          <a:xfrm>
            <a:off x="3961181" y="1444752"/>
            <a:ext cx="2205533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227"/>
          <p:cNvSpPr txBox="1"/>
          <p:nvPr/>
        </p:nvSpPr>
        <p:spPr>
          <a:xfrm>
            <a:off x="3961181" y="1444752"/>
            <a:ext cx="220553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Marketing › Evolución</a:t>
            </a:r>
            <a:endParaRPr lang="en-US" sz="1000" dirty="0"/>
          </a:p>
        </p:txBody>
      </p:sp>
      <p:sp>
        <p:nvSpPr>
          <p:cNvPr id="10" name="chip-228"/>
          <p:cNvSpPr/>
          <p:nvPr/>
        </p:nvSpPr>
        <p:spPr>
          <a:xfrm>
            <a:off x="6276442" y="1444752"/>
            <a:ext cx="2360066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229"/>
          <p:cNvSpPr txBox="1"/>
          <p:nvPr/>
        </p:nvSpPr>
        <p:spPr>
          <a:xfrm>
            <a:off x="6276442" y="1444752"/>
            <a:ext cx="236006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c6_tiktok_antes_despues.sql</a:t>
            </a:r>
            <a:endParaRPr lang="en-US" sz="1000" dirty="0"/>
          </a:p>
        </p:txBody>
      </p:sp>
      <p:sp>
        <p:nvSpPr>
          <p:cNvPr id="12" name="tarjeta-230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231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232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Con un 95 % menos de gasto, TikTok hizo más pedidos al mes. A la vez, el gasto total en marketing bajó un 47 % y la venta neta total subió un 13 %.</a:t>
            </a:r>
            <a:endParaRPr lang="en-US" sz="1250" dirty="0"/>
          </a:p>
        </p:txBody>
      </p:sp>
      <p:graphicFrame>
        <p:nvGraphicFramePr>
          <p:cNvPr id="17" name="tabla-tikto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35808"/>
          <a:ext cx="626364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1188720"/>
                <a:gridCol w="11887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Media mensual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Ene–feb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Mar–jun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Gasto en TikTok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788 €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40 €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Pedidos de TikTok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9,0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10,5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Venta neta atribuida a TikTok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527 €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621 €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Clientes nuevos de TikTok (en el tramo)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Coste por cliente nuevo de TikTok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263 €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32 €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Gasto total en marketing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1.511 €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805 €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Venta neta total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5.903 €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6.681 €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arjeta-233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111513">
              <a:alpha val="88000"/>
            </a:srgbClr>
          </a:solidFill>
          <a:ln w="9525">
            <a:solidFill>
              <a:srgbClr val="2C302E"/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texto-234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263 € → 32 €</a:t>
            </a:r>
            <a:endParaRPr lang="en-US" sz="2600" dirty="0"/>
          </a:p>
        </p:txBody>
      </p:sp>
      <p:sp>
        <p:nvSpPr>
          <p:cNvPr id="18" name="texto-235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coste por cliente nuevo de TikTok, antes y después del recorte</a:t>
            </a:r>
            <a:endParaRPr lang="en-US" sz="1100" dirty="0"/>
          </a:p>
        </p:txBody>
      </p:sp>
      <p:sp>
        <p:nvSpPr>
          <p:cNvPr id="19" name="tarjeta-236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0" name="texto-237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1" name="texto-238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El gasto de ene–feb no compraba ventas: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no volver a ese nivel (unos 4.700 € en H2).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Si se sube, por tramos: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120 €/mes durante 8 semanas.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Mantenerlo solo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si el cliente nuevo cuesta menos de 59 € (Google).</a:t>
            </a:r>
            <a:endParaRPr lang="en-US" sz="1150" dirty="0"/>
          </a:p>
        </p:txBody>
      </p:sp>
      <p:sp>
        <p:nvSpPr>
          <p:cNvPr id="22" name="texto-239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medias mensuales (tramos de 2 y 4 meses) · venta atribuida = venta neta de pedidos de TikTok Ads · coste = gasto ÷ clientes nuevos de TikTok en el tramo.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40"/>
          <p:cNvSpPr txBox="1"/>
          <p:nvPr/>
        </p:nvSpPr>
        <p:spPr>
          <a:xfrm>
            <a:off x="73152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9A7B"/>
                </a:solidFill>
              </a:rPr>
              <a:t>BLOQUE D · PREGUNTA 3 DE DIRECCIÓN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Qué productos funcionan y qué no se puede medir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Respuesta corta: Deporte, en su periodo, vende menos por referencia que el resto. La nota no anticipa la devolución y el ingreso por código está mal medido.</a:t>
            </a:r>
            <a:endParaRPr lang="en-US" sz="1800" dirty="0"/>
          </a:p>
        </p:txBody>
      </p:sp>
      <p:sp>
        <p:nvSpPr>
          <p:cNvPr id="5" name="chip-241"/>
          <p:cNvSpPr/>
          <p:nvPr/>
        </p:nvSpPr>
        <p:spPr>
          <a:xfrm>
            <a:off x="731520" y="45720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6" name="texto-242"/>
          <p:cNvSpPr txBox="1"/>
          <p:nvPr/>
        </p:nvSpPr>
        <p:spPr>
          <a:xfrm>
            <a:off x="731520" y="45720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C7</a:t>
            </a:r>
            <a:endParaRPr lang="en-US" sz="1200" dirty="0"/>
          </a:p>
        </p:txBody>
      </p:sp>
      <p:sp>
        <p:nvSpPr>
          <p:cNvPr id="7" name="texto-243"/>
          <p:cNvSpPr txBox="1"/>
          <p:nvPr/>
        </p:nvSpPr>
        <p:spPr>
          <a:xfrm>
            <a:off x="1463040" y="45720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Deporte, en su periodo, vende menos por referencia</a:t>
            </a:r>
            <a:endParaRPr lang="en-US" sz="1500" dirty="0"/>
          </a:p>
        </p:txBody>
      </p:sp>
      <p:sp>
        <p:nvSpPr>
          <p:cNvPr id="8" name="chip-244"/>
          <p:cNvSpPr/>
          <p:nvPr/>
        </p:nvSpPr>
        <p:spPr>
          <a:xfrm>
            <a:off x="731520" y="50292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9" name="texto-245"/>
          <p:cNvSpPr txBox="1"/>
          <p:nvPr/>
        </p:nvSpPr>
        <p:spPr>
          <a:xfrm>
            <a:off x="731520" y="50292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C8</a:t>
            </a:r>
            <a:endParaRPr lang="en-US" sz="1200" dirty="0"/>
          </a:p>
        </p:txBody>
      </p:sp>
      <p:sp>
        <p:nvSpPr>
          <p:cNvPr id="10" name="texto-246"/>
          <p:cNvSpPr txBox="1"/>
          <p:nvPr/>
        </p:nvSpPr>
        <p:spPr>
          <a:xfrm>
            <a:off x="1463040" y="50292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 nota no anticipa la devolución</a:t>
            </a:r>
            <a:endParaRPr lang="en-US" sz="1500" dirty="0"/>
          </a:p>
        </p:txBody>
      </p:sp>
      <p:sp>
        <p:nvSpPr>
          <p:cNvPr id="11" name="chip-247"/>
          <p:cNvSpPr/>
          <p:nvPr/>
        </p:nvSpPr>
        <p:spPr>
          <a:xfrm>
            <a:off x="731520" y="548640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12" name="texto-248"/>
          <p:cNvSpPr txBox="1"/>
          <p:nvPr/>
        </p:nvSpPr>
        <p:spPr>
          <a:xfrm>
            <a:off x="731520" y="5486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C9</a:t>
            </a:r>
            <a:endParaRPr lang="en-US" sz="1200" dirty="0"/>
          </a:p>
        </p:txBody>
      </p:sp>
      <p:sp>
        <p:nvSpPr>
          <p:cNvPr id="13" name="texto-249"/>
          <p:cNvSpPr txBox="1"/>
          <p:nvPr/>
        </p:nvSpPr>
        <p:spPr>
          <a:xfrm>
            <a:off x="1463040" y="54864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El ingreso por código está inflado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50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D · PRODUCTO · C7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En su periodo (mayo–junio), Deporte hace el 7,1 % de la venta, pero vende 472 € por referencia frente a 594–709 € del resto</a:t>
            </a:r>
            <a:endParaRPr lang="en-US" sz="2300" dirty="0"/>
          </a:p>
        </p:txBody>
      </p:sp>
      <p:sp>
        <p:nvSpPr>
          <p:cNvPr id="4" name="chip-251"/>
          <p:cNvSpPr/>
          <p:nvPr/>
        </p:nvSpPr>
        <p:spPr>
          <a:xfrm>
            <a:off x="548640" y="1444752"/>
            <a:ext cx="1325880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252"/>
          <p:cNvSpPr txBox="1"/>
          <p:nvPr/>
        </p:nvSpPr>
        <p:spPr>
          <a:xfrm>
            <a:off x="548640" y="14447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C7 · Pregunta 3</a:t>
            </a:r>
            <a:endParaRPr lang="en-US" sz="1000" dirty="0"/>
          </a:p>
        </p:txBody>
      </p:sp>
      <p:sp>
        <p:nvSpPr>
          <p:cNvPr id="6" name="chip-253"/>
          <p:cNvSpPr/>
          <p:nvPr/>
        </p:nvSpPr>
        <p:spPr>
          <a:xfrm>
            <a:off x="1984248" y="1444752"/>
            <a:ext cx="146121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254"/>
          <p:cNvSpPr txBox="1"/>
          <p:nvPr/>
        </p:nvSpPr>
        <p:spPr>
          <a:xfrm>
            <a:off x="1984248" y="1444752"/>
            <a:ext cx="14612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4B"/>
                </a:solidFill>
              </a:rPr>
              <a:t>●  Confianza baja</a:t>
            </a:r>
            <a:endParaRPr lang="en-US" sz="1000" dirty="0"/>
          </a:p>
        </p:txBody>
      </p:sp>
      <p:sp>
        <p:nvSpPr>
          <p:cNvPr id="8" name="chip-255"/>
          <p:cNvSpPr/>
          <p:nvPr/>
        </p:nvSpPr>
        <p:spPr>
          <a:xfrm>
            <a:off x="3555187" y="1444752"/>
            <a:ext cx="3897173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256"/>
          <p:cNvSpPr txBox="1"/>
          <p:nvPr/>
        </p:nvSpPr>
        <p:spPr>
          <a:xfrm>
            <a:off x="3555187" y="1444752"/>
            <a:ext cx="389717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Producto › Categorías desde que existe Deporte</a:t>
            </a:r>
            <a:endParaRPr lang="en-US" sz="1000" dirty="0"/>
          </a:p>
        </p:txBody>
      </p:sp>
      <p:sp>
        <p:nvSpPr>
          <p:cNvPr id="10" name="chip-257"/>
          <p:cNvSpPr/>
          <p:nvPr/>
        </p:nvSpPr>
        <p:spPr>
          <a:xfrm>
            <a:off x="7562088" y="1444752"/>
            <a:ext cx="2208276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258"/>
          <p:cNvSpPr txBox="1"/>
          <p:nvPr/>
        </p:nvSpPr>
        <p:spPr>
          <a:xfrm>
            <a:off x="7562088" y="1444752"/>
            <a:ext cx="2208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c7_categorias_deporte.sql</a:t>
            </a:r>
            <a:endParaRPr lang="en-US" sz="1000" dirty="0"/>
          </a:p>
        </p:txBody>
      </p:sp>
      <p:sp>
        <p:nvSpPr>
          <p:cNvPr id="12" name="tarjeta-259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260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261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En mayo–junio, Deporte hace el 7,1 % de la venta con 2 de 21 referencias. Vende menos por referencia que el resto, pero más unidades que Calzado y sin devoluciones.</a:t>
            </a:r>
            <a:endParaRPr lang="en-US" sz="1250" dirty="0"/>
          </a:p>
        </p:txBody>
      </p:sp>
      <p:sp>
        <p:nvSpPr>
          <p:cNvPr id="15" name="texto-262"/>
          <p:cNvSpPr txBox="1"/>
          <p:nvPr/>
        </p:nvSpPr>
        <p:spPr>
          <a:xfrm>
            <a:off x="822960" y="299008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Venta por referencia, mayo–junio (€) · referencias activas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77240" y="3264408"/>
          <a:ext cx="6355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arjeta-263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F3E3DB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8" name="texto-264"/>
          <p:cNvSpPr txBox="1"/>
          <p:nvPr/>
        </p:nvSpPr>
        <p:spPr>
          <a:xfrm>
            <a:off x="7818120" y="20574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574B"/>
                </a:solidFill>
              </a:rPr>
              <a:t>EL ENUNCIADO LLEVA A ERROR</a:t>
            </a:r>
            <a:endParaRPr lang="en-US" sz="1050" dirty="0"/>
          </a:p>
        </p:txBody>
      </p:sp>
      <p:sp>
        <p:nvSpPr>
          <p:cNvPr id="19" name="texto-265"/>
          <p:cNvSpPr txBox="1"/>
          <p:nvPr/>
        </p:nvSpPr>
        <p:spPr>
          <a:xfrm>
            <a:off x="7818120" y="231343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Dice que las cuatro categorías están «desde principios de año», pero Deporte se da de alta el 1 de mayo. Con el semestre entero parecería residual (2,2 %).</a:t>
            </a:r>
            <a:endParaRPr lang="en-US" sz="1100" dirty="0"/>
          </a:p>
        </p:txBody>
      </p:sp>
      <p:sp>
        <p:nvSpPr>
          <p:cNvPr id="20" name="tarjeta-266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1" name="texto-267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2" name="texto-268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No es residual: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el 2,2 % del semestre era un efecto de calendario.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Aún no es la gran apuesta: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vende menos por referencia y no crece (481 → 463 €).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Apuesta acotada: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mantener cada referencia si llega a 594 € cada dos meses.</a:t>
            </a:r>
            <a:endParaRPr lang="en-US" sz="1150" dirty="0"/>
          </a:p>
        </p:txBody>
      </p:sp>
      <p:sp>
        <p:nvSpPr>
          <p:cNvPr id="23" name="texto-269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pedidos no cancelados del 1 de mayo al 30 de junio · fichas activas · con las inactivas (nota 4): 15,0 % de la venta y 544 € por referencia, sigue la última.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70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D · PRODUCTO · C8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La nota no anticipa la devolución: Pantalón Cargo (5,0★) devuelve el 14,3 % y Camiseta Oversize (3,21★) el 1,2 %</a:t>
            </a:r>
            <a:endParaRPr lang="en-US" sz="2300" dirty="0"/>
          </a:p>
        </p:txBody>
      </p:sp>
      <p:sp>
        <p:nvSpPr>
          <p:cNvPr id="4" name="chip-271"/>
          <p:cNvSpPr/>
          <p:nvPr/>
        </p:nvSpPr>
        <p:spPr>
          <a:xfrm>
            <a:off x="548640" y="1444752"/>
            <a:ext cx="1325880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272"/>
          <p:cNvSpPr txBox="1"/>
          <p:nvPr/>
        </p:nvSpPr>
        <p:spPr>
          <a:xfrm>
            <a:off x="548640" y="14447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C8 · Pregunta 3</a:t>
            </a:r>
            <a:endParaRPr lang="en-US" sz="1000" dirty="0"/>
          </a:p>
        </p:txBody>
      </p:sp>
      <p:sp>
        <p:nvSpPr>
          <p:cNvPr id="6" name="chip-273"/>
          <p:cNvSpPr/>
          <p:nvPr/>
        </p:nvSpPr>
        <p:spPr>
          <a:xfrm>
            <a:off x="1984248" y="1444752"/>
            <a:ext cx="1528877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274"/>
          <p:cNvSpPr txBox="1"/>
          <p:nvPr/>
        </p:nvSpPr>
        <p:spPr>
          <a:xfrm>
            <a:off x="1984248" y="1444752"/>
            <a:ext cx="152887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04A"/>
                </a:solidFill>
              </a:rPr>
              <a:t>●  Confianza media</a:t>
            </a:r>
            <a:endParaRPr lang="en-US" sz="1000" dirty="0"/>
          </a:p>
        </p:txBody>
      </p:sp>
      <p:sp>
        <p:nvSpPr>
          <p:cNvPr id="8" name="chip-275"/>
          <p:cNvSpPr/>
          <p:nvPr/>
        </p:nvSpPr>
        <p:spPr>
          <a:xfrm>
            <a:off x="3622853" y="1444752"/>
            <a:ext cx="2137867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276"/>
          <p:cNvSpPr txBox="1"/>
          <p:nvPr/>
        </p:nvSpPr>
        <p:spPr>
          <a:xfrm>
            <a:off x="3622853" y="1444752"/>
            <a:ext cx="213786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Producto › Productos</a:t>
            </a:r>
            <a:endParaRPr lang="en-US" sz="1000" dirty="0"/>
          </a:p>
        </p:txBody>
      </p:sp>
      <p:sp>
        <p:nvSpPr>
          <p:cNvPr id="10" name="chip-277"/>
          <p:cNvSpPr/>
          <p:nvPr/>
        </p:nvSpPr>
        <p:spPr>
          <a:xfrm>
            <a:off x="5870448" y="1444752"/>
            <a:ext cx="2208276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278"/>
          <p:cNvSpPr txBox="1"/>
          <p:nvPr/>
        </p:nvSpPr>
        <p:spPr>
          <a:xfrm>
            <a:off x="5870448" y="1444752"/>
            <a:ext cx="2208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c8_nota_vs_devolucion.sql</a:t>
            </a:r>
            <a:endParaRPr lang="en-US" sz="1000" dirty="0"/>
          </a:p>
        </p:txBody>
      </p:sp>
      <p:sp>
        <p:nvSpPr>
          <p:cNvPr id="12" name="tarjeta-279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280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281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En H1 se devuelve el 9,9 % de los pedidos y el 8,3 % de las unidades. En los 10 productos con 10 o más reseñas, la nota y la devolución no van juntas.</a:t>
            </a:r>
            <a:endParaRPr lang="en-US" sz="1250" dirty="0"/>
          </a:p>
        </p:txBody>
      </p:sp>
      <p:graphicFrame>
        <p:nvGraphicFramePr>
          <p:cNvPr id="20" name="tabla-nota-devoluc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90088"/>
          <a:ext cx="62636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051560"/>
                <a:gridCol w="1051560"/>
                <a:gridCol w="109728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66B68"/>
                          </a:solidFill>
                        </a:rPr>
                        <a:t>Producto</a:t>
                      </a:r>
                      <a:endParaRPr lang="en-US" sz="1000" dirty="0"/>
                    </a:p>
                  </a:txBody>
                  <a:tcPr marL="64008" marR="64008" marT="18288" marB="18288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66B68"/>
                          </a:solidFill>
                        </a:rPr>
                        <a:t>Nota H1</a:t>
                      </a:r>
                      <a:endParaRPr lang="en-US" sz="1000" dirty="0"/>
                    </a:p>
                  </a:txBody>
                  <a:tcPr marL="64008" marR="64008" marT="18288" marB="18288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66B68"/>
                          </a:solidFill>
                        </a:rPr>
                        <a:t>Reseñas</a:t>
                      </a:r>
                      <a:endParaRPr lang="en-US" sz="1000" dirty="0"/>
                    </a:p>
                  </a:txBody>
                  <a:tcPr marL="64008" marR="64008" marT="18288" marB="18288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66B68"/>
                          </a:solidFill>
                        </a:rPr>
                        <a:t>Devolución</a:t>
                      </a:r>
                      <a:endParaRPr lang="en-US" sz="1000" dirty="0"/>
                    </a:p>
                  </a:txBody>
                  <a:tcPr marL="64008" marR="64008" marT="18288" marB="18288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Pantalón Cargo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5,0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16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14,3 %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513"/>
                          </a:solidFill>
                        </a:rPr>
                        <a:t>Bolso Bandolera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4,33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7,5 %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513"/>
                          </a:solidFill>
                        </a:rPr>
                        <a:t>Vestido Midi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4,27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11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10,6 %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Zapatillas Classic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4,25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98468"/>
                          </a:solidFill>
                        </a:rPr>
                        <a:t>13,9 %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513"/>
                          </a:solidFill>
                        </a:rPr>
                        <a:t>Zapatillas Running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4,0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0 %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513"/>
                          </a:solidFill>
                        </a:rPr>
                        <a:t>Gorra Bordada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3,96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28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8,9 %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513"/>
                          </a:solidFill>
                        </a:rPr>
                        <a:t>Gafas de Sol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3,86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14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6,3 %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513"/>
                          </a:solidFill>
                        </a:rPr>
                        <a:t>Top Básico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3,7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7,6 %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513"/>
                          </a:solidFill>
                        </a:rPr>
                        <a:t>Calcetines Pack 3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3,5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11513"/>
                          </a:solidFill>
                        </a:rPr>
                        <a:t>9,8 %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9A7B"/>
                          </a:solidFill>
                        </a:rPr>
                        <a:t>Camiseta Oversize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B9A7B"/>
                          </a:solidFill>
                        </a:rPr>
                        <a:t>3,21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B9A7B"/>
                          </a:solidFill>
                        </a:rPr>
                        <a:t>14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B9A7B"/>
                          </a:solidFill>
                        </a:rPr>
                        <a:t>1,2 %</a:t>
                      </a:r>
                      <a:endParaRPr lang="en-US" sz="1050" dirty="0"/>
                    </a:p>
                  </a:txBody>
                  <a:tcPr marL="64008" marR="6400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arjeta-282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texto-283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14,3 % vs 1,2 %</a:t>
            </a:r>
            <a:endParaRPr lang="en-US" sz="2600" dirty="0"/>
          </a:p>
        </p:txBody>
      </p:sp>
      <p:sp>
        <p:nvSpPr>
          <p:cNvPr id="18" name="texto-284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devolución de Pantalón Cargo (la mejor nota) y de Camiseta Oversize (la peor)</a:t>
            </a:r>
            <a:endParaRPr lang="en-US" sz="1100" dirty="0"/>
          </a:p>
        </p:txBody>
      </p:sp>
      <p:sp>
        <p:nvSpPr>
          <p:cNvPr id="19" name="tarjeta-285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0" name="texto-286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1" name="texto-287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Medir la calidad por la devolución,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no por la nota.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Guía de tallas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en Pantalón Cargo y Zapatillas Classic: 1,7 veces la media.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No frenar Camiseta Oversize: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peor nota y solo un 1,2 % de devolución.</a:t>
            </a:r>
            <a:endParaRPr lang="en-US" sz="1150" dirty="0"/>
          </a:p>
        </p:txBody>
      </p:sp>
      <p:sp>
        <p:nvSpPr>
          <p:cNvPr id="22" name="texto-288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unidades devueltas: todas si el pedido se devolvió entero, las k de la línea que casa con el reembolso si fue parcial · reseñas de H1, productos con 10 o más.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89"/>
          <p:cNvSpPr txBox="1"/>
          <p:nvPr/>
        </p:nvSpPr>
        <p:spPr>
          <a:xfrm>
            <a:off x="548640" y="182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BLOQUE D · PRODUCTO · C9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38912"/>
            <a:ext cx="9509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El «ingreso por código» que pide la nota de dirección se infla un 9,8 % (12.311 € frente a 11.210 €), y ningún código rebaja el precio</a:t>
            </a:r>
            <a:endParaRPr lang="en-US" sz="2300" dirty="0"/>
          </a:p>
        </p:txBody>
      </p:sp>
      <p:sp>
        <p:nvSpPr>
          <p:cNvPr id="4" name="chip-290"/>
          <p:cNvSpPr/>
          <p:nvPr/>
        </p:nvSpPr>
        <p:spPr>
          <a:xfrm>
            <a:off x="548640" y="1444752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</p:sp>
      <p:sp>
        <p:nvSpPr>
          <p:cNvPr id="5" name="texto-291"/>
          <p:cNvSpPr txBox="1"/>
          <p:nvPr/>
        </p:nvSpPr>
        <p:spPr>
          <a:xfrm>
            <a:off x="548640" y="1444752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C9 · Preguntas 3 y 4</a:t>
            </a:r>
            <a:endParaRPr lang="en-US" sz="1000" dirty="0"/>
          </a:p>
        </p:txBody>
      </p:sp>
      <p:sp>
        <p:nvSpPr>
          <p:cNvPr id="6" name="chip-292"/>
          <p:cNvSpPr/>
          <p:nvPr/>
        </p:nvSpPr>
        <p:spPr>
          <a:xfrm>
            <a:off x="2322576" y="1444752"/>
            <a:ext cx="1461211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7" name="texto-293"/>
          <p:cNvSpPr txBox="1"/>
          <p:nvPr/>
        </p:nvSpPr>
        <p:spPr>
          <a:xfrm>
            <a:off x="2322576" y="1444752"/>
            <a:ext cx="14612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9A7B"/>
                </a:solidFill>
              </a:rPr>
              <a:t>●  Confianza alta</a:t>
            </a:r>
            <a:endParaRPr lang="en-US" sz="1000" dirty="0"/>
          </a:p>
        </p:txBody>
      </p:sp>
      <p:sp>
        <p:nvSpPr>
          <p:cNvPr id="8" name="chip-294"/>
          <p:cNvSpPr/>
          <p:nvPr/>
        </p:nvSpPr>
        <p:spPr>
          <a:xfrm>
            <a:off x="3893515" y="1444752"/>
            <a:ext cx="2949854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9" name="texto-295"/>
          <p:cNvSpPr txBox="1"/>
          <p:nvPr/>
        </p:nvSpPr>
        <p:spPr>
          <a:xfrm>
            <a:off x="3893515" y="1444752"/>
            <a:ext cx="294985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</a:rPr>
              <a:t>Panel: Promociones › Ingreso por código</a:t>
            </a:r>
            <a:endParaRPr lang="en-US" sz="1000" dirty="0"/>
          </a:p>
        </p:txBody>
      </p:sp>
      <p:sp>
        <p:nvSpPr>
          <p:cNvPr id="10" name="chip-296"/>
          <p:cNvSpPr/>
          <p:nvPr/>
        </p:nvSpPr>
        <p:spPr>
          <a:xfrm>
            <a:off x="6953098" y="1444752"/>
            <a:ext cx="2208276" cy="301752"/>
          </a:xfrm>
          <a:prstGeom prst="roundRect">
            <a:avLst>
              <a:gd name="adj" fmla="val 48485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D8D6"/>
            </a:solidFill>
            <a:prstDash val="solid"/>
          </a:ln>
        </p:spPr>
      </p:sp>
      <p:sp>
        <p:nvSpPr>
          <p:cNvPr id="11" name="texto-297"/>
          <p:cNvSpPr txBox="1"/>
          <p:nvPr/>
        </p:nvSpPr>
        <p:spPr>
          <a:xfrm>
            <a:off x="6953098" y="1444752"/>
            <a:ext cx="2208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c9_ingreso_por_codigo.sql</a:t>
            </a:r>
            <a:endParaRPr lang="en-US" sz="1000" dirty="0"/>
          </a:p>
        </p:txBody>
      </p:sp>
      <p:sp>
        <p:nvSpPr>
          <p:cNvPr id="12" name="tarjeta-298"/>
          <p:cNvSpPr/>
          <p:nvPr/>
        </p:nvSpPr>
        <p:spPr>
          <a:xfrm>
            <a:off x="548640" y="1920240"/>
            <a:ext cx="6812280" cy="4023360"/>
          </a:xfrm>
          <a:prstGeom prst="roundRect">
            <a:avLst>
              <a:gd name="adj" fmla="val 318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299"/>
          <p:cNvSpPr txBox="1"/>
          <p:nvPr/>
        </p:nvSpPr>
        <p:spPr>
          <a:xfrm>
            <a:off x="82296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QUÉ DICE EL DATO</a:t>
            </a:r>
            <a:endParaRPr lang="en-US" sz="1050" dirty="0"/>
          </a:p>
        </p:txBody>
      </p:sp>
      <p:sp>
        <p:nvSpPr>
          <p:cNvPr id="14" name="texto-300"/>
          <p:cNvSpPr txBox="1"/>
          <p:nvPr/>
        </p:nvSpPr>
        <p:spPr>
          <a:xfrm>
            <a:off x="822960" y="234086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20 pedidos llevan dos códigos y el cruce los cuenta dos veces. Además, ningún pedido refleja el descuento: el precio cobrado es el mismo con código y sin él.</a:t>
            </a:r>
            <a:endParaRPr lang="en-US" sz="1250" dirty="0"/>
          </a:p>
        </p:txBody>
      </p:sp>
      <p:graphicFrame>
        <p:nvGraphicFramePr>
          <p:cNvPr id="21" name="tabla-codi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81528"/>
          <a:ext cx="62636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325880"/>
                <a:gridCol w="11430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Código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Descuento que promete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Usos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Ingreso cruzado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Newsletter −10 %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10 %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98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5.660 €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Black Week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15 %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46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2.946 €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Bienvenida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5 %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43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2.295 €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513"/>
                          </a:solidFill>
                        </a:rPr>
                        <a:t>Flash Sale Marzo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20 %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11513"/>
                          </a:solidFill>
                        </a:rPr>
                        <a:t>1.409 €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8468"/>
                          </a:solidFill>
                        </a:rPr>
                        <a:t>Total del cruce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98468"/>
                          </a:solidFill>
                        </a:rPr>
                        <a:t>208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98468"/>
                          </a:solidFill>
                        </a:rPr>
                        <a:t>12.311 €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Contando cada pedido una vez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188 pedidos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9A7B"/>
                          </a:solidFill>
                        </a:rPr>
                        <a:t>11.210 €</a:t>
                      </a:r>
                      <a:endParaRPr lang="en-US" sz="12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arjeta-301"/>
          <p:cNvSpPr/>
          <p:nvPr/>
        </p:nvSpPr>
        <p:spPr>
          <a:xfrm>
            <a:off x="7589520" y="1920240"/>
            <a:ext cx="4050792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texto-302"/>
          <p:cNvSpPr txBox="1"/>
          <p:nvPr/>
        </p:nvSpPr>
        <p:spPr>
          <a:xfrm>
            <a:off x="781812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+9,8 %</a:t>
            </a:r>
            <a:endParaRPr lang="en-US" sz="2800" dirty="0"/>
          </a:p>
        </p:txBody>
      </p:sp>
      <p:sp>
        <p:nvSpPr>
          <p:cNvPr id="18" name="texto-303"/>
          <p:cNvSpPr txBox="1"/>
          <p:nvPr/>
        </p:nvSpPr>
        <p:spPr>
          <a:xfrm>
            <a:off x="7818120" y="26334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inflado del ingreso por código al cruzar pedidos y códigos tal cual (nota de dirección 7)</a:t>
            </a:r>
            <a:endParaRPr lang="en-US" sz="1100" dirty="0"/>
          </a:p>
        </p:txBody>
      </p:sp>
      <p:sp>
        <p:nvSpPr>
          <p:cNvPr id="19" name="tarjeta-304"/>
          <p:cNvSpPr/>
          <p:nvPr/>
        </p:nvSpPr>
        <p:spPr>
          <a:xfrm>
            <a:off x="7589520" y="3520440"/>
            <a:ext cx="4050792" cy="2423160"/>
          </a:xfrm>
          <a:prstGeom prst="roundRect">
            <a:avLst>
              <a:gd name="adj" fmla="val 5283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0" name="texto-305"/>
          <p:cNvSpPr txBox="1"/>
          <p:nvPr/>
        </p:nvSpPr>
        <p:spPr>
          <a:xfrm>
            <a:off x="78181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POR QUÉ IMPORTA</a:t>
            </a:r>
            <a:endParaRPr lang="en-US" sz="1050" dirty="0"/>
          </a:p>
        </p:txBody>
      </p:sp>
      <p:sp>
        <p:nvSpPr>
          <p:cNvPr id="21" name="texto-306"/>
          <p:cNvSpPr txBox="1"/>
          <p:nvPr/>
        </p:nvSpPr>
        <p:spPr>
          <a:xfrm>
            <a:off x="7818120" y="39502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No creemos que esté bien medido: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precio lleno, doble conteo y sin saber si el código generó la venta.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Registrar el descuento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aplicado y usar códigos únicos por canal.</a:t>
            </a:r>
            <a:endParaRPr lang="en-US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11513"/>
                </a:solidFill>
              </a:rPr>
              <a:t>Mientras tanto,</a:t>
            </a:r>
            <a:pPr indent="0" marL="0">
              <a:buNone/>
            </a:pPr>
            <a:r>
              <a:rPr lang="en-US" sz="1150" dirty="0">
                <a:solidFill>
                  <a:srgbClr val="4A4E4C"/>
                </a:solidFill>
              </a:rPr>
              <a:t> usar 11.210 €.</a:t>
            </a:r>
            <a:endParaRPr lang="en-US" sz="1150" dirty="0"/>
          </a:p>
        </p:txBody>
      </p:sp>
      <p:sp>
        <p:nvSpPr>
          <p:cNvPr id="22" name="texto-307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513"/>
                </a:solidFill>
              </a:rPr>
              <a:t>Cómo lo he calculado:  </a:t>
            </a:r>
            <a:pPr indent="0" marL="0">
              <a:buNone/>
            </a:pPr>
            <a:r>
              <a:rPr lang="en-US" sz="1000" dirty="0">
                <a:solidFill>
                  <a:srgbClr val="666B68"/>
                </a:solidFill>
              </a:rPr>
              <a:t>venta neta de pedidos de H1 no cancelados con código, cruzados con order_promotions · recuento único en c9b · descuento teórico en c1c.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Plan para H2: diez acciones, cada una con la cifra que la justifica</a:t>
            </a:r>
            <a:endParaRPr lang="en-US" sz="2800" dirty="0"/>
          </a:p>
        </p:txBody>
      </p:sp>
      <p:sp>
        <p:nvSpPr>
          <p:cNvPr id="4" name="tarjeta-308"/>
          <p:cNvSpPr/>
          <p:nvPr/>
        </p:nvSpPr>
        <p:spPr>
          <a:xfrm>
            <a:off x="54864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309"/>
          <p:cNvSpPr txBox="1"/>
          <p:nvPr/>
        </p:nvSpPr>
        <p:spPr>
          <a:xfrm>
            <a:off x="822960" y="17830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CAPTACIÓN Y CANALES</a:t>
            </a:r>
            <a:endParaRPr lang="en-US" sz="1050" dirty="0"/>
          </a:p>
        </p:txBody>
      </p:sp>
      <p:sp>
        <p:nvSpPr>
          <p:cNvPr id="6" name="numero-310"/>
          <p:cNvSpPr/>
          <p:nvPr/>
        </p:nvSpPr>
        <p:spPr>
          <a:xfrm>
            <a:off x="804672" y="2167128"/>
            <a:ext cx="365760" cy="365760"/>
          </a:xfrm>
          <a:prstGeom prst="ellipse">
            <a:avLst/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7" name="texto-311"/>
          <p:cNvSpPr txBox="1"/>
          <p:nvPr/>
        </p:nvSpPr>
        <p:spPr>
          <a:xfrm>
            <a:off x="80467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o-312"/>
          <p:cNvSpPr txBox="1"/>
          <p:nvPr/>
        </p:nvSpPr>
        <p:spPr>
          <a:xfrm>
            <a:off x="1298448" y="2112264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Pausar Instagram como test y bajar Meta</a:t>
            </a:r>
            <a:endParaRPr lang="en-US" sz="1250" dirty="0"/>
          </a:p>
        </p:txBody>
      </p:sp>
      <p:sp>
        <p:nvSpPr>
          <p:cNvPr id="9" name="texto-313"/>
          <p:cNvSpPr txBox="1"/>
          <p:nvPr/>
        </p:nvSpPr>
        <p:spPr>
          <a:xfrm>
            <a:off x="1298448" y="25786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725 € y 167 € por cliente nuevo, frente a 41–59 €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C5</a:t>
            </a:r>
            <a:endParaRPr lang="en-US" sz="1050" dirty="0"/>
          </a:p>
        </p:txBody>
      </p:sp>
      <p:sp>
        <p:nvSpPr>
          <p:cNvPr id="10" name="numero-314"/>
          <p:cNvSpPr/>
          <p:nvPr/>
        </p:nvSpPr>
        <p:spPr>
          <a:xfrm>
            <a:off x="804672" y="3145536"/>
            <a:ext cx="365760" cy="365760"/>
          </a:xfrm>
          <a:prstGeom prst="ellipse">
            <a:avLst/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11" name="texto-315"/>
          <p:cNvSpPr txBox="1"/>
          <p:nvPr/>
        </p:nvSpPr>
        <p:spPr>
          <a:xfrm>
            <a:off x="80467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o-316"/>
          <p:cNvSpPr txBox="1"/>
          <p:nvPr/>
        </p:nvSpPr>
        <p:spPr>
          <a:xfrm>
            <a:off x="1298448" y="3090672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Llevar ese dinero a Email y Google</a:t>
            </a:r>
            <a:endParaRPr lang="en-US" sz="1250" dirty="0"/>
          </a:p>
        </p:txBody>
      </p:sp>
      <p:sp>
        <p:nvSpPr>
          <p:cNvPr id="13" name="texto-317"/>
          <p:cNvSpPr txBox="1"/>
          <p:nvPr/>
        </p:nvSpPr>
        <p:spPr>
          <a:xfrm>
            <a:off x="1298448" y="355701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Los 1.090 € de Instagram serían unos 18 clientes en Google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C5</a:t>
            </a:r>
            <a:endParaRPr lang="en-US" sz="1050" dirty="0"/>
          </a:p>
        </p:txBody>
      </p:sp>
      <p:sp>
        <p:nvSpPr>
          <p:cNvPr id="14" name="numero-318"/>
          <p:cNvSpPr/>
          <p:nvPr/>
        </p:nvSpPr>
        <p:spPr>
          <a:xfrm>
            <a:off x="804672" y="4123944"/>
            <a:ext cx="365760" cy="365760"/>
          </a:xfrm>
          <a:prstGeom prst="ellipse">
            <a:avLst/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15" name="texto-319"/>
          <p:cNvSpPr txBox="1"/>
          <p:nvPr/>
        </p:nvSpPr>
        <p:spPr>
          <a:xfrm>
            <a:off x="80467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o-320"/>
          <p:cNvSpPr txBox="1"/>
          <p:nvPr/>
        </p:nvSpPr>
        <p:spPr>
          <a:xfrm>
            <a:off x="1298448" y="4069080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TikTok, solo por tramos</a:t>
            </a:r>
            <a:endParaRPr lang="en-US" sz="1250" dirty="0"/>
          </a:p>
        </p:txBody>
      </p:sp>
      <p:sp>
        <p:nvSpPr>
          <p:cNvPr id="17" name="texto-321"/>
          <p:cNvSpPr txBox="1"/>
          <p:nvPr/>
        </p:nvSpPr>
        <p:spPr>
          <a:xfrm>
            <a:off x="1298448" y="453542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120 €/mes durante 8 semanas, si el cliente cuesta menos de 59 €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C6</a:t>
            </a:r>
            <a:endParaRPr lang="en-US" sz="1050" dirty="0"/>
          </a:p>
        </p:txBody>
      </p:sp>
      <p:sp>
        <p:nvSpPr>
          <p:cNvPr id="18" name="numero-322"/>
          <p:cNvSpPr/>
          <p:nvPr/>
        </p:nvSpPr>
        <p:spPr>
          <a:xfrm>
            <a:off x="804672" y="5102352"/>
            <a:ext cx="365760" cy="365760"/>
          </a:xfrm>
          <a:prstGeom prst="ellipse">
            <a:avLst/>
          </a:prstGeom>
          <a:solidFill>
            <a:srgbClr val="5B9A7B"/>
          </a:solidFill>
          <a:ln w="6350">
            <a:solidFill>
              <a:srgbClr val="5B9A7B"/>
            </a:solidFill>
            <a:prstDash val="solid"/>
          </a:ln>
        </p:spPr>
      </p:sp>
      <p:sp>
        <p:nvSpPr>
          <p:cNvPr id="19" name="texto-323"/>
          <p:cNvSpPr txBox="1"/>
          <p:nvPr/>
        </p:nvSpPr>
        <p:spPr>
          <a:xfrm>
            <a:off x="804672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o-324"/>
          <p:cNvSpPr txBox="1"/>
          <p:nvPr/>
        </p:nvSpPr>
        <p:spPr>
          <a:xfrm>
            <a:off x="1298448" y="5047488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Recuperar la captación orgánica</a:t>
            </a:r>
            <a:endParaRPr lang="en-US" sz="1250" dirty="0"/>
          </a:p>
        </p:txBody>
      </p:sp>
      <p:sp>
        <p:nvSpPr>
          <p:cNvPr id="21" name="texto-325"/>
          <p:cNvSpPr txBox="1"/>
          <p:nvPr/>
        </p:nvSpPr>
        <p:spPr>
          <a:xfrm>
            <a:off x="1298448" y="551383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Orgánico: de 12 a 3 clientes nuevos. Objetivo: 20 o más al mes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C2</a:t>
            </a:r>
            <a:endParaRPr lang="en-US" sz="1050" dirty="0"/>
          </a:p>
        </p:txBody>
      </p:sp>
      <p:sp>
        <p:nvSpPr>
          <p:cNvPr id="22" name="tarjeta-326"/>
          <p:cNvSpPr/>
          <p:nvPr/>
        </p:nvSpPr>
        <p:spPr>
          <a:xfrm>
            <a:off x="429768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3" name="texto-327"/>
          <p:cNvSpPr txBox="1"/>
          <p:nvPr/>
        </p:nvSpPr>
        <p:spPr>
          <a:xfrm>
            <a:off x="4572000" y="17830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8468"/>
                </a:solidFill>
              </a:rPr>
              <a:t>CLIENTES</a:t>
            </a:r>
            <a:endParaRPr lang="en-US" sz="1050" dirty="0"/>
          </a:p>
        </p:txBody>
      </p:sp>
      <p:sp>
        <p:nvSpPr>
          <p:cNvPr id="24" name="numero-328"/>
          <p:cNvSpPr/>
          <p:nvPr/>
        </p:nvSpPr>
        <p:spPr>
          <a:xfrm>
            <a:off x="4553712" y="2167128"/>
            <a:ext cx="365760" cy="365760"/>
          </a:xfrm>
          <a:prstGeom prst="ellipse">
            <a:avLst/>
          </a:prstGeom>
          <a:solidFill>
            <a:srgbClr val="C98468"/>
          </a:solidFill>
          <a:ln w="6350">
            <a:solidFill>
              <a:srgbClr val="C98468"/>
            </a:solidFill>
            <a:prstDash val="solid"/>
          </a:ln>
        </p:spPr>
      </p:sp>
      <p:sp>
        <p:nvSpPr>
          <p:cNvPr id="25" name="texto-329"/>
          <p:cNvSpPr txBox="1"/>
          <p:nvPr/>
        </p:nvSpPr>
        <p:spPr>
          <a:xfrm>
            <a:off x="455371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o-330"/>
          <p:cNvSpPr txBox="1"/>
          <p:nvPr/>
        </p:nvSpPr>
        <p:spPr>
          <a:xfrm>
            <a:off x="5047488" y="2112264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Mensaje de segundo pedido a los 10 días</a:t>
            </a:r>
            <a:endParaRPr lang="en-US" sz="1250" dirty="0"/>
          </a:p>
        </p:txBody>
      </p:sp>
      <p:sp>
        <p:nvSpPr>
          <p:cNvPr id="27" name="texto-331"/>
          <p:cNvSpPr txBox="1"/>
          <p:nvPr/>
        </p:nvSpPr>
        <p:spPr>
          <a:xfrm>
            <a:off x="5047488" y="25786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Recompra a 30 días: del 82,8 % al 42,1 %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C4</a:t>
            </a:r>
            <a:endParaRPr lang="en-US" sz="1050" dirty="0"/>
          </a:p>
        </p:txBody>
      </p:sp>
      <p:sp>
        <p:nvSpPr>
          <p:cNvPr id="28" name="numero-332"/>
          <p:cNvSpPr/>
          <p:nvPr/>
        </p:nvSpPr>
        <p:spPr>
          <a:xfrm>
            <a:off x="4553712" y="3145536"/>
            <a:ext cx="365760" cy="365760"/>
          </a:xfrm>
          <a:prstGeom prst="ellipse">
            <a:avLst/>
          </a:prstGeom>
          <a:solidFill>
            <a:srgbClr val="C98468"/>
          </a:solidFill>
          <a:ln w="6350">
            <a:solidFill>
              <a:srgbClr val="C98468"/>
            </a:solidFill>
            <a:prstDash val="solid"/>
          </a:ln>
        </p:spPr>
      </p:sp>
      <p:sp>
        <p:nvSpPr>
          <p:cNvPr id="29" name="texto-333"/>
          <p:cNvSpPr txBox="1"/>
          <p:nvPr/>
        </p:nvSpPr>
        <p:spPr>
          <a:xfrm>
            <a:off x="455371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o-334"/>
          <p:cNvSpPr txBox="1"/>
          <p:nvPr/>
        </p:nvSpPr>
        <p:spPr>
          <a:xfrm>
            <a:off x="5047488" y="3090672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Cuidar a los 20 mayores y probar Alemania</a:t>
            </a:r>
            <a:endParaRPr lang="en-US" sz="1250" dirty="0"/>
          </a:p>
        </p:txBody>
      </p:sp>
      <p:sp>
        <p:nvSpPr>
          <p:cNvPr id="31" name="texto-335"/>
          <p:cNvSpPr txBox="1"/>
          <p:nvPr/>
        </p:nvSpPr>
        <p:spPr>
          <a:xfrm>
            <a:off x="5047488" y="355701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53,5 % de la venta. 678 € frente a 190 € por cliente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C3</a:t>
            </a:r>
            <a:endParaRPr lang="en-US" sz="1050" dirty="0"/>
          </a:p>
        </p:txBody>
      </p:sp>
      <p:sp>
        <p:nvSpPr>
          <p:cNvPr id="32" name="tarjeta-336"/>
          <p:cNvSpPr/>
          <p:nvPr/>
        </p:nvSpPr>
        <p:spPr>
          <a:xfrm>
            <a:off x="804672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33" name="texto-337"/>
          <p:cNvSpPr txBox="1"/>
          <p:nvPr/>
        </p:nvSpPr>
        <p:spPr>
          <a:xfrm>
            <a:off x="8321040" y="17830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302E"/>
                </a:solidFill>
              </a:rPr>
              <a:t>PRODUCTO Y MEDICIÓN</a:t>
            </a:r>
            <a:endParaRPr lang="en-US" sz="1050" dirty="0"/>
          </a:p>
        </p:txBody>
      </p:sp>
      <p:sp>
        <p:nvSpPr>
          <p:cNvPr id="34" name="numero-338"/>
          <p:cNvSpPr/>
          <p:nvPr/>
        </p:nvSpPr>
        <p:spPr>
          <a:xfrm>
            <a:off x="8302752" y="2167128"/>
            <a:ext cx="365760" cy="365760"/>
          </a:xfrm>
          <a:prstGeom prst="ellipse">
            <a:avLst/>
          </a:prstGeom>
          <a:solidFill>
            <a:srgbClr val="2C302E"/>
          </a:solidFill>
          <a:ln w="6350">
            <a:solidFill>
              <a:srgbClr val="2C302E"/>
            </a:solidFill>
            <a:prstDash val="solid"/>
          </a:ln>
        </p:spPr>
      </p:sp>
      <p:sp>
        <p:nvSpPr>
          <p:cNvPr id="35" name="texto-339"/>
          <p:cNvSpPr txBox="1"/>
          <p:nvPr/>
        </p:nvSpPr>
        <p:spPr>
          <a:xfrm>
            <a:off x="830275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6" name="texto-340"/>
          <p:cNvSpPr txBox="1"/>
          <p:nvPr/>
        </p:nvSpPr>
        <p:spPr>
          <a:xfrm>
            <a:off x="8796528" y="2112264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Guía de tallas en Pantalón Cargo y Zapatillas Classic</a:t>
            </a:r>
            <a:endParaRPr lang="en-US" sz="1250" dirty="0"/>
          </a:p>
        </p:txBody>
      </p:sp>
      <p:sp>
        <p:nvSpPr>
          <p:cNvPr id="37" name="texto-341"/>
          <p:cNvSpPr txBox="1"/>
          <p:nvPr/>
        </p:nvSpPr>
        <p:spPr>
          <a:xfrm>
            <a:off x="8796528" y="25786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14,3 % y 13,9 % de devolución, frente al 8,3 %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C8</a:t>
            </a:r>
            <a:endParaRPr lang="en-US" sz="1050" dirty="0"/>
          </a:p>
        </p:txBody>
      </p:sp>
      <p:sp>
        <p:nvSpPr>
          <p:cNvPr id="38" name="numero-342"/>
          <p:cNvSpPr/>
          <p:nvPr/>
        </p:nvSpPr>
        <p:spPr>
          <a:xfrm>
            <a:off x="8302752" y="3145536"/>
            <a:ext cx="365760" cy="365760"/>
          </a:xfrm>
          <a:prstGeom prst="ellipse">
            <a:avLst/>
          </a:prstGeom>
          <a:solidFill>
            <a:srgbClr val="2C302E"/>
          </a:solidFill>
          <a:ln w="6350">
            <a:solidFill>
              <a:srgbClr val="2C302E"/>
            </a:solidFill>
            <a:prstDash val="solid"/>
          </a:ln>
        </p:spPr>
      </p:sp>
      <p:sp>
        <p:nvSpPr>
          <p:cNvPr id="39" name="texto-343"/>
          <p:cNvSpPr txBox="1"/>
          <p:nvPr/>
        </p:nvSpPr>
        <p:spPr>
          <a:xfrm>
            <a:off x="830275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0" name="texto-344"/>
          <p:cNvSpPr txBox="1"/>
          <p:nvPr/>
        </p:nvSpPr>
        <p:spPr>
          <a:xfrm>
            <a:off x="8796528" y="3090672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Deporte: apuesta acotada</a:t>
            </a:r>
            <a:endParaRPr lang="en-US" sz="1250" dirty="0"/>
          </a:p>
        </p:txBody>
      </p:sp>
      <p:sp>
        <p:nvSpPr>
          <p:cNvPr id="41" name="texto-345"/>
          <p:cNvSpPr txBox="1"/>
          <p:nvPr/>
        </p:nvSpPr>
        <p:spPr>
          <a:xfrm>
            <a:off x="8796528" y="355701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472 € por referencia frente a 594–709 €. Umbral: 594 €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C7</a:t>
            </a:r>
            <a:endParaRPr lang="en-US" sz="1050" dirty="0"/>
          </a:p>
        </p:txBody>
      </p:sp>
      <p:sp>
        <p:nvSpPr>
          <p:cNvPr id="42" name="numero-346"/>
          <p:cNvSpPr/>
          <p:nvPr/>
        </p:nvSpPr>
        <p:spPr>
          <a:xfrm>
            <a:off x="8302752" y="4123944"/>
            <a:ext cx="365760" cy="365760"/>
          </a:xfrm>
          <a:prstGeom prst="ellipse">
            <a:avLst/>
          </a:prstGeom>
          <a:solidFill>
            <a:srgbClr val="2C302E"/>
          </a:solidFill>
          <a:ln w="6350">
            <a:solidFill>
              <a:srgbClr val="2C302E"/>
            </a:solidFill>
            <a:prstDash val="solid"/>
          </a:ln>
        </p:spPr>
      </p:sp>
      <p:sp>
        <p:nvSpPr>
          <p:cNvPr id="43" name="texto-347"/>
          <p:cNvSpPr txBox="1"/>
          <p:nvPr/>
        </p:nvSpPr>
        <p:spPr>
          <a:xfrm>
            <a:off x="830275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4" name="texto-348"/>
          <p:cNvSpPr txBox="1"/>
          <p:nvPr/>
        </p:nvSpPr>
        <p:spPr>
          <a:xfrm>
            <a:off x="8796528" y="4069080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Medir bien las promociones</a:t>
            </a:r>
            <a:endParaRPr lang="en-US" sz="1250" dirty="0"/>
          </a:p>
        </p:txBody>
      </p:sp>
      <p:sp>
        <p:nvSpPr>
          <p:cNvPr id="45" name="texto-349"/>
          <p:cNvSpPr txBox="1"/>
          <p:nvPr/>
        </p:nvSpPr>
        <p:spPr>
          <a:xfrm>
            <a:off x="8796528" y="453542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Ingreso por código inflado un 9,8 %. Registrar el descuento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C9</a:t>
            </a:r>
            <a:endParaRPr lang="en-US" sz="1050" dirty="0"/>
          </a:p>
        </p:txBody>
      </p:sp>
      <p:sp>
        <p:nvSpPr>
          <p:cNvPr id="46" name="numero-350"/>
          <p:cNvSpPr/>
          <p:nvPr/>
        </p:nvSpPr>
        <p:spPr>
          <a:xfrm>
            <a:off x="8302752" y="5102352"/>
            <a:ext cx="365760" cy="365760"/>
          </a:xfrm>
          <a:prstGeom prst="ellipse">
            <a:avLst/>
          </a:prstGeom>
          <a:solidFill>
            <a:srgbClr val="2C302E"/>
          </a:solidFill>
          <a:ln w="6350">
            <a:solidFill>
              <a:srgbClr val="2C302E"/>
            </a:solidFill>
            <a:prstDash val="solid"/>
          </a:ln>
        </p:spPr>
      </p:sp>
      <p:sp>
        <p:nvSpPr>
          <p:cNvPr id="47" name="texto-351"/>
          <p:cNvSpPr txBox="1"/>
          <p:nvPr/>
        </p:nvSpPr>
        <p:spPr>
          <a:xfrm>
            <a:off x="8302752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8" name="texto-352"/>
          <p:cNvSpPr txBox="1"/>
          <p:nvPr/>
        </p:nvSpPr>
        <p:spPr>
          <a:xfrm>
            <a:off x="8796528" y="5047488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Presupuestar sobre 38.531 € netos</a:t>
            </a:r>
            <a:endParaRPr lang="en-US" sz="1250" dirty="0"/>
          </a:p>
        </p:txBody>
      </p:sp>
      <p:sp>
        <p:nvSpPr>
          <p:cNvPr id="49" name="texto-353"/>
          <p:cNvSpPr txBox="1"/>
          <p:nvPr/>
        </p:nvSpPr>
        <p:spPr>
          <a:xfrm>
            <a:off x="8796528" y="551383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E4C"/>
                </a:solidFill>
              </a:rPr>
              <a:t>Unos 6.400 € al mes (37.217 € con descuentos)  </a:t>
            </a:r>
            <a:pPr indent="0" marL="0">
              <a:buNone/>
            </a:pPr>
            <a:r>
              <a:rPr lang="en-US" sz="1050" b="1" dirty="0">
                <a:solidFill>
                  <a:srgbClr val="5B9A7B"/>
                </a:solidFill>
              </a:rPr>
              <a:t>C1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Modelado de datos: las cinco reglas que más pesan</a:t>
            </a:r>
            <a:endParaRPr lang="en-US" sz="2800" dirty="0"/>
          </a:p>
        </p:txBody>
      </p:sp>
      <p:sp>
        <p:nvSpPr>
          <p:cNvPr id="4" name="tarjeta-354"/>
          <p:cNvSpPr/>
          <p:nvPr/>
        </p:nvSpPr>
        <p:spPr>
          <a:xfrm>
            <a:off x="548640" y="1600200"/>
            <a:ext cx="5669280" cy="4526280"/>
          </a:xfrm>
          <a:prstGeom prst="roundRect">
            <a:avLst>
              <a:gd name="adj" fmla="val 28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355"/>
          <p:cNvSpPr txBox="1"/>
          <p:nvPr/>
        </p:nvSpPr>
        <p:spPr>
          <a:xfrm>
            <a:off x="822960" y="1783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LAS CINCO REGLAS</a:t>
            </a:r>
            <a:endParaRPr lang="en-US" sz="1050" dirty="0"/>
          </a:p>
        </p:txBody>
      </p:sp>
      <p:sp>
        <p:nvSpPr>
          <p:cNvPr id="6" name="numero-356"/>
          <p:cNvSpPr/>
          <p:nvPr/>
        </p:nvSpPr>
        <p:spPr>
          <a:xfrm>
            <a:off x="822960" y="2121408"/>
            <a:ext cx="347472" cy="347472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7" name="texto-357"/>
          <p:cNvSpPr txBox="1"/>
          <p:nvPr/>
        </p:nvSpPr>
        <p:spPr>
          <a:xfrm>
            <a:off x="82296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o-358"/>
          <p:cNvSpPr txBox="1"/>
          <p:nvPr/>
        </p:nvSpPr>
        <p:spPr>
          <a:xfrm>
            <a:off x="1325880" y="2103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Venta = subtotal de líneas</a:t>
            </a:r>
            <a:endParaRPr lang="en-US" sz="1300" dirty="0"/>
          </a:p>
        </p:txBody>
      </p:sp>
      <p:sp>
        <p:nvSpPr>
          <p:cNvPr id="9" name="texto-359"/>
          <p:cNvSpPr txBox="1"/>
          <p:nvPr/>
        </p:nvSpPr>
        <p:spPr>
          <a:xfrm>
            <a:off x="1325880" y="23774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Cantidad × precio cobrado, sin IVA ni envío, de pedidos entregados, pendientes y devueltos. Los cancelados no son venta.</a:t>
            </a:r>
            <a:endParaRPr lang="en-US" sz="1050" dirty="0"/>
          </a:p>
        </p:txBody>
      </p:sp>
      <p:sp>
        <p:nvSpPr>
          <p:cNvPr id="10" name="numero-360"/>
          <p:cNvSpPr/>
          <p:nvPr/>
        </p:nvSpPr>
        <p:spPr>
          <a:xfrm>
            <a:off x="822960" y="2907792"/>
            <a:ext cx="347472" cy="347472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11" name="texto-361"/>
          <p:cNvSpPr txBox="1"/>
          <p:nvPr/>
        </p:nvSpPr>
        <p:spPr>
          <a:xfrm>
            <a:off x="82296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o-362"/>
          <p:cNvSpPr txBox="1"/>
          <p:nvPr/>
        </p:nvSpPr>
        <p:spPr>
          <a:xfrm>
            <a:off x="1325880" y="28895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Fuera lo que no es venta</a:t>
            </a:r>
            <a:endParaRPr lang="en-US" sz="1300" dirty="0"/>
          </a:p>
        </p:txBody>
      </p:sp>
      <p:sp>
        <p:nvSpPr>
          <p:cNvPr id="13" name="texto-363"/>
          <p:cNvSpPr txBox="1"/>
          <p:nvPr/>
        </p:nvSpPr>
        <p:spPr>
          <a:xfrm>
            <a:off x="1325880" y="316382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19 pedidos borrados o con precio anómalo. De los productos inexistentes se quita solo la línea.</a:t>
            </a:r>
            <a:endParaRPr lang="en-US" sz="1050" dirty="0"/>
          </a:p>
        </p:txBody>
      </p:sp>
      <p:sp>
        <p:nvSpPr>
          <p:cNvPr id="14" name="numero-364"/>
          <p:cNvSpPr/>
          <p:nvPr/>
        </p:nvSpPr>
        <p:spPr>
          <a:xfrm>
            <a:off x="822960" y="3694176"/>
            <a:ext cx="347472" cy="347472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15" name="texto-365"/>
          <p:cNvSpPr txBox="1"/>
          <p:nvPr/>
        </p:nvSpPr>
        <p:spPr>
          <a:xfrm>
            <a:off x="82296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o-366"/>
          <p:cNvSpPr txBox="1"/>
          <p:nvPr/>
        </p:nvSpPr>
        <p:spPr>
          <a:xfrm>
            <a:off x="1325880" y="36758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Solo fichas activas</a:t>
            </a:r>
            <a:endParaRPr lang="en-US" sz="1300" dirty="0"/>
          </a:p>
        </p:txBody>
      </p:sp>
      <p:sp>
        <p:nvSpPr>
          <p:cNvPr id="17" name="texto-367"/>
          <p:cNvSpPr txBox="1"/>
          <p:nvPr/>
        </p:nvSpPr>
        <p:spPr>
          <a:xfrm>
            <a:off x="1325880" y="395020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En todo el análisis (nota de dirección 4): −3.358 € en H1.</a:t>
            </a:r>
            <a:endParaRPr lang="en-US" sz="1050" dirty="0"/>
          </a:p>
        </p:txBody>
      </p:sp>
      <p:sp>
        <p:nvSpPr>
          <p:cNvPr id="18" name="numero-368"/>
          <p:cNvSpPr/>
          <p:nvPr/>
        </p:nvSpPr>
        <p:spPr>
          <a:xfrm>
            <a:off x="822960" y="4480560"/>
            <a:ext cx="347472" cy="347472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19" name="texto-369"/>
          <p:cNvSpPr txBox="1"/>
          <p:nvPr/>
        </p:nvSpPr>
        <p:spPr>
          <a:xfrm>
            <a:off x="822960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o-370"/>
          <p:cNvSpPr txBox="1"/>
          <p:nvPr/>
        </p:nvSpPr>
        <p:spPr>
          <a:xfrm>
            <a:off x="1325880" y="44622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Devoluciones totales y parciales</a:t>
            </a:r>
            <a:endParaRPr lang="en-US" sz="1300" dirty="0"/>
          </a:p>
        </p:txBody>
      </p:sp>
      <p:sp>
        <p:nvSpPr>
          <p:cNvPr id="21" name="texto-371"/>
          <p:cNvSpPr txBox="1"/>
          <p:nvPr/>
        </p:nvSpPr>
        <p:spPr>
          <a:xfrm>
            <a:off x="1325880" y="473659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La parcial se identifica porque el reembolso casa con k unidades de una línea.</a:t>
            </a:r>
            <a:endParaRPr lang="en-US" sz="1050" dirty="0"/>
          </a:p>
        </p:txBody>
      </p:sp>
      <p:sp>
        <p:nvSpPr>
          <p:cNvPr id="22" name="numero-372"/>
          <p:cNvSpPr/>
          <p:nvPr/>
        </p:nvSpPr>
        <p:spPr>
          <a:xfrm>
            <a:off x="822960" y="5266944"/>
            <a:ext cx="347472" cy="347472"/>
          </a:xfrm>
          <a:prstGeom prst="ellipse">
            <a:avLst/>
          </a:prstGeom>
          <a:solidFill>
            <a:srgbClr val="111513"/>
          </a:solidFill>
          <a:ln w="6350">
            <a:solidFill>
              <a:srgbClr val="111513"/>
            </a:solidFill>
            <a:prstDash val="solid"/>
          </a:ln>
        </p:spPr>
      </p:sp>
      <p:sp>
        <p:nvSpPr>
          <p:cNvPr id="23" name="texto-373"/>
          <p:cNvSpPr txBox="1"/>
          <p:nvPr/>
        </p:nvSpPr>
        <p:spPr>
          <a:xfrm>
            <a:off x="822960" y="5266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o-374"/>
          <p:cNvSpPr txBox="1"/>
          <p:nvPr/>
        </p:nvSpPr>
        <p:spPr>
          <a:xfrm>
            <a:off x="1325880" y="524865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Canales y gasto limpios</a:t>
            </a:r>
            <a:endParaRPr lang="en-US" sz="1300" dirty="0"/>
          </a:p>
        </p:txBody>
      </p:sp>
      <p:sp>
        <p:nvSpPr>
          <p:cNvPr id="25" name="texto-375"/>
          <p:cNvSpPr txBox="1"/>
          <p:nvPr/>
        </p:nvSpPr>
        <p:spPr>
          <a:xfrm>
            <a:off x="1325880" y="552297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5 grafías de Meta unificadas. Google en céntimos pasado a euros. Duplicados una vez.</a:t>
            </a:r>
            <a:endParaRPr lang="en-US" sz="1050" dirty="0"/>
          </a:p>
        </p:txBody>
      </p:sp>
      <p:sp>
        <p:nvSpPr>
          <p:cNvPr id="26" name="tarjeta-376"/>
          <p:cNvSpPr/>
          <p:nvPr/>
        </p:nvSpPr>
        <p:spPr>
          <a:xfrm>
            <a:off x="6446520" y="1600200"/>
            <a:ext cx="5193792" cy="4526280"/>
          </a:xfrm>
          <a:prstGeom prst="roundRect">
            <a:avLst>
              <a:gd name="adj" fmla="val 28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7" name="texto-377"/>
          <p:cNvSpPr txBox="1"/>
          <p:nvPr/>
        </p:nvSpPr>
        <p:spPr>
          <a:xfrm>
            <a:off x="67208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CRUCES ENTRE TABLAS</a:t>
            </a:r>
            <a:endParaRPr lang="en-US" sz="1050" dirty="0"/>
          </a:p>
        </p:txBody>
      </p:sp>
      <p:graphicFrame>
        <p:nvGraphicFramePr>
          <p:cNvPr id="23" name="tabla-cru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103120"/>
          <a:ext cx="46634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7889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66B68"/>
                          </a:solidFill>
                        </a:rPr>
                        <a:t>Cruce</a:t>
                      </a:r>
                      <a:endParaRPr lang="en-US" sz="1000" dirty="0"/>
                    </a:p>
                  </a:txBody>
                  <a:tcPr marL="54864" marR="54864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66B68"/>
                          </a:solidFill>
                        </a:rPr>
                        <a:t>Clave y cuidado</a:t>
                      </a:r>
                      <a:endParaRPr lang="en-US" sz="1000" dirty="0"/>
                    </a:p>
                  </a:txBody>
                  <a:tcPr marL="54864" marR="54864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513"/>
                          </a:solidFill>
                        </a:rPr>
                        <a:t>orders → customers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E4C"/>
                          </a:solidFill>
                        </a:rPr>
                        <a:t>customer_id · país de registro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513"/>
                          </a:solidFill>
                        </a:rPr>
                        <a:t>orders → order_items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E4C"/>
                          </a:solidFill>
                        </a:rPr>
                        <a:t>order_id · la venta se recalcula desde las líneas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513"/>
                          </a:solidFill>
                        </a:rPr>
                        <a:t>order_items → products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E4C"/>
                          </a:solidFill>
                        </a:rPr>
                        <a:t>product_id, solo activas · 19 líneas huérfanas (901–919)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513"/>
                          </a:solidFill>
                        </a:rPr>
                        <a:t>orders → refunds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E4C"/>
                          </a:solidFill>
                        </a:rPr>
                        <a:t>order_id · total o parcial según el importe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513"/>
                          </a:solidFill>
                        </a:rPr>
                        <a:t>orders → promotions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E4C"/>
                          </a:solidFill>
                        </a:rPr>
                        <a:t>vía order_promotions · se agrega por pedido (20 llevan dos)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513"/>
                          </a:solidFill>
                        </a:rPr>
                        <a:t>marketing_spend → orders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E4C"/>
                          </a:solidFill>
                        </a:rPr>
                        <a:t>nombre del canal normalizado · sin país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513"/>
                          </a:solidFill>
                        </a:rPr>
                        <a:t>product_reviews → products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4E4C"/>
                          </a:solidFill>
                        </a:rPr>
                        <a:t>product_id · nota media de H1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Supuestos: de 15, solo uno cambia una conclusión</a:t>
            </a:r>
            <a:endParaRPr lang="en-US" sz="2800" dirty="0"/>
          </a:p>
        </p:txBody>
      </p:sp>
      <p:sp>
        <p:nvSpPr>
          <p:cNvPr id="4" name="tarjeta-378"/>
          <p:cNvSpPr/>
          <p:nvPr/>
        </p:nvSpPr>
        <p:spPr>
          <a:xfrm>
            <a:off x="54864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379"/>
          <p:cNvSpPr txBox="1"/>
          <p:nvPr/>
        </p:nvSpPr>
        <p:spPr>
          <a:xfrm>
            <a:off x="804672" y="1783080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QUÉ CUENTA COMO VENTA</a:t>
            </a:r>
            <a:endParaRPr lang="en-US" sz="1050" dirty="0"/>
          </a:p>
        </p:txBody>
      </p:sp>
      <p:sp>
        <p:nvSpPr>
          <p:cNvPr id="6" name="texto-380"/>
          <p:cNvSpPr txBox="1"/>
          <p:nvPr/>
        </p:nvSpPr>
        <p:spPr>
          <a:xfrm>
            <a:off x="804672" y="2103120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Periodo: solo H1</a:t>
            </a:r>
            <a:endParaRPr lang="en-US" sz="1150" dirty="0"/>
          </a:p>
        </p:txBody>
      </p:sp>
      <p:sp>
        <p:nvSpPr>
          <p:cNvPr id="7" name="texto-381"/>
          <p:cNvSpPr txBox="1"/>
          <p:nvPr/>
        </p:nvSpPr>
        <p:spPr>
          <a:xfrm>
            <a:off x="804672" y="235000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 julio: +39 pedidos y +2.587 € netos</a:t>
            </a:r>
            <a:endParaRPr lang="en-US" sz="1000" dirty="0"/>
          </a:p>
        </p:txBody>
      </p:sp>
      <p:sp>
        <p:nvSpPr>
          <p:cNvPr id="8" name="texto-382"/>
          <p:cNvSpPr txBox="1"/>
          <p:nvPr/>
        </p:nvSpPr>
        <p:spPr>
          <a:xfrm>
            <a:off x="804672" y="2761488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Cancelados fuera</a:t>
            </a:r>
            <a:endParaRPr lang="en-US" sz="1150" dirty="0"/>
          </a:p>
        </p:txBody>
      </p:sp>
      <p:sp>
        <p:nvSpPr>
          <p:cNvPr id="9" name="texto-383"/>
          <p:cNvSpPr txBox="1"/>
          <p:nvPr/>
        </p:nvSpPr>
        <p:spPr>
          <a:xfrm>
            <a:off x="804672" y="300837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 ellos: +4.727 € y mismo orden de canales</a:t>
            </a:r>
            <a:endParaRPr lang="en-US" sz="1000" dirty="0"/>
          </a:p>
        </p:txBody>
      </p:sp>
      <p:sp>
        <p:nvSpPr>
          <p:cNvPr id="10" name="texto-384"/>
          <p:cNvSpPr txBox="1"/>
          <p:nvPr/>
        </p:nvSpPr>
        <p:spPr>
          <a:xfrm>
            <a:off x="804672" y="3419856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Pendientes dentro</a:t>
            </a:r>
            <a:endParaRPr lang="en-US" sz="1150" dirty="0"/>
          </a:p>
        </p:txBody>
      </p:sp>
      <p:sp>
        <p:nvSpPr>
          <p:cNvPr id="11" name="texto-385"/>
          <p:cNvSpPr txBox="1"/>
          <p:nvPr/>
        </p:nvSpPr>
        <p:spPr>
          <a:xfrm>
            <a:off x="804672" y="366674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Sin ellos: 37.038 € (−1.493 €)</a:t>
            </a:r>
            <a:endParaRPr lang="en-US" sz="1000" dirty="0"/>
          </a:p>
        </p:txBody>
      </p:sp>
      <p:sp>
        <p:nvSpPr>
          <p:cNvPr id="12" name="texto-386"/>
          <p:cNvSpPr txBox="1"/>
          <p:nvPr/>
        </p:nvSpPr>
        <p:spPr>
          <a:xfrm>
            <a:off x="804672" y="4078224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Subtotal, no total_amount</a:t>
            </a:r>
            <a:endParaRPr lang="en-US" sz="1150" dirty="0"/>
          </a:p>
        </p:txBody>
      </p:sp>
      <p:sp>
        <p:nvSpPr>
          <p:cNvPr id="13" name="texto-387"/>
          <p:cNvSpPr txBox="1"/>
          <p:nvPr/>
        </p:nvSpPr>
        <p:spPr>
          <a:xfrm>
            <a:off x="804672" y="4325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 IVA y envío: 54.348 €</a:t>
            </a:r>
            <a:endParaRPr lang="en-US" sz="1000" dirty="0"/>
          </a:p>
        </p:txBody>
      </p:sp>
      <p:sp>
        <p:nvSpPr>
          <p:cNvPr id="14" name="texto-388"/>
          <p:cNvSpPr txBox="1"/>
          <p:nvPr/>
        </p:nvSpPr>
        <p:spPr>
          <a:xfrm>
            <a:off x="804672" y="4736592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Venta registrada</a:t>
            </a:r>
            <a:endParaRPr lang="en-US" sz="1150" dirty="0"/>
          </a:p>
        </p:txBody>
      </p:sp>
      <p:sp>
        <p:nvSpPr>
          <p:cNvPr id="15" name="texto-389"/>
          <p:cNvSpPr txBox="1"/>
          <p:nvPr/>
        </p:nvSpPr>
        <p:spPr>
          <a:xfrm>
            <a:off x="804672" y="4983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 el descuento: 37.217 € (−3,4 %)</a:t>
            </a:r>
            <a:endParaRPr lang="en-US" sz="1000" dirty="0"/>
          </a:p>
        </p:txBody>
      </p:sp>
      <p:sp>
        <p:nvSpPr>
          <p:cNvPr id="16" name="texto-390"/>
          <p:cNvSpPr txBox="1"/>
          <p:nvPr/>
        </p:nvSpPr>
        <p:spPr>
          <a:xfrm>
            <a:off x="804672" y="5394960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Cliente 177 dentro</a:t>
            </a:r>
            <a:endParaRPr lang="en-US" sz="1150" dirty="0"/>
          </a:p>
        </p:txBody>
      </p:sp>
      <p:sp>
        <p:nvSpPr>
          <p:cNvPr id="17" name="texto-391"/>
          <p:cNvSpPr txBox="1"/>
          <p:nvPr/>
        </p:nvSpPr>
        <p:spPr>
          <a:xfrm>
            <a:off x="804672" y="564184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Sin él: 35.745 € (−2.786 €)</a:t>
            </a:r>
            <a:endParaRPr lang="en-US" sz="1000" dirty="0"/>
          </a:p>
        </p:txBody>
      </p:sp>
      <p:sp>
        <p:nvSpPr>
          <p:cNvPr id="18" name="tarjeta-392"/>
          <p:cNvSpPr/>
          <p:nvPr/>
        </p:nvSpPr>
        <p:spPr>
          <a:xfrm>
            <a:off x="429768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9" name="texto-393"/>
          <p:cNvSpPr txBox="1"/>
          <p:nvPr/>
        </p:nvSpPr>
        <p:spPr>
          <a:xfrm>
            <a:off x="4553712" y="1783080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CATÁLOGO Y PRODUCTO</a:t>
            </a:r>
            <a:endParaRPr lang="en-US" sz="1050" dirty="0"/>
          </a:p>
        </p:txBody>
      </p:sp>
      <p:sp>
        <p:nvSpPr>
          <p:cNvPr id="20" name="resalte-394"/>
          <p:cNvSpPr/>
          <p:nvPr/>
        </p:nvSpPr>
        <p:spPr>
          <a:xfrm>
            <a:off x="4434840" y="2039112"/>
            <a:ext cx="3319272" cy="658368"/>
          </a:xfrm>
          <a:prstGeom prst="roundRect">
            <a:avLst>
              <a:gd name="adj" fmla="val 11111"/>
            </a:avLst>
          </a:prstGeom>
          <a:solidFill>
            <a:srgbClr val="F3E3DB"/>
          </a:solidFill>
          <a:ln w="12700">
            <a:solidFill>
              <a:srgbClr val="C98468"/>
            </a:solidFill>
            <a:prstDash val="solid"/>
          </a:ln>
        </p:spPr>
      </p:sp>
      <p:sp>
        <p:nvSpPr>
          <p:cNvPr id="21" name="texto-395"/>
          <p:cNvSpPr txBox="1"/>
          <p:nvPr/>
        </p:nvSpPr>
        <p:spPr>
          <a:xfrm>
            <a:off x="4553712" y="2103120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5574B"/>
                </a:solidFill>
              </a:rPr>
              <a:t>Categorías en mayo–junio</a:t>
            </a:r>
            <a:endParaRPr lang="en-US" sz="1150" dirty="0"/>
          </a:p>
        </p:txBody>
      </p:sp>
      <p:sp>
        <p:nvSpPr>
          <p:cNvPr id="22" name="texto-396"/>
          <p:cNvSpPr txBox="1"/>
          <p:nvPr/>
        </p:nvSpPr>
        <p:spPr>
          <a:xfrm>
            <a:off x="4553712" y="235000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 todo H1, Deporte pesa el 2,2 % y no el 7,1 %: cambia la lectura de C7</a:t>
            </a:r>
            <a:endParaRPr lang="en-US" sz="1000" dirty="0"/>
          </a:p>
        </p:txBody>
      </p:sp>
      <p:sp>
        <p:nvSpPr>
          <p:cNvPr id="23" name="texto-397"/>
          <p:cNvSpPr txBox="1"/>
          <p:nvPr/>
        </p:nvSpPr>
        <p:spPr>
          <a:xfrm>
            <a:off x="4553712" y="2761488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Solo fichas activas</a:t>
            </a:r>
            <a:endParaRPr lang="en-US" sz="1150" dirty="0"/>
          </a:p>
        </p:txBody>
      </p:sp>
      <p:sp>
        <p:nvSpPr>
          <p:cNvPr id="24" name="texto-398"/>
          <p:cNvSpPr txBox="1"/>
          <p:nvPr/>
        </p:nvSpPr>
        <p:spPr>
          <a:xfrm>
            <a:off x="4553712" y="300837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 todas: Deporte, 15,0 % y 544 € por referencia</a:t>
            </a:r>
            <a:endParaRPr lang="en-US" sz="1000" dirty="0"/>
          </a:p>
        </p:txBody>
      </p:sp>
      <p:sp>
        <p:nvSpPr>
          <p:cNvPr id="25" name="texto-399"/>
          <p:cNvSpPr txBox="1"/>
          <p:nvPr/>
        </p:nvSpPr>
        <p:spPr>
          <a:xfrm>
            <a:off x="4553712" y="3419856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Se quita la línea huérfana</a:t>
            </a:r>
            <a:endParaRPr lang="en-US" sz="1150" dirty="0"/>
          </a:p>
        </p:txBody>
      </p:sp>
      <p:sp>
        <p:nvSpPr>
          <p:cNvPr id="26" name="texto-400"/>
          <p:cNvSpPr txBox="1"/>
          <p:nvPr/>
        </p:nvSpPr>
        <p:spPr>
          <a:xfrm>
            <a:off x="4553712" y="366674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Quitando el pedido: −15 pedidos, −1.016 €</a:t>
            </a:r>
            <a:endParaRPr lang="en-US" sz="1000" dirty="0"/>
          </a:p>
        </p:txBody>
      </p:sp>
      <p:sp>
        <p:nvSpPr>
          <p:cNvPr id="27" name="texto-401"/>
          <p:cNvSpPr txBox="1"/>
          <p:nvPr/>
        </p:nvSpPr>
        <p:spPr>
          <a:xfrm>
            <a:off x="4553712" y="4078224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Devoluciones con parciales</a:t>
            </a:r>
            <a:endParaRPr lang="en-US" sz="1150" dirty="0"/>
          </a:p>
        </p:txBody>
      </p:sp>
      <p:sp>
        <p:nvSpPr>
          <p:cNvPr id="28" name="texto-402"/>
          <p:cNvSpPr txBox="1"/>
          <p:nvPr/>
        </p:nvSpPr>
        <p:spPr>
          <a:xfrm>
            <a:off x="4553712" y="4325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Solo refunded: 7,7 % en vez de 9,9 %</a:t>
            </a:r>
            <a:endParaRPr lang="en-US" sz="1000" dirty="0"/>
          </a:p>
        </p:txBody>
      </p:sp>
      <p:sp>
        <p:nvSpPr>
          <p:cNvPr id="29" name="texto-403"/>
          <p:cNvSpPr txBox="1"/>
          <p:nvPr/>
        </p:nvSpPr>
        <p:spPr>
          <a:xfrm>
            <a:off x="4553712" y="4736592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Nota con 10+ reseñas de H1</a:t>
            </a:r>
            <a:endParaRPr lang="en-US" sz="1150" dirty="0"/>
          </a:p>
        </p:txBody>
      </p:sp>
      <p:sp>
        <p:nvSpPr>
          <p:cNvPr id="30" name="texto-404"/>
          <p:cNvSpPr txBox="1"/>
          <p:nvPr/>
        </p:nvSpPr>
        <p:spPr>
          <a:xfrm>
            <a:off x="4553712" y="49834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Media simple: peor, Botas Chelsea (1 reseña)</a:t>
            </a:r>
            <a:endParaRPr lang="en-US" sz="1000" dirty="0"/>
          </a:p>
        </p:txBody>
      </p:sp>
      <p:sp>
        <p:nvSpPr>
          <p:cNvPr id="31" name="tarjeta-405"/>
          <p:cNvSpPr/>
          <p:nvPr/>
        </p:nvSpPr>
        <p:spPr>
          <a:xfrm>
            <a:off x="804672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32" name="texto-406"/>
          <p:cNvSpPr txBox="1"/>
          <p:nvPr/>
        </p:nvSpPr>
        <p:spPr>
          <a:xfrm>
            <a:off x="8302752" y="1783080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CANALES Y CLIENTES</a:t>
            </a:r>
            <a:endParaRPr lang="en-US" sz="1050" dirty="0"/>
          </a:p>
        </p:txBody>
      </p:sp>
      <p:sp>
        <p:nvSpPr>
          <p:cNvPr id="33" name="texto-407"/>
          <p:cNvSpPr txBox="1"/>
          <p:nvPr/>
        </p:nvSpPr>
        <p:spPr>
          <a:xfrm>
            <a:off x="8302752" y="2103120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Canales desde marzo</a:t>
            </a:r>
            <a:endParaRPr lang="en-US" sz="1150" dirty="0"/>
          </a:p>
        </p:txBody>
      </p:sp>
      <p:sp>
        <p:nvSpPr>
          <p:cNvPr id="34" name="texto-408"/>
          <p:cNvSpPr txBox="1"/>
          <p:nvPr/>
        </p:nvSpPr>
        <p:spPr>
          <a:xfrm>
            <a:off x="8302752" y="235000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 todo H1, TikTok sale peor por su gasto de enero–febrero</a:t>
            </a:r>
            <a:endParaRPr lang="en-US" sz="1000" dirty="0"/>
          </a:p>
        </p:txBody>
      </p:sp>
      <p:sp>
        <p:nvSpPr>
          <p:cNvPr id="35" name="texto-409"/>
          <p:cNvSpPr txBox="1"/>
          <p:nvPr/>
        </p:nvSpPr>
        <p:spPr>
          <a:xfrm>
            <a:off x="8302752" y="2761488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Instagram y Newsletter aparte</a:t>
            </a:r>
            <a:endParaRPr lang="en-US" sz="1150" dirty="0"/>
          </a:p>
        </p:txBody>
      </p:sp>
      <p:sp>
        <p:nvSpPr>
          <p:cNvPr id="36" name="texto-410"/>
          <p:cNvSpPr txBox="1"/>
          <p:nvPr/>
        </p:nvSpPr>
        <p:spPr>
          <a:xfrm>
            <a:off x="8302752" y="300837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Unidos: 247 € y 24 € por cliente nuevo</a:t>
            </a:r>
            <a:endParaRPr lang="en-US" sz="1000" dirty="0"/>
          </a:p>
        </p:txBody>
      </p:sp>
      <p:sp>
        <p:nvSpPr>
          <p:cNvPr id="37" name="texto-411"/>
          <p:cNvSpPr txBox="1"/>
          <p:nvPr/>
        </p:nvSpPr>
        <p:spPr>
          <a:xfrm>
            <a:off x="8302752" y="3419856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País de registro</a:t>
            </a:r>
            <a:endParaRPr lang="en-US" sz="1150" dirty="0"/>
          </a:p>
        </p:txBody>
      </p:sp>
      <p:sp>
        <p:nvSpPr>
          <p:cNvPr id="38" name="texto-412"/>
          <p:cNvSpPr txBox="1"/>
          <p:nvPr/>
        </p:nvSpPr>
        <p:spPr>
          <a:xfrm>
            <a:off x="8302752" y="366674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Por envío: Alemania, el 50,2 % de la venta</a:t>
            </a:r>
            <a:endParaRPr lang="en-US" sz="1000" dirty="0"/>
          </a:p>
        </p:txBody>
      </p:sp>
      <p:sp>
        <p:nvSpPr>
          <p:cNvPr id="39" name="texto-413"/>
          <p:cNvSpPr txBox="1"/>
          <p:nvPr/>
        </p:nvSpPr>
        <p:spPr>
          <a:xfrm>
            <a:off x="8302752" y="4078224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Enero como otro mes</a:t>
            </a:r>
            <a:endParaRPr lang="en-US" sz="1150" dirty="0"/>
          </a:p>
        </p:txBody>
      </p:sp>
      <p:sp>
        <p:nvSpPr>
          <p:cNvPr id="40" name="texto-414"/>
          <p:cNvSpPr txBox="1"/>
          <p:nvPr/>
        </p:nvSpPr>
        <p:spPr>
          <a:xfrm>
            <a:off x="8302752" y="43251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Sin enero: del 72,0 % al 42,1 %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Dos decisiones que cambiamos y los límites del análisis</a:t>
            </a:r>
            <a:endParaRPr lang="en-US" sz="2800" dirty="0"/>
          </a:p>
        </p:txBody>
      </p:sp>
      <p:sp>
        <p:nvSpPr>
          <p:cNvPr id="4" name="tarjeta-415"/>
          <p:cNvSpPr/>
          <p:nvPr/>
        </p:nvSpPr>
        <p:spPr>
          <a:xfrm>
            <a:off x="548640" y="1600200"/>
            <a:ext cx="5669280" cy="2103120"/>
          </a:xfrm>
          <a:prstGeom prst="roundRect">
            <a:avLst>
              <a:gd name="adj" fmla="val 6087"/>
            </a:avLst>
          </a:prstGeom>
          <a:solidFill>
            <a:srgbClr val="111513">
              <a:alpha val="88000"/>
            </a:srgbClr>
          </a:solidFill>
          <a:ln w="9525">
            <a:solidFill>
              <a:srgbClr val="2C302E"/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416"/>
          <p:cNvSpPr txBox="1"/>
          <p:nvPr/>
        </p:nvSpPr>
        <p:spPr>
          <a:xfrm>
            <a:off x="822960" y="1801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CIFRA DE VENTA</a:t>
            </a:r>
            <a:endParaRPr lang="en-US" sz="1050" dirty="0"/>
          </a:p>
        </p:txBody>
      </p:sp>
      <p:sp>
        <p:nvSpPr>
          <p:cNvPr id="6" name="texto-417"/>
          <p:cNvSpPr txBox="1"/>
          <p:nvPr/>
        </p:nvSpPr>
        <p:spPr>
          <a:xfrm>
            <a:off x="82296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9AA09D"/>
                </a:solidFill>
              </a:rPr>
              <a:t>52.193 €</a:t>
            </a:r>
            <a:pPr indent="0" marL="0">
              <a:buNone/>
            </a:pPr>
            <a:r>
              <a:rPr lang="en-US" sz="2800" dirty="0">
                <a:solidFill>
                  <a:srgbClr val="9AA09D"/>
                </a:solidFill>
              </a:rPr>
              <a:t>  →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38.531 €</a:t>
            </a:r>
            <a:endParaRPr lang="en-US" sz="2800" dirty="0"/>
          </a:p>
        </p:txBody>
      </p:sp>
      <p:sp>
        <p:nvSpPr>
          <p:cNvPr id="7" name="texto-418"/>
          <p:cNvSpPr txBox="1"/>
          <p:nvPr/>
        </p:nvSpPr>
        <p:spPr>
          <a:xfrm>
            <a:off x="822960" y="2788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Contábamos todos los estados y todo el catálogo hasta el 12 de julio. Ahora: venta neta de H1, sin cancelados y con fichas activas.</a:t>
            </a:r>
            <a:endParaRPr lang="en-US" sz="1150" dirty="0"/>
          </a:p>
        </p:txBody>
      </p:sp>
      <p:sp>
        <p:nvSpPr>
          <p:cNvPr id="8" name="tarjeta-419"/>
          <p:cNvSpPr/>
          <p:nvPr/>
        </p:nvSpPr>
        <p:spPr>
          <a:xfrm>
            <a:off x="548640" y="3886200"/>
            <a:ext cx="5669280" cy="2103120"/>
          </a:xfrm>
          <a:prstGeom prst="roundRect">
            <a:avLst>
              <a:gd name="adj" fmla="val 6087"/>
            </a:avLst>
          </a:prstGeom>
          <a:solidFill>
            <a:srgbClr val="111513">
              <a:alpha val="88000"/>
            </a:srgbClr>
          </a:solidFill>
          <a:ln w="9525">
            <a:solidFill>
              <a:srgbClr val="2C302E"/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9" name="texto-420"/>
          <p:cNvSpPr txBox="1"/>
          <p:nvPr/>
        </p:nvSpPr>
        <p:spPr>
          <a:xfrm>
            <a:off x="822960" y="4087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PERIODO DE DEPORTE</a:t>
            </a:r>
            <a:endParaRPr lang="en-US" sz="1050" dirty="0"/>
          </a:p>
        </p:txBody>
      </p:sp>
      <p:sp>
        <p:nvSpPr>
          <p:cNvPr id="10" name="texto-421"/>
          <p:cNvSpPr txBox="1"/>
          <p:nvPr/>
        </p:nvSpPr>
        <p:spPr>
          <a:xfrm>
            <a:off x="822960" y="4389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9AA09D"/>
                </a:solidFill>
              </a:rPr>
              <a:t>2,2 %</a:t>
            </a:r>
            <a:pPr indent="0" marL="0">
              <a:buNone/>
            </a:pPr>
            <a:r>
              <a:rPr lang="en-US" sz="2800" dirty="0">
                <a:solidFill>
                  <a:srgbClr val="9AA09D"/>
                </a:solidFill>
              </a:rPr>
              <a:t>  →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7,1 %</a:t>
            </a:r>
            <a:endParaRPr lang="en-US" sz="2800" dirty="0"/>
          </a:p>
        </p:txBody>
      </p:sp>
      <p:sp>
        <p:nvSpPr>
          <p:cNvPr id="11" name="texto-422"/>
          <p:cNvSpPr txBox="1"/>
          <p:nvPr/>
        </p:nvSpPr>
        <p:spPr>
          <a:xfrm>
            <a:off x="822960" y="5074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Comparábamos el semestre entero, como el enunciado. Deporte solo existe desde el 1 de mayo: ahora, mayo–junio.</a:t>
            </a:r>
            <a:endParaRPr lang="en-US" sz="1150" dirty="0"/>
          </a:p>
        </p:txBody>
      </p:sp>
      <p:sp>
        <p:nvSpPr>
          <p:cNvPr id="12" name="tarjeta-423"/>
          <p:cNvSpPr/>
          <p:nvPr/>
        </p:nvSpPr>
        <p:spPr>
          <a:xfrm>
            <a:off x="6446520" y="1600200"/>
            <a:ext cx="5193792" cy="4389120"/>
          </a:xfrm>
          <a:prstGeom prst="roundRect">
            <a:avLst>
              <a:gd name="adj" fmla="val 291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424"/>
          <p:cNvSpPr txBox="1"/>
          <p:nvPr/>
        </p:nvSpPr>
        <p:spPr>
          <a:xfrm>
            <a:off x="67208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513"/>
                </a:solidFill>
              </a:rPr>
              <a:t>LÍMITES DEL ANÁLISIS</a:t>
            </a:r>
            <a:endParaRPr lang="en-US" sz="1050" dirty="0"/>
          </a:p>
        </p:txBody>
      </p:sp>
      <p:sp>
        <p:nvSpPr>
          <p:cNvPr id="14" name="texto-425"/>
          <p:cNvSpPr txBox="1"/>
          <p:nvPr/>
        </p:nvSpPr>
        <p:spPr>
          <a:xfrm>
            <a:off x="6720840" y="214884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11513"/>
                </a:solidFill>
              </a:rPr>
              <a:t>Retorno medio, no marginal:</a:t>
            </a:r>
            <a:pPr indent="0" marL="0">
              <a:buNone/>
            </a:pPr>
            <a:r>
              <a:rPr lang="en-US" sz="1250" dirty="0">
                <a:solidFill>
                  <a:srgbClr val="4A4E4C"/>
                </a:solidFill>
              </a:rPr>
              <a:t> el gasto apenas varía (salvo TikTok).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11513"/>
                </a:solidFill>
              </a:rPr>
              <a:t>Muestras pequeñas:</a:t>
            </a:r>
            <a:pPr indent="0" marL="0">
              <a:buNone/>
            </a:pPr>
            <a:r>
              <a:rPr lang="en-US" sz="1250" dirty="0">
                <a:solidFill>
                  <a:srgbClr val="4A4E4C"/>
                </a:solidFill>
              </a:rPr>
              <a:t> Instagram, 1 cliente nuevo; Meta, 6; Deporte, 2 referencias.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11513"/>
                </a:solidFill>
              </a:rPr>
              <a:t>Sin costes:</a:t>
            </a:r>
            <a:pPr indent="0" marL="0">
              <a:buNone/>
            </a:pPr>
            <a:r>
              <a:rPr lang="en-US" sz="1250" dirty="0">
                <a:solidFill>
                  <a:srgbClr val="4A4E4C"/>
                </a:solidFill>
              </a:rPr>
              <a:t> es un análisis de ingresos, no de margen.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11513"/>
                </a:solidFill>
              </a:rPr>
              <a:t>Sin país en el gasto:</a:t>
            </a:r>
            <a:pPr indent="0" marL="0">
              <a:buNone/>
            </a:pPr>
            <a:r>
              <a:rPr lang="en-US" sz="1250" dirty="0">
                <a:solidFill>
                  <a:srgbClr val="4A4E4C"/>
                </a:solidFill>
              </a:rPr>
              <a:t> no se puede medir captar en Alemania.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11513"/>
                </a:solidFill>
              </a:rPr>
              <a:t>Descuento no observable</a:t>
            </a:r>
            <a:pPr indent="0" marL="0">
              <a:buNone/>
            </a:pPr>
            <a:r>
              <a:rPr lang="en-US" sz="1250" dirty="0">
                <a:solidFill>
                  <a:srgbClr val="4A4E4C"/>
                </a:solidFill>
              </a:rPr>
              <a:t> en ningún importe.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11513"/>
                </a:solidFill>
              </a:rPr>
              <a:t>Atribución desconocida</a:t>
            </a:r>
            <a:pPr indent="0" marL="0">
              <a:buNone/>
            </a:pPr>
            <a:r>
              <a:rPr lang="en-US" sz="1250" dirty="0">
                <a:solidFill>
                  <a:srgbClr val="4A4E4C"/>
                </a:solidFill>
              </a:rPr>
              <a:t> antes y después de marzo.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Las 9 notas de dirección del PDF: 5 aplicadas, 1 sustituida y 3 no aplicadas</a:t>
            </a:r>
            <a:endParaRPr lang="en-US" sz="2800" dirty="0"/>
          </a:p>
        </p:txBody>
      </p:sp>
      <p:sp>
        <p:nvSpPr>
          <p:cNvPr id="4" name="tarjeta-426"/>
          <p:cNvSpPr/>
          <p:nvPr/>
        </p:nvSpPr>
        <p:spPr>
          <a:xfrm>
            <a:off x="548640" y="1600200"/>
            <a:ext cx="11091672" cy="4526280"/>
          </a:xfrm>
          <a:prstGeom prst="roundRect">
            <a:avLst>
              <a:gd name="adj" fmla="val 28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graphicFrame>
        <p:nvGraphicFramePr>
          <p:cNvPr id="26" name="tabla-no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442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206240"/>
                <a:gridCol w="2103120"/>
                <a:gridCol w="40233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Qué pide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¿Se aplica?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B68"/>
                          </a:solidFill>
                        </a:rPr>
                        <a:t>Dónde y con qué efecto</a:t>
                      </a:r>
                      <a:endParaRPr lang="en-US" sz="1050" dirty="0"/>
                    </a:p>
                  </a:txBody>
                  <a:tcPr marL="64008" marR="64008" marT="27432" marB="2743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IEC y su ranking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Aplicada, con crítica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C5: mide sobre todo recompra, no captación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Ventas con total_amount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5574B"/>
                          </a:solidFill>
                        </a:rPr>
                        <a:t>●  No aplicada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Con IVA y envío serían 54.348 €. El IVA no es ingreso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Cliente activo = algún pedido entregado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Aplicada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C4: 129 activos y 75,2 % de recompra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Producto solo con fichas activas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Aplicada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En todo: −3.358 € en H1 (C1, C7)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Calidad = valoración media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9A04A"/>
                          </a:solidFill>
                        </a:rPr>
                        <a:t>●  Sustituida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Media de H1 con 10 o más reseñas (C8)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Comparar canales por ticket medio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Aplicada, con crítica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C5: mide el peso de Alemania, no la eficiencia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Ingreso por código cruzando pedidos y códigos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9A7B"/>
                          </a:solidFill>
                        </a:rPr>
                        <a:t>●  Aplicada, con crítica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C9: se infla un 9,8 %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Devolución solo con refunded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5574B"/>
                          </a:solidFill>
                        </a:rPr>
                        <a:t>●  No aplicada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7,7 % en vez de 9,9 %: ignora 13 parciales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B68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513"/>
                          </a:solidFill>
                        </a:rPr>
                        <a:t>Color, pie «Datos consolidados por BI» y título de canales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5574B"/>
                          </a:solidFill>
                        </a:rPr>
                        <a:t>●  No aplicada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4C"/>
                          </a:solidFill>
                        </a:rPr>
                        <a:t>El pie atribuiría los datos a un equipo que no los ha validado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Las vistas del esquema inflan la venta un 68 % y cambian los rankings: ninguna se usa en el panel</a:t>
            </a:r>
            <a:endParaRPr lang="en-US" sz="2800" dirty="0"/>
          </a:p>
        </p:txBody>
      </p:sp>
      <p:sp>
        <p:nvSpPr>
          <p:cNvPr id="4" name="tarjeta-427"/>
          <p:cNvSpPr/>
          <p:nvPr/>
        </p:nvSpPr>
        <p:spPr>
          <a:xfrm>
            <a:off x="54864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428"/>
          <p:cNvSpPr txBox="1"/>
          <p:nvPr/>
        </p:nvSpPr>
        <p:spPr>
          <a:xfrm>
            <a:off x="822960" y="181051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v_kpis_mensuales</a:t>
            </a:r>
            <a:endParaRPr lang="en-US" sz="1300" dirty="0"/>
          </a:p>
        </p:txBody>
      </p:sp>
      <p:sp>
        <p:nvSpPr>
          <p:cNvPr id="6" name="texto-429"/>
          <p:cNvSpPr txBox="1"/>
          <p:nvPr/>
        </p:nvSpPr>
        <p:spPr>
          <a:xfrm>
            <a:off x="822960" y="21945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Usa total_amount (con IVA y envío), todos los estados y pedidos sin limpiar. Duplica los pedidos con dos códigos.</a:t>
            </a:r>
            <a:endParaRPr lang="en-US" sz="1100" dirty="0"/>
          </a:p>
        </p:txBody>
      </p:sp>
      <p:sp>
        <p:nvSpPr>
          <p:cNvPr id="7" name="texto-430"/>
          <p:cNvSpPr txBox="1"/>
          <p:nvPr/>
        </p:nvSpPr>
        <p:spPr>
          <a:xfrm>
            <a:off x="822960" y="324612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574B"/>
                </a:solidFill>
              </a:rPr>
              <a:t>EN LA VISTA</a:t>
            </a:r>
            <a:endParaRPr lang="en-US" sz="1050" dirty="0"/>
          </a:p>
        </p:txBody>
      </p:sp>
      <p:sp>
        <p:nvSpPr>
          <p:cNvPr id="8" name="texto-431"/>
          <p:cNvSpPr txBox="1"/>
          <p:nvPr/>
        </p:nvSpPr>
        <p:spPr>
          <a:xfrm>
            <a:off x="822960" y="34930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64.723 €</a:t>
            </a:r>
            <a:endParaRPr lang="en-US" sz="2200" dirty="0"/>
          </a:p>
        </p:txBody>
      </p:sp>
      <p:sp>
        <p:nvSpPr>
          <p:cNvPr id="9" name="texto-432"/>
          <p:cNvSpPr txBox="1"/>
          <p:nvPr/>
        </p:nvSpPr>
        <p:spPr>
          <a:xfrm>
            <a:off x="822960" y="40690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CON NUESTRO CRITERIO</a:t>
            </a:r>
            <a:endParaRPr lang="en-US" sz="1050" dirty="0"/>
          </a:p>
        </p:txBody>
      </p:sp>
      <p:sp>
        <p:nvSpPr>
          <p:cNvPr id="10" name="texto-433"/>
          <p:cNvSpPr txBox="1"/>
          <p:nvPr/>
        </p:nvSpPr>
        <p:spPr>
          <a:xfrm>
            <a:off x="822960" y="43159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38.531 €</a:t>
            </a:r>
            <a:endParaRPr lang="en-US" sz="2200" dirty="0"/>
          </a:p>
        </p:txBody>
      </p:sp>
      <p:sp>
        <p:nvSpPr>
          <p:cNvPr id="11" name="texto-434"/>
          <p:cNvSpPr txBox="1"/>
          <p:nvPr/>
        </p:nvSpPr>
        <p:spPr>
          <a:xfrm>
            <a:off x="822960" y="49834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+68 % en H1 (entre +55 % y +88 % según el mes)</a:t>
            </a:r>
            <a:endParaRPr lang="en-US" sz="1100" dirty="0"/>
          </a:p>
        </p:txBody>
      </p:sp>
      <p:sp>
        <p:nvSpPr>
          <p:cNvPr id="12" name="tarjeta-435"/>
          <p:cNvSpPr/>
          <p:nvPr/>
        </p:nvSpPr>
        <p:spPr>
          <a:xfrm>
            <a:off x="429768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o-436"/>
          <p:cNvSpPr txBox="1"/>
          <p:nvPr/>
        </p:nvSpPr>
        <p:spPr>
          <a:xfrm>
            <a:off x="4572000" y="181051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v_top_clientes</a:t>
            </a:r>
            <a:endParaRPr lang="en-US" sz="1300" dirty="0"/>
          </a:p>
        </p:txBody>
      </p:sp>
      <p:sp>
        <p:nvSpPr>
          <p:cNvPr id="14" name="texto-437"/>
          <p:cNvSpPr txBox="1"/>
          <p:nvPr/>
        </p:nvSpPr>
        <p:spPr>
          <a:xfrm>
            <a:off x="4572000" y="21945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Usa total_amount, todos los estados y todo el periodo.</a:t>
            </a:r>
            <a:endParaRPr lang="en-US" sz="1100" dirty="0"/>
          </a:p>
        </p:txBody>
      </p:sp>
      <p:sp>
        <p:nvSpPr>
          <p:cNvPr id="15" name="texto-438"/>
          <p:cNvSpPr txBox="1"/>
          <p:nvPr/>
        </p:nvSpPr>
        <p:spPr>
          <a:xfrm>
            <a:off x="4572000" y="324612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574B"/>
                </a:solidFill>
              </a:rPr>
              <a:t>EN LA VISTA</a:t>
            </a:r>
            <a:endParaRPr lang="en-US" sz="1050" dirty="0"/>
          </a:p>
        </p:txBody>
      </p:sp>
      <p:sp>
        <p:nvSpPr>
          <p:cNvPr id="16" name="texto-439"/>
          <p:cNvSpPr txBox="1"/>
          <p:nvPr/>
        </p:nvSpPr>
        <p:spPr>
          <a:xfrm>
            <a:off x="4572000" y="34930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113: 3.º</a:t>
            </a:r>
            <a:endParaRPr lang="en-US" sz="2200" dirty="0"/>
          </a:p>
        </p:txBody>
      </p:sp>
      <p:sp>
        <p:nvSpPr>
          <p:cNvPr id="17" name="texto-440"/>
          <p:cNvSpPr txBox="1"/>
          <p:nvPr/>
        </p:nvSpPr>
        <p:spPr>
          <a:xfrm>
            <a:off x="4572000" y="40690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CON NUESTRO CRITERIO</a:t>
            </a:r>
            <a:endParaRPr lang="en-US" sz="1050" dirty="0"/>
          </a:p>
        </p:txBody>
      </p:sp>
      <p:sp>
        <p:nvSpPr>
          <p:cNvPr id="18" name="texto-441"/>
          <p:cNvSpPr txBox="1"/>
          <p:nvPr/>
        </p:nvSpPr>
        <p:spPr>
          <a:xfrm>
            <a:off x="4572000" y="43159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113: 4.º</a:t>
            </a:r>
            <a:endParaRPr lang="en-US" sz="2200" dirty="0"/>
          </a:p>
        </p:txBody>
      </p:sp>
      <p:sp>
        <p:nvSpPr>
          <p:cNvPr id="19" name="texto-442"/>
          <p:cNvSpPr txBox="1"/>
          <p:nvPr/>
        </p:nvSpPr>
        <p:spPr>
          <a:xfrm>
            <a:off x="4572000" y="49834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 cliente 112 sube al 3.º puesto</a:t>
            </a:r>
            <a:endParaRPr lang="en-US" sz="1100" dirty="0"/>
          </a:p>
        </p:txBody>
      </p:sp>
      <p:sp>
        <p:nvSpPr>
          <p:cNvPr id="20" name="tarjeta-443"/>
          <p:cNvSpPr/>
          <p:nvPr/>
        </p:nvSpPr>
        <p:spPr>
          <a:xfrm>
            <a:off x="8046720" y="1600200"/>
            <a:ext cx="3593592" cy="4526280"/>
          </a:xfrm>
          <a:prstGeom prst="roundRect">
            <a:avLst>
              <a:gd name="adj" fmla="val 35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21" name="texto-444"/>
          <p:cNvSpPr txBox="1"/>
          <p:nvPr/>
        </p:nvSpPr>
        <p:spPr>
          <a:xfrm>
            <a:off x="8321040" y="181051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v_valoracion_producto</a:t>
            </a:r>
            <a:endParaRPr lang="en-US" sz="1300" dirty="0"/>
          </a:p>
        </p:txBody>
      </p:sp>
      <p:sp>
        <p:nvSpPr>
          <p:cNvPr id="22" name="texto-445"/>
          <p:cNvSpPr txBox="1"/>
          <p:nvPr/>
        </p:nvSpPr>
        <p:spPr>
          <a:xfrm>
            <a:off x="8321040" y="21945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Media de todas las reseñas, sin mínimo ni fecha.</a:t>
            </a:r>
            <a:endParaRPr lang="en-US" sz="1100" dirty="0"/>
          </a:p>
        </p:txBody>
      </p:sp>
      <p:sp>
        <p:nvSpPr>
          <p:cNvPr id="23" name="texto-446"/>
          <p:cNvSpPr txBox="1"/>
          <p:nvPr/>
        </p:nvSpPr>
        <p:spPr>
          <a:xfrm>
            <a:off x="8321040" y="324612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574B"/>
                </a:solidFill>
              </a:rPr>
              <a:t>EN LA VISTA</a:t>
            </a:r>
            <a:endParaRPr lang="en-US" sz="1050" dirty="0"/>
          </a:p>
        </p:txBody>
      </p:sp>
      <p:sp>
        <p:nvSpPr>
          <p:cNvPr id="24" name="texto-447"/>
          <p:cNvSpPr txBox="1"/>
          <p:nvPr/>
        </p:nvSpPr>
        <p:spPr>
          <a:xfrm>
            <a:off x="8321040" y="34930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Botas Chelsea</a:t>
            </a:r>
            <a:endParaRPr lang="en-US" sz="2200" dirty="0"/>
          </a:p>
        </p:txBody>
      </p:sp>
      <p:sp>
        <p:nvSpPr>
          <p:cNvPr id="25" name="texto-448"/>
          <p:cNvSpPr txBox="1"/>
          <p:nvPr/>
        </p:nvSpPr>
        <p:spPr>
          <a:xfrm>
            <a:off x="8321040" y="40690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A7B"/>
                </a:solidFill>
              </a:rPr>
              <a:t>CON NUESTRO CRITERIO</a:t>
            </a:r>
            <a:endParaRPr lang="en-US" sz="1050" dirty="0"/>
          </a:p>
        </p:txBody>
      </p:sp>
      <p:sp>
        <p:nvSpPr>
          <p:cNvPr id="26" name="texto-449"/>
          <p:cNvSpPr txBox="1"/>
          <p:nvPr/>
        </p:nvSpPr>
        <p:spPr>
          <a:xfrm>
            <a:off x="8321040" y="43159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Camiseta Oversize</a:t>
            </a:r>
            <a:endParaRPr lang="en-US" sz="2200" dirty="0"/>
          </a:p>
        </p:txBody>
      </p:sp>
      <p:sp>
        <p:nvSpPr>
          <p:cNvPr id="27" name="texto-450"/>
          <p:cNvSpPr txBox="1"/>
          <p:nvPr/>
        </p:nvSpPr>
        <p:spPr>
          <a:xfrm>
            <a:off x="8321040" y="49834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Botas Chelsea tiene 1 reseña: con 10 o más, la peor es Oversize (3,21)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3891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Dónde está cada cosa</a:t>
            </a:r>
            <a:endParaRPr lang="en-US" sz="2800" dirty="0"/>
          </a:p>
        </p:txBody>
      </p:sp>
      <p:sp>
        <p:nvSpPr>
          <p:cNvPr id="4" name="tarjeta-451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DCECE3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o-452"/>
          <p:cNvSpPr txBox="1"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800" dirty="0"/>
          </a:p>
        </p:txBody>
      </p:sp>
      <p:sp>
        <p:nvSpPr>
          <p:cNvPr id="6" name="texto-453"/>
          <p:cNvSpPr txBox="1"/>
          <p:nvPr/>
        </p:nvSpPr>
        <p:spPr>
          <a:xfrm>
            <a:off x="86868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El documento completo: resumen, conclusiones con su query, plan, modelado, supuestos y anexos.</a:t>
            </a:r>
            <a:endParaRPr lang="en-US" sz="1300" dirty="0"/>
          </a:p>
        </p:txBody>
      </p:sp>
      <p:sp>
        <p:nvSpPr>
          <p:cNvPr id="7" name="tarjeta-454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8" name="texto-455"/>
          <p:cNvSpPr txBox="1"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sql/conclusiones/</a:t>
            </a:r>
            <a:endParaRPr lang="en-US" sz="1800" dirty="0"/>
          </a:p>
        </p:txBody>
      </p:sp>
      <p:sp>
        <p:nvSpPr>
          <p:cNvPr id="9" name="texto-456"/>
          <p:cNvSpPr txBox="1"/>
          <p:nvPr/>
        </p:nvSpPr>
        <p:spPr>
          <a:xfrm>
            <a:off x="649224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23 queries autónomas: c1_… a c9_… (principales), con letra las de apoyo y v… las del anexo. Se ejecutan tal cual.</a:t>
            </a:r>
            <a:endParaRPr lang="en-US" sz="1300" dirty="0"/>
          </a:p>
        </p:txBody>
      </p:sp>
      <p:sp>
        <p:nvSpPr>
          <p:cNvPr id="10" name="tarjeta-457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1" name="texto-458"/>
          <p:cNvSpPr txBox="1"/>
          <p:nvPr/>
        </p:nvSpPr>
        <p:spPr>
          <a:xfrm>
            <a:off x="86868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800" dirty="0"/>
          </a:p>
        </p:txBody>
      </p:sp>
      <p:sp>
        <p:nvSpPr>
          <p:cNvPr id="12" name="texto-459"/>
          <p:cNvSpPr txBox="1"/>
          <p:nvPr/>
        </p:nvSpPr>
        <p:spPr>
          <a:xfrm>
            <a:off x="86868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El panel en Next.js: Resumen, Ventas, Marketing, Producto, Clientes, Operaciones, Promociones y Métricas.</a:t>
            </a:r>
            <a:endParaRPr lang="en-US" sz="1300" dirty="0"/>
          </a:p>
        </p:txBody>
      </p:sp>
      <p:sp>
        <p:nvSpPr>
          <p:cNvPr id="13" name="tarjeta-460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B2A22">
                <a:alpha val="10000"/>
              </a:srgbClr>
            </a:outerShdw>
          </a:effectLst>
        </p:spPr>
      </p:sp>
      <p:sp>
        <p:nvSpPr>
          <p:cNvPr id="14" name="texto-461"/>
          <p:cNvSpPr txBox="1"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presentacion/</a:t>
            </a:r>
            <a:endParaRPr lang="en-US" sz="1800" dirty="0"/>
          </a:p>
        </p:txBody>
      </p:sp>
      <p:sp>
        <p:nvSpPr>
          <p:cNvPr id="15" name="texto-462"/>
          <p:cNvSpPr txBox="1"/>
          <p:nvPr/>
        </p:nvSpPr>
        <p:spPr>
          <a:xfrm>
            <a:off x="649224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Este deck (build_conclusiones.js) y el deck corto para dirección (build_deck.js).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uffers Data">
  <a:themeElements>
    <a:clrScheme name="Scuffers Data">
      <a:dk1>
        <a:srgbClr val="111513"/>
      </a:dk1>
      <a:lt1>
        <a:srgbClr val="FFFFFF"/>
      </a:lt1>
      <a:dk2>
        <a:srgbClr val="4A4E4C"/>
      </a:dk2>
      <a:lt2>
        <a:srgbClr val="F4F5F4"/>
      </a:lt2>
      <a:accent1>
        <a:srgbClr val="5B9A7B"/>
      </a:accent1>
      <a:accent2>
        <a:srgbClr val="C98468"/>
      </a:accent2>
      <a:accent3>
        <a:srgbClr val="7C8A95"/>
      </a:accent3>
      <a:accent4>
        <a:srgbClr val="9AA09D"/>
      </a:accent4>
      <a:accent5>
        <a:srgbClr val="2C302E"/>
      </a:accent5>
      <a:accent6>
        <a:srgbClr val="D5D8D6"/>
      </a:accent6>
      <a:hlink>
        <a:srgbClr val="5B9A7B"/>
      </a:hlink>
      <a:folHlink>
        <a:srgbClr val="7C8A95"/>
      </a:folHlink>
    </a:clrScheme>
    <a:fontScheme name="Scuffers Da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Conclusiones del primer semestre</dc:title>
  <dc:subject>PptxGenJS Presentation</dc:subject>
  <dc:creator>Análisis de datos</dc:creator>
  <cp:lastModifiedBy>Análisis de datos</cp:lastModifiedBy>
  <cp:revision>1</cp:revision>
  <dcterms:created xsi:type="dcterms:W3CDTF">2026-10-07T19:26:48Z</dcterms:created>
  <dcterms:modified xsi:type="dcterms:W3CDTF">2026-10-07T19:26:48Z</dcterms:modified>
</cp:coreProperties>
</file>